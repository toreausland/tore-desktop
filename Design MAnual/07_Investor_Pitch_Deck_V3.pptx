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8" r:id="rId4"/>
    <p:sldId id="259" r:id="rId5"/>
    <p:sldId id="260" r:id="rId6"/>
    <p:sldId id="271" r:id="rId7"/>
    <p:sldId id="261" r:id="rId8"/>
    <p:sldId id="269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68FCC-B592-4BA6-8486-5743110BA2FF}" v="1" dt="2026-02-10T09:35:40.288"/>
    <p1510:client id="{8A020455-000E-4F62-91E5-BD9A89ABE578}" v="1" dt="2026-02-09T17:24:24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C7003D35-0069-4681-A939-A1D689C68C91}"/>
    <pc:docChg chg="custSel addSld delSld modSld">
      <pc:chgData name="Tore Ausland" userId="aba57685-d7d9-45f9-a74d-a4b3d109653f" providerId="ADAL" clId="{C7003D35-0069-4681-A939-A1D689C68C91}" dt="2026-02-10T09:48:30.273" v="117" actId="2696"/>
      <pc:docMkLst>
        <pc:docMk/>
      </pc:docMkLst>
      <pc:sldChg chg="modSp mod">
        <pc:chgData name="Tore Ausland" userId="aba57685-d7d9-45f9-a74d-a4b3d109653f" providerId="ADAL" clId="{C7003D35-0069-4681-A939-A1D689C68C91}" dt="2026-02-09T13:57:35.002" v="8" actId="20577"/>
        <pc:sldMkLst>
          <pc:docMk/>
          <pc:sldMk cId="0" sldId="259"/>
        </pc:sldMkLst>
        <pc:spChg chg="mod">
          <ac:chgData name="Tore Ausland" userId="aba57685-d7d9-45f9-a74d-a4b3d109653f" providerId="ADAL" clId="{C7003D35-0069-4681-A939-A1D689C68C91}" dt="2026-02-09T13:57:35.002" v="8" actId="20577"/>
          <ac:spMkLst>
            <pc:docMk/>
            <pc:sldMk cId="0" sldId="259"/>
            <ac:spMk id="21" creationId="{6A86CB7A-D27A-C05B-D524-4227ACFB5B36}"/>
          </ac:spMkLst>
        </pc:spChg>
      </pc:sldChg>
      <pc:sldChg chg="modSp mod">
        <pc:chgData name="Tore Ausland" userId="aba57685-d7d9-45f9-a74d-a4b3d109653f" providerId="ADAL" clId="{C7003D35-0069-4681-A939-A1D689C68C91}" dt="2026-02-09T17:32:13.776" v="31" actId="20577"/>
        <pc:sldMkLst>
          <pc:docMk/>
          <pc:sldMk cId="0" sldId="261"/>
        </pc:sldMkLst>
        <pc:spChg chg="mod">
          <ac:chgData name="Tore Ausland" userId="aba57685-d7d9-45f9-a74d-a4b3d109653f" providerId="ADAL" clId="{C7003D35-0069-4681-A939-A1D689C68C91}" dt="2026-02-09T17:32:13.776" v="31" actId="20577"/>
          <ac:spMkLst>
            <pc:docMk/>
            <pc:sldMk cId="0" sldId="261"/>
            <ac:spMk id="2" creationId="{00000000-0000-0000-0000-000000000000}"/>
          </ac:spMkLst>
        </pc:spChg>
      </pc:sldChg>
      <pc:sldChg chg="del">
        <pc:chgData name="Tore Ausland" userId="aba57685-d7d9-45f9-a74d-a4b3d109653f" providerId="ADAL" clId="{C7003D35-0069-4681-A939-A1D689C68C91}" dt="2026-02-10T09:48:30.273" v="117" actId="2696"/>
        <pc:sldMkLst>
          <pc:docMk/>
          <pc:sldMk cId="0" sldId="262"/>
        </pc:sldMkLst>
      </pc:sldChg>
      <pc:sldChg chg="modSp mod">
        <pc:chgData name="Tore Ausland" userId="aba57685-d7d9-45f9-a74d-a4b3d109653f" providerId="ADAL" clId="{C7003D35-0069-4681-A939-A1D689C68C91}" dt="2026-02-09T17:36:52.505" v="67" actId="20577"/>
        <pc:sldMkLst>
          <pc:docMk/>
          <pc:sldMk cId="0" sldId="264"/>
        </pc:sldMkLst>
        <pc:spChg chg="mod">
          <ac:chgData name="Tore Ausland" userId="aba57685-d7d9-45f9-a74d-a4b3d109653f" providerId="ADAL" clId="{C7003D35-0069-4681-A939-A1D689C68C91}" dt="2026-02-09T17:36:52.505" v="67" actId="20577"/>
          <ac:spMkLst>
            <pc:docMk/>
            <pc:sldMk cId="0" sldId="264"/>
            <ac:spMk id="17" creationId="{00000000-0000-0000-0000-000000000000}"/>
          </ac:spMkLst>
        </pc:spChg>
      </pc:sldChg>
      <pc:sldChg chg="del mod modShow">
        <pc:chgData name="Tore Ausland" userId="aba57685-d7d9-45f9-a74d-a4b3d109653f" providerId="ADAL" clId="{C7003D35-0069-4681-A939-A1D689C68C91}" dt="2026-02-10T09:45:52.905" v="116" actId="2696"/>
        <pc:sldMkLst>
          <pc:docMk/>
          <pc:sldMk cId="2144975299" sldId="268"/>
        </pc:sldMkLst>
      </pc:sldChg>
      <pc:sldChg chg="modSp mod">
        <pc:chgData name="Tore Ausland" userId="aba57685-d7d9-45f9-a74d-a4b3d109653f" providerId="ADAL" clId="{C7003D35-0069-4681-A939-A1D689C68C91}" dt="2026-02-09T17:34:06.668" v="41" actId="1076"/>
        <pc:sldMkLst>
          <pc:docMk/>
          <pc:sldMk cId="0" sldId="269"/>
        </pc:sldMkLst>
        <pc:graphicFrameChg chg="mod modGraphic">
          <ac:chgData name="Tore Ausland" userId="aba57685-d7d9-45f9-a74d-a4b3d109653f" providerId="ADAL" clId="{C7003D35-0069-4681-A939-A1D689C68C91}" dt="2026-02-09T17:34:06.668" v="41" actId="1076"/>
          <ac:graphicFrameMkLst>
            <pc:docMk/>
            <pc:sldMk cId="0" sldId="269"/>
            <ac:graphicFrameMk id="3" creationId="{00000000-0000-0000-0000-000000000000}"/>
          </ac:graphicFrameMkLst>
        </pc:graphicFrameChg>
      </pc:sldChg>
      <pc:sldChg chg="modSp add mod setBg">
        <pc:chgData name="Tore Ausland" userId="aba57685-d7d9-45f9-a74d-a4b3d109653f" providerId="ADAL" clId="{C7003D35-0069-4681-A939-A1D689C68C91}" dt="2026-02-09T19:14:55.370" v="77" actId="20577"/>
        <pc:sldMkLst>
          <pc:docMk/>
          <pc:sldMk cId="0" sldId="270"/>
        </pc:sldMkLst>
        <pc:spChg chg="mod">
          <ac:chgData name="Tore Ausland" userId="aba57685-d7d9-45f9-a74d-a4b3d109653f" providerId="ADAL" clId="{C7003D35-0069-4681-A939-A1D689C68C91}" dt="2026-02-09T17:24:57.006" v="11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9T19:14:55.370" v="77" actId="20577"/>
          <ac:spMkLst>
            <pc:docMk/>
            <pc:sldMk cId="0" sldId="270"/>
            <ac:spMk id="16" creationId="{00000000-0000-0000-0000-000000000000}"/>
          </ac:spMkLst>
        </pc:spChg>
      </pc:sldChg>
      <pc:sldChg chg="modSp add mod setBg">
        <pc:chgData name="Tore Ausland" userId="aba57685-d7d9-45f9-a74d-a4b3d109653f" providerId="ADAL" clId="{C7003D35-0069-4681-A939-A1D689C68C91}" dt="2026-02-10T09:36:56.241" v="115" actId="20577"/>
        <pc:sldMkLst>
          <pc:docMk/>
          <pc:sldMk cId="0" sldId="271"/>
        </pc:sldMkLst>
        <pc:spChg chg="mod">
          <ac:chgData name="Tore Ausland" userId="aba57685-d7d9-45f9-a74d-a4b3d109653f" providerId="ADAL" clId="{C7003D35-0069-4681-A939-A1D689C68C91}" dt="2026-02-10T09:36:56.241" v="115" actId="20577"/>
          <ac:spMkLst>
            <pc:docMk/>
            <pc:sldMk cId="0" sldId="271"/>
            <ac:spMk id="2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Staff</c:v>
                </c:pt>
              </c:strCache>
            </c:strRef>
          </c:tx>
          <c:spPr>
            <a:ln w="38100" cap="flat">
              <a:solidFill>
                <a:srgbClr val="FF3E00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3E00"/>
              </a:solidFill>
              <a:ln w="9525" cap="flat">
                <a:solidFill>
                  <a:srgbClr val="FF3E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nb-N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2028</c:v>
                </c:pt>
                <c:pt idx="1">
                  <c:v>2029</c:v>
                </c:pt>
                <c:pt idx="2">
                  <c:v>2030</c:v>
                </c:pt>
                <c:pt idx="3">
                  <c:v>2031</c:v>
                </c:pt>
                <c:pt idx="4">
                  <c:v>2032</c:v>
                </c:pt>
                <c:pt idx="5">
                  <c:v>2033</c:v>
                </c:pt>
                <c:pt idx="6">
                  <c:v>2034</c:v>
                </c:pt>
                <c:pt idx="7">
                  <c:v>2035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10</c:v>
                </c:pt>
                <c:pt idx="2">
                  <c:v>13</c:v>
                </c:pt>
                <c:pt idx="3">
                  <c:v>16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63-4A89-B45C-F2197668E8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50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Manufacturing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as a Service — Autonomous, Data-Driven, and Scalable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4572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— Market Outlook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demand drivers spanning 2026 – 2035 and beyond</a:t>
            </a:r>
            <a:endParaRPr lang="en-US" sz="1800" dirty="0"/>
          </a:p>
        </p:txBody>
      </p:sp>
      <p:pic>
        <p:nvPicPr>
          <p:cNvPr id="4" name="Image 0" descr="/mnt/user-data/uploads/IMG_5114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822960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solidFill>
            <a:srgbClr val="2B2B2B">
              <a:alpha val="7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i="1" dirty="0">
                <a:solidFill>
                  <a:schemeClr val="bg1"/>
                </a:solidFill>
              </a:rPr>
              <a:t>The Norwegian defense industry shows strong growth potential and could become larger than the seafood industry. (Aftenposten)</a:t>
            </a:r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256032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5% GDP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Langtidsplan i Norge 2025–2036 har en samlet ramme på ~NOK 1 624 mrd.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Investeringer ~NOK 135 mrd. per år, eller ~NOK 1 080 mrd. i perioden 2028–2035.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2743200"/>
            <a:ext cx="256032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338328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Renewable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74720" y="3383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/ renewables / maritime: ~NOK 1,800–2,200 billion. Renewables / power: ~NOK 400–500 billion. Maritime / infrastructure: ~NOK 50–80 billion. </a:t>
            </a: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~NOK 2,300–2,800 billion over the period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2743200"/>
            <a:ext cx="256032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621792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Transition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Modernization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0936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transition and industrial modernization redefine manufacturing competitiveness around digitally integrated HMLV capacity.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HMLV manufacturing is digital, automated and labor-agnostic.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613467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Signal: Hadrian Automation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3781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Nov 2020, Latest round: ~$1.6B valuation, Led by T. Rowe Price and Andreessen Horowitz's a16z participated. Validates autonomous precision manufacturing for venture scale.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Why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HMLV Workshops Are Structurally Constrained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high machine utilization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without system architecture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dependency on individuals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constraints make 60–65% utilization structurally unrealistic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12700">
            <a:solidFill>
              <a:srgbClr val="D3D3D3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energy capex accelerating faster than supply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CNC capacity gap in Europe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+ digital maturity now economically viable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advantage before legacy players adapt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Greenfield Autonomous Platform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Autonomous HMLV by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Lights-out operation, 24/7 unmanned, sub-linear staffing (16 staff for 20 CNC)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Standardized Platform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Factory automation, digital backbone, repeatable industrial 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Scaling Economics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15-20% utilization, capacity grows faster than costs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Ecosystem from Machine to Customer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profit-sharing above 45% utilization, competitive pricing WITHOUT sharing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MAZAK iSMART Factory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IoT</a:t>
            </a:r>
            <a:endParaRPr lang="en-US" sz="18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A86CB7A-D27A-C05B-D524-4227ACFB5B36}"/>
              </a:ext>
            </a:extLst>
          </p:cNvPr>
          <p:cNvSpPr/>
          <p:nvPr/>
        </p:nvSpPr>
        <p:spPr>
          <a:xfrm>
            <a:off x="4983480" y="1280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scales with the combined value of skilled people and machines.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Aurelian Wins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gap, not price, drives value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autonomy vs. legacy constraints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cost structure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industrial blueprint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Norwegian CNC Benchmark (Estimated Utilization)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7680960" cy="24688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CNC Machines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Utilization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Rogaland Maskinering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Lilaas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Aarbakke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Uvdal Maskinfabrikk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Årdal Maskinering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TP-Products (OEM)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~40-45%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Aurelian Manufacturing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E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E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~60-65%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1149531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Public financial data and industry benchmarks. Aurelian target reflects autonomous HMLV operations by design.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4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Forsvarsdrevet kommersiell oppramping med parallelle inntekter fra hurtigkonverterende segmenter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206240" cy="3291840"/>
          </a:xfrm>
          <a:prstGeom prst="rect">
            <a:avLst/>
          </a:prstGeom>
          <a:solidFill>
            <a:srgbClr val="1C2D3F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4008" cy="3291840"/>
          </a:xfrm>
          <a:prstGeom prst="rect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1: DEFENSE &amp; AEROSPACE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9202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4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NOK 1,624 Mrd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267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Norges forsvarsplan 2025–2036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081528" y="1901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12–18 mnd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926080" y="2267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Salgssyklus — starter mars 2026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22960" y="2651760"/>
            <a:ext cx="3657600" cy="0"/>
          </a:xfrm>
          <a:prstGeom prst="line">
            <a:avLst/>
          </a:prstGeom>
          <a:noFill/>
          <a:ln w="6350">
            <a:solidFill>
              <a:srgbClr val="3D5A7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822960" y="27432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Kongsberg Defence (KDA)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Missiler, fjernstyrte våpen — 10–30K CNC-timer/år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NAMMO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Ammunisjon/propulsjon — 5–15K CNC-timer/år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Saab Nordic  /  BAE Hägglunds  /  Andøya Space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3977640"/>
            <a:ext cx="3749040" cy="411480"/>
          </a:xfrm>
          <a:prstGeom prst="rect">
            <a:avLst/>
          </a:prstGeom>
          <a:solidFill>
            <a:srgbClr val="253B5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Text 12"/>
          <p:cNvSpPr/>
          <p:nvPr/>
        </p:nvSpPr>
        <p:spPr>
          <a:xfrm>
            <a:off x="822960" y="3977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→ AS9100 → AQAP 2110  |  Full digital sporbarhet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4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PARALELLE SPOR — RASK KONVERTERING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1645920"/>
            <a:ext cx="3840480" cy="9601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Shape 15"/>
          <p:cNvSpPr/>
          <p:nvPr/>
        </p:nvSpPr>
        <p:spPr>
          <a:xfrm>
            <a:off x="5029200" y="1645920"/>
            <a:ext cx="54864" cy="960120"/>
          </a:xfrm>
          <a:prstGeom prst="rect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737360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2356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Energi, Olje &amp; Gass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95528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mnd syklus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2578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Equinor, Aker Solutions, TechnipFMC —Subsea connection systems -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komponenter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vedlikeholdsdeler. ~NOK 2,300–2,800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markedsvolum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segmentet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029200" y="2743200"/>
            <a:ext cx="3840480" cy="9601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Shape 20"/>
          <p:cNvSpPr/>
          <p:nvPr/>
        </p:nvSpPr>
        <p:spPr>
          <a:xfrm>
            <a:off x="5029200" y="2743200"/>
            <a:ext cx="54864" cy="960120"/>
          </a:xfrm>
          <a:prstGeom prst="rect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834640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23560" y="2816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Industriell Automasjon &amp; Robotikk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955280" y="2816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mnd syklus</a:t>
            </a:r>
            <a:endParaRPr lang="en-US" sz="9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108960"/>
            <a:ext cx="146304" cy="1463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49824" y="3090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Robotics — signert LOI. Europeisk robotmarked $5B → $37B innen 2033 (9.5% CAGR). Lavest risiko — allerede validert.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029200" y="3840480"/>
            <a:ext cx="3840480" cy="6858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1" name="Shape 25"/>
          <p:cNvSpPr/>
          <p:nvPr/>
        </p:nvSpPr>
        <p:spPr>
          <a:xfrm>
            <a:off x="5029200" y="3840480"/>
            <a:ext cx="54864" cy="685800"/>
          </a:xfrm>
          <a:prstGeom prst="rect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931920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596128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Generell Industri &amp; Spot-ordrer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257800" y="4169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Fyller kapasitet mellom ankerordrer. Kort syklus, umiddelbar inntekt fra dag 1.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29"/>
          <p:cNvSpPr/>
          <p:nvPr/>
        </p:nvSpPr>
        <p:spPr>
          <a:xfrm>
            <a:off x="548640" y="4754880"/>
            <a:ext cx="109728" cy="109728"/>
          </a:xfrm>
          <a:prstGeom prst="ellipse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7" name="Text 30"/>
          <p:cNvSpPr/>
          <p:nvPr/>
        </p:nvSpPr>
        <p:spPr>
          <a:xfrm>
            <a:off x="713232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13232" y="4873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GTM-launch &amp; første kontakt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2926080" y="4754880"/>
            <a:ext cx="109728" cy="109728"/>
          </a:xfrm>
          <a:prstGeom prst="ellipse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0" name="Text 33"/>
          <p:cNvSpPr/>
          <p:nvPr/>
        </p:nvSpPr>
        <p:spPr>
          <a:xfrm>
            <a:off x="3090672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2027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3090672" y="4873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Første produksjon &amp; FAI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5303520" y="4754880"/>
            <a:ext cx="109728" cy="109728"/>
          </a:xfrm>
          <a:prstGeom prst="ellipse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3" name="Text 36"/>
          <p:cNvSpPr/>
          <p:nvPr/>
        </p:nvSpPr>
        <p:spPr>
          <a:xfrm>
            <a:off x="5468112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5468112" y="4873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utnyttelse — 8–13 kunder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7498080" y="4754880"/>
            <a:ext cx="109728" cy="109728"/>
          </a:xfrm>
          <a:prstGeom prst="ellipse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6" name="Text 39"/>
          <p:cNvSpPr/>
          <p:nvPr/>
        </p:nvSpPr>
        <p:spPr>
          <a:xfrm>
            <a:off x="7662672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2029+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7662672" y="48737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50/50-modell &amp; full skala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engine — Capital efficiency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82296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60–65%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0" y="1005840"/>
            <a:ext cx="256032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15-20%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56032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621792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state: 315M rev, 212.5M EBIT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1524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(MNOK)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(MNOK)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headcount growth: 6 staff → 10 staff → 13 staff → 16 staff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Profit figures after 50/50 customer profit-sharing above 45% utilization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Scale — Revenue, Profit &amp; Headcount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459635"/>
              </p:ext>
            </p:extLst>
          </p:nvPr>
        </p:nvGraphicFramePr>
        <p:xfrm>
          <a:off x="457200" y="1234440"/>
          <a:ext cx="5029200" cy="3474720"/>
        </p:xfrm>
        <a:graphic>
          <a:graphicData uri="http://schemas.openxmlformats.org/drawingml/2006/table">
            <a:tbl>
              <a:tblPr/>
              <a:tblGrid>
                <a:gridCol w="463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4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År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Utnyttelse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Omsetning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(MNOK)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Kostnader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(MNOK)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Fortjeneste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(MNOK)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Kommentar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</a:t>
                      </a:r>
                      <a:r>
                        <a:rPr lang="en-US" sz="10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terskel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</a:t>
                      </a:r>
                      <a:r>
                        <a:rPr lang="en-US" sz="10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terskel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Terskelnivå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value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Mature, value share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Strong, value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Sweet Spot, value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Extreme, value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760720" y="1097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Growth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760720" y="1463040"/>
          <a:ext cx="29260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3703320"/>
            <a:ext cx="2926080" cy="77724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3"/>
          <p:cNvSpPr/>
          <p:nvPr/>
        </p:nvSpPr>
        <p:spPr>
          <a:xfrm>
            <a:off x="5852160" y="3794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people per CNC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people per CNC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labor efficiency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60720" y="4572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benchmark: 50 staff for 20 CNC (0.4 CNC/person)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2035: 20 staff for 25 CNC (1.25 CNC/person)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Structure &amp; Investor ROI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(MNOK)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Pre-Money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Runway, agreements,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 + 8 CNC + buffer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to 20 CNC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Returns vs. Market Expectations</a:t>
            </a:r>
            <a:endParaRPr lang="en-US" sz="18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26080"/>
          <a:ext cx="7680960" cy="1097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Expected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Aurelian Projected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20-40x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~49x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Above 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10-25x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~10.5x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Within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Strong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200400" y="4206240"/>
            <a:ext cx="2743200" cy="54864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3"/>
          <p:cNvSpPr/>
          <p:nvPr/>
        </p:nvSpPr>
        <p:spPr>
          <a:xfrm>
            <a:off x="329184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retain 53.4% post-Series A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Scenario: 2.3 Billion NOK valuation (10x EBITDA multiple on 222 MNOK)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Scaling Blueprint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Industrial Platform</a:t>
            </a:r>
            <a:endParaRPr lang="en-US" sz="1800" dirty="0"/>
          </a:p>
        </p:txBody>
      </p:sp>
      <p:pic>
        <p:nvPicPr>
          <p:cNvPr id="4" name="Image 0" descr="/mnt/user-data/uploads/1770496530418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1371600"/>
            <a:ext cx="27432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246888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Site-Zero as Blueprint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operating model, acts as reference facility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246888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Text 6"/>
          <p:cNvSpPr/>
          <p:nvPr/>
        </p:nvSpPr>
        <p:spPr>
          <a:xfrm>
            <a:off x="630936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Platform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0936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CNC, automation, digital backbone for all sites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246888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9"/>
          <p:cNvSpPr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Greenfield, Autonomous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site built for lights-out from day one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2651760"/>
            <a:ext cx="246888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Text 12"/>
          <p:cNvSpPr/>
          <p:nvPr/>
        </p:nvSpPr>
        <p:spPr>
          <a:xfrm>
            <a:off x="630936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Demand-Anchored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sites driven by strategic customer demand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expansion: Norway, Nordic and Europe — aligned with defense &amp; industrial value chains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Advisors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463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Tandberg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Østfold Follo Nyskapingsfond, Board SpareBank 1 Østfold Akershus. Industrial funding + manufacturing ecosystem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560320" cy="1463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356616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Tore Ausland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VP BD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years oil &amp; gas (GE, FMC, Aker). Enterprise partnerships, anchor customer acquisition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560320" cy="1463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10"/>
          <p:cNvSpPr/>
          <p:nvPr/>
        </p:nvSpPr>
        <p:spPr>
          <a:xfrm>
            <a:off x="640080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Strøm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 (Trøgstad Sparebank). Financial structure, reporting, bank dialogue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12700">
            <a:solidFill>
              <a:srgbClr val="D3D3D3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256032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Fredrik Vangsal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Automation: CEO Disruptive Engineering, automation architecture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291840"/>
            <a:ext cx="256032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Text 19"/>
          <p:cNvSpPr/>
          <p:nvPr/>
        </p:nvSpPr>
        <p:spPr>
          <a:xfrm>
            <a:off x="3566160" y="3383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Bjørnar Torsnes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703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Scaling: Chairman CodeIT (VW, TINE, Mowi clients), enterprise sales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3291840"/>
            <a:ext cx="256032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Text 22"/>
          <p:cNvSpPr/>
          <p:nvPr/>
        </p:nvSpPr>
        <p:spPr>
          <a:xfrm>
            <a:off x="6400800" y="3383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Mollatt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703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&amp; Scaleups: Physical Robotics CBO, fundraising expertise (Otivio)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Execution Readiness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PROGRESS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pipeline</a:t>
            </a:r>
            <a:endParaRPr lang="en-US" sz="13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Mazak partnership secured</a:t>
            </a:r>
            <a:endParaRPr lang="en-US" sz="13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location: Våler, 30,000 m² site</a:t>
            </a:r>
            <a:endParaRPr lang="en-US" sz="13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Norbygg developer partnership</a:t>
            </a:r>
            <a:endParaRPr lang="en-US" sz="13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validated</a:t>
            </a:r>
            <a:endParaRPr lang="en-US" sz="13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layout defined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FACILITY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931920" cy="91440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investment to production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484632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production: Q3 2027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32004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2,635 m² first phase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to 20-25 CNC machines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Multi-modal logistics (rail, sea, road, air)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Strategic location: Våler, Østfold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2286000" y="1554480"/>
            <a:ext cx="4572000" cy="73152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22860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Seed Round — 47 MNOK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99" y="2926080"/>
            <a:ext cx="491816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CNC machines, automation and base setup(40 MNOK equity)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Operating buffer (7 MNOK)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50% equity requirement on equipment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97434" y="257175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97434" y="293751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25.1% dilution (industry standard)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Expected 10.5x ROI at exit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Exit: 2.3B NOK valuation (2035)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De-risked by customer anchors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4023360"/>
            <a:ext cx="6400800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André Tandberg, CEO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andre@aurelian.no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</TotalTime>
  <Words>1340</Words>
  <Application>Microsoft Office PowerPoint</Application>
  <PresentationFormat>Skjermfremvisning (16:9)</PresentationFormat>
  <Paragraphs>329</Paragraphs>
  <Slides>13</Slides>
  <Notes>13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Aurelian Manufacturing - Investor Pitch Deck</dc:title>
  <dc:subject>Industry 4.0 Manufacturing Investment Opportunity</dc:subject>
  <dc:creator>Aurelian Manufacturing</dc:creator>
  <cp:lastModifiedBy>Tore Ausland</cp:lastModifiedBy>
  <cp:revision>3</cp:revision>
  <dcterms:created xsi:type="dcterms:W3CDTF">2026-02-07T20:40:25Z</dcterms:created>
  <dcterms:modified xsi:type="dcterms:W3CDTF">2026-02-10T09:48:39Z</dcterms:modified>
</cp:coreProperties>
</file>