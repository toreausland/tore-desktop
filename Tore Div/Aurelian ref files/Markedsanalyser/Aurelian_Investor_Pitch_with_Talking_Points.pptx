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51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Aurelian is positioned in markets with long-term structural demand. Geopolitics, energy transition and demographic shifts ensure sustained activity for decades.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 is not demand, but inefficient utilization and high manual dependency in traditional HMLV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Technology maturity and market readiness make now the right time to build autonomous capacity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Aurelian is designed for continuous operation with high utilization and low personnel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digital toolbox enables secure, compliant and frictionless collaboration across the value chain, and is critical for utilization.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Profitability is driven primarily by utilization, not pricing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Scaling is achieved by adding machines, not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Low break-even thresholds provide robustness in early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Illustrates long-term potential at maturity, not short-term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SEED is critical for industrial realization. Series A is an option to accelerate toward 20 CNC steady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Team structure ensures execution capability and financial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invite partners to participate in building a scalable, autonomous industrial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Thesis – Market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Structural demand drivers over 30+ years</a:t>
            </a:r>
          </a:p>
          <a:p>
            <a:r>
              <a:t>• Defense, energy, maritime &amp; critical industries</a:t>
            </a:r>
          </a:p>
          <a:p>
            <a:r>
              <a:t>• Geopolitics, energy transition, skills shortage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HMLV utilization typically 20–40%</a:t>
            </a:r>
          </a:p>
          <a:p>
            <a:r>
              <a:t>• High complexity &amp; person dependency</a:t>
            </a:r>
          </a:p>
          <a:p>
            <a:r>
              <a:t>• Low capital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Mature autonomy technology</a:t>
            </a:r>
          </a:p>
          <a:p>
            <a:r>
              <a:t>• Willingness to pay for security &amp; documentation</a:t>
            </a:r>
          </a:p>
          <a:p>
            <a:r>
              <a:t>• Greenfield advantage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Aurelian Manufacturing –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Autonomous CNC cells</a:t>
            </a:r>
          </a:p>
          <a:p>
            <a:r>
              <a:t>• Lights‑out operation</a:t>
            </a:r>
          </a:p>
          <a:p>
            <a:r>
              <a:t>• Standardized &amp; replicable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Aurelian Wins – Digital Toolbox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security (equipment, data, IP)</a:t>
            </a:r>
          </a:p>
          <a:p>
            <a:r>
              <a:t>• Technical documentation &amp; traceability</a:t>
            </a:r>
          </a:p>
          <a:p>
            <a:r>
              <a:t>• Secure value‑chain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~3,000 NOK/hour</a:t>
            </a:r>
          </a:p>
          <a:p>
            <a:r>
              <a:t>• ~6,000 hours per CNC</a:t>
            </a:r>
          </a:p>
          <a:p>
            <a:r>
              <a:t>• 60–65% target utilization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 → 20 CNC machines</a:t>
            </a:r>
          </a:p>
          <a:p>
            <a:r>
              <a:t>• 6 → ~16 FTE</a:t>
            </a:r>
          </a:p>
          <a:p>
            <a:r>
              <a:t>• Sub‑linear cost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Break‑Even &amp; Risk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BE: ~15–20%</a:t>
            </a:r>
          </a:p>
          <a:p>
            <a:r>
              <a:t>• Company BE: ~4 CNC</a:t>
            </a:r>
          </a:p>
          <a:p>
            <a:r>
              <a:t>• Low downside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Steady‑State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~315–340 MNOK revenue</a:t>
            </a:r>
          </a:p>
          <a:p>
            <a:r>
              <a:t>• Strong operating leverage</a:t>
            </a:r>
          </a:p>
          <a:p>
            <a:r>
              <a:t>• Structural upside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Structure &amp;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Pre‑Seed: risk reduction</a:t>
            </a:r>
          </a:p>
          <a:p>
            <a:r>
              <a:t>• SEED: first factory &amp; operations</a:t>
            </a:r>
          </a:p>
          <a:p>
            <a:r>
              <a:t>• Series A: scaling accelerator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Industrial &amp; financial experience</a:t>
            </a:r>
          </a:p>
          <a:p>
            <a:r>
              <a:t>• Clear role separation</a:t>
            </a:r>
          </a:p>
          <a:p>
            <a:r>
              <a:t>• Bankable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Capital for first reference factory</a:t>
            </a:r>
          </a:p>
          <a:p>
            <a:r>
              <a:t>• Path to 20 CNC steady state</a:t>
            </a:r>
          </a:p>
          <a:p>
            <a:r>
              <a:t>• Long‑term industrial value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Office PowerPoint</Application>
  <PresentationFormat>Skjermfremvisning (4:3)</PresentationFormat>
  <Paragraphs>60</Paragraphs>
  <Slides>12</Slides>
  <Notes>12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Investment Thesis – Market Outlook</vt:lpstr>
      <vt:lpstr>Market Problem</vt:lpstr>
      <vt:lpstr>Market Timing</vt:lpstr>
      <vt:lpstr>Aurelian Manufacturing – Solution</vt:lpstr>
      <vt:lpstr>Why Aurelian Wins – Digital Toolbox</vt:lpstr>
      <vt:lpstr>Economic Engine</vt:lpstr>
      <vt:lpstr>Scaling Logic</vt:lpstr>
      <vt:lpstr>Break‑Even &amp; Risk Profile</vt:lpstr>
      <vt:lpstr>Steady‑State Potential</vt:lpstr>
      <vt:lpstr>Capital Structure &amp; Phases</vt:lpstr>
      <vt:lpstr>Team &amp; Governance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Tore Ausland</dc:creator>
  <cp:keywords/>
  <dc:description>generated using python-pptx</dc:description>
  <cp:lastModifiedBy>Tore Ausland</cp:lastModifiedBy>
  <cp:revision>1</cp:revision>
  <dcterms:created xsi:type="dcterms:W3CDTF">2013-01-27T09:14:16Z</dcterms:created>
  <dcterms:modified xsi:type="dcterms:W3CDTF">2026-01-27T12:38:51Z</dcterms:modified>
  <cp:category/>
</cp:coreProperties>
</file>