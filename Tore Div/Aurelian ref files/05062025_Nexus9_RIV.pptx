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7099300" cy="10234613"/>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E0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43AE60E-DF89-6330-267B-1F6B3C5CD13C}"/>
              </a:ext>
            </a:extLst>
          </p:cNvPr>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a:extLst>
              <a:ext uri="{FF2B5EF4-FFF2-40B4-BE49-F238E27FC236}">
                <a16:creationId xmlns:a16="http://schemas.microsoft.com/office/drawing/2014/main" id="{D13E53B9-B73B-7CDF-CFBA-1521C07641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a:extLst>
              <a:ext uri="{FF2B5EF4-FFF2-40B4-BE49-F238E27FC236}">
                <a16:creationId xmlns:a16="http://schemas.microsoft.com/office/drawing/2014/main" id="{55D2C914-509F-1236-267D-F79FFC8C765B}"/>
              </a:ext>
            </a:extLst>
          </p:cNvPr>
          <p:cNvSpPr>
            <a:spLocks noGrp="1"/>
          </p:cNvSpPr>
          <p:nvPr>
            <p:ph type="dt" sz="half" idx="10"/>
          </p:nvPr>
        </p:nvSpPr>
        <p:spPr/>
        <p:txBody>
          <a:bodyPr/>
          <a:lstStyle/>
          <a:p>
            <a:fld id="{415EB3E6-F576-4188-8F10-BABBBA55A564}" type="datetimeFigureOut">
              <a:rPr lang="nb-NO" smtClean="0"/>
              <a:t>05.06.2025</a:t>
            </a:fld>
            <a:endParaRPr lang="nb-NO"/>
          </a:p>
        </p:txBody>
      </p:sp>
      <p:sp>
        <p:nvSpPr>
          <p:cNvPr id="5" name="Plassholder for bunntekst 4">
            <a:extLst>
              <a:ext uri="{FF2B5EF4-FFF2-40B4-BE49-F238E27FC236}">
                <a16:creationId xmlns:a16="http://schemas.microsoft.com/office/drawing/2014/main" id="{A5A8FCCE-7EC5-73AA-C221-866B0A60B86D}"/>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B530582E-31AF-DD0A-261A-4C8C3888836D}"/>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2189611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B808289-66B0-6285-D807-39DA49AF68B2}"/>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3E542B9B-C4D6-E28A-B21F-936F9E10381F}"/>
              </a:ext>
            </a:extLst>
          </p:cNvPr>
          <p:cNvSpPr>
            <a:spLocks noGrp="1"/>
          </p:cNvSpPr>
          <p:nvPr>
            <p:ph idx="1"/>
          </p:nvPr>
        </p:nvSpPr>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40FCB4D8-6A2E-BC29-6F35-FB074572FAFB}"/>
              </a:ext>
            </a:extLst>
          </p:cNvPr>
          <p:cNvSpPr>
            <a:spLocks noGrp="1"/>
          </p:cNvSpPr>
          <p:nvPr>
            <p:ph type="dt" sz="half" idx="10"/>
          </p:nvPr>
        </p:nvSpPr>
        <p:spPr/>
        <p:txBody>
          <a:bodyPr/>
          <a:lstStyle/>
          <a:p>
            <a:fld id="{415EB3E6-F576-4188-8F10-BABBBA55A564}" type="datetimeFigureOut">
              <a:rPr lang="nb-NO" smtClean="0"/>
              <a:t>05.06.2025</a:t>
            </a:fld>
            <a:endParaRPr lang="nb-NO"/>
          </a:p>
        </p:txBody>
      </p:sp>
      <p:sp>
        <p:nvSpPr>
          <p:cNvPr id="5" name="Plassholder for bunntekst 4">
            <a:extLst>
              <a:ext uri="{FF2B5EF4-FFF2-40B4-BE49-F238E27FC236}">
                <a16:creationId xmlns:a16="http://schemas.microsoft.com/office/drawing/2014/main" id="{E113CE0C-DBD0-4832-69D5-A4AF50B34937}"/>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03768693-F6F3-C6D2-BE34-9DE416A3DDAB}"/>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3788307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B145F25-2523-2EBD-F7A9-135BFB578055}"/>
              </a:ext>
            </a:extLst>
          </p:cNvPr>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a:extLst>
              <a:ext uri="{FF2B5EF4-FFF2-40B4-BE49-F238E27FC236}">
                <a16:creationId xmlns:a16="http://schemas.microsoft.com/office/drawing/2014/main" id="{6E6837E8-F5D7-E3F5-8656-634869D1BF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b-NO"/>
              <a:t>Klikk for å redigere tekststiler i malen</a:t>
            </a:r>
          </a:p>
        </p:txBody>
      </p:sp>
      <p:sp>
        <p:nvSpPr>
          <p:cNvPr id="4" name="Plassholder for dato 3">
            <a:extLst>
              <a:ext uri="{FF2B5EF4-FFF2-40B4-BE49-F238E27FC236}">
                <a16:creationId xmlns:a16="http://schemas.microsoft.com/office/drawing/2014/main" id="{B90A8772-B29D-0B42-B68F-48224496861E}"/>
              </a:ext>
            </a:extLst>
          </p:cNvPr>
          <p:cNvSpPr>
            <a:spLocks noGrp="1"/>
          </p:cNvSpPr>
          <p:nvPr>
            <p:ph type="dt" sz="half" idx="10"/>
          </p:nvPr>
        </p:nvSpPr>
        <p:spPr/>
        <p:txBody>
          <a:bodyPr/>
          <a:lstStyle/>
          <a:p>
            <a:fld id="{415EB3E6-F576-4188-8F10-BABBBA55A564}" type="datetimeFigureOut">
              <a:rPr lang="nb-NO" smtClean="0"/>
              <a:t>05.06.2025</a:t>
            </a:fld>
            <a:endParaRPr lang="nb-NO"/>
          </a:p>
        </p:txBody>
      </p:sp>
      <p:sp>
        <p:nvSpPr>
          <p:cNvPr id="5" name="Plassholder for bunntekst 4">
            <a:extLst>
              <a:ext uri="{FF2B5EF4-FFF2-40B4-BE49-F238E27FC236}">
                <a16:creationId xmlns:a16="http://schemas.microsoft.com/office/drawing/2014/main" id="{C450F512-B071-EA0D-F4EB-F7671789CBB6}"/>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553747A9-96E4-B5DD-6409-2CCFD70973DB}"/>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152134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973D9DBD-F8D8-1670-323D-1350119B32CB}"/>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DB5F86F8-1626-F972-E191-3D5A1F9C7E05}"/>
              </a:ext>
            </a:extLst>
          </p:cNvPr>
          <p:cNvSpPr>
            <a:spLocks noGrp="1"/>
          </p:cNvSpPr>
          <p:nvPr>
            <p:ph sz="half" idx="1"/>
          </p:nvPr>
        </p:nvSpPr>
        <p:spPr>
          <a:xfrm>
            <a:off x="838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a:extLst>
              <a:ext uri="{FF2B5EF4-FFF2-40B4-BE49-F238E27FC236}">
                <a16:creationId xmlns:a16="http://schemas.microsoft.com/office/drawing/2014/main" id="{C9E55A07-D001-F03F-B8AF-71EA24165E4D}"/>
              </a:ext>
            </a:extLst>
          </p:cNvPr>
          <p:cNvSpPr>
            <a:spLocks noGrp="1"/>
          </p:cNvSpPr>
          <p:nvPr>
            <p:ph sz="half" idx="2"/>
          </p:nvPr>
        </p:nvSpPr>
        <p:spPr>
          <a:xfrm>
            <a:off x="6172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a:extLst>
              <a:ext uri="{FF2B5EF4-FFF2-40B4-BE49-F238E27FC236}">
                <a16:creationId xmlns:a16="http://schemas.microsoft.com/office/drawing/2014/main" id="{CC07C521-00FF-B512-436C-B2B6C0DC8080}"/>
              </a:ext>
            </a:extLst>
          </p:cNvPr>
          <p:cNvSpPr>
            <a:spLocks noGrp="1"/>
          </p:cNvSpPr>
          <p:nvPr>
            <p:ph type="dt" sz="half" idx="10"/>
          </p:nvPr>
        </p:nvSpPr>
        <p:spPr/>
        <p:txBody>
          <a:bodyPr/>
          <a:lstStyle/>
          <a:p>
            <a:fld id="{415EB3E6-F576-4188-8F10-BABBBA55A564}" type="datetimeFigureOut">
              <a:rPr lang="nb-NO" smtClean="0"/>
              <a:t>05.06.2025</a:t>
            </a:fld>
            <a:endParaRPr lang="nb-NO"/>
          </a:p>
        </p:txBody>
      </p:sp>
      <p:sp>
        <p:nvSpPr>
          <p:cNvPr id="6" name="Plassholder for bunntekst 5">
            <a:extLst>
              <a:ext uri="{FF2B5EF4-FFF2-40B4-BE49-F238E27FC236}">
                <a16:creationId xmlns:a16="http://schemas.microsoft.com/office/drawing/2014/main" id="{04AB8003-7C2F-4FA7-60E4-8C4DF5B9B920}"/>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4E07C3F6-F214-5635-8173-F55E99B1CF00}"/>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1380484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D8FF6DB-2631-0901-B14C-66AAD713D525}"/>
              </a:ext>
            </a:extLst>
          </p:cNvPr>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a:extLst>
              <a:ext uri="{FF2B5EF4-FFF2-40B4-BE49-F238E27FC236}">
                <a16:creationId xmlns:a16="http://schemas.microsoft.com/office/drawing/2014/main" id="{44B5C9A5-7E58-CB19-37FA-631133FBB6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28137FA6-85C1-1E23-DE05-0791DF756173}"/>
              </a:ext>
            </a:extLst>
          </p:cNvPr>
          <p:cNvSpPr>
            <a:spLocks noGrp="1"/>
          </p:cNvSpPr>
          <p:nvPr>
            <p:ph sz="half" idx="2"/>
          </p:nvPr>
        </p:nvSpPr>
        <p:spPr>
          <a:xfrm>
            <a:off x="839788" y="2505075"/>
            <a:ext cx="5157787"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a:extLst>
              <a:ext uri="{FF2B5EF4-FFF2-40B4-BE49-F238E27FC236}">
                <a16:creationId xmlns:a16="http://schemas.microsoft.com/office/drawing/2014/main" id="{DC6C7EA8-5CD5-D0A6-6DB9-4524E4DE18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6C5F78D9-4F45-B69F-8E8A-4EC00B6DA1A4}"/>
              </a:ext>
            </a:extLst>
          </p:cNvPr>
          <p:cNvSpPr>
            <a:spLocks noGrp="1"/>
          </p:cNvSpPr>
          <p:nvPr>
            <p:ph sz="quarter" idx="4"/>
          </p:nvPr>
        </p:nvSpPr>
        <p:spPr>
          <a:xfrm>
            <a:off x="6172200" y="2505075"/>
            <a:ext cx="5183188"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a:extLst>
              <a:ext uri="{FF2B5EF4-FFF2-40B4-BE49-F238E27FC236}">
                <a16:creationId xmlns:a16="http://schemas.microsoft.com/office/drawing/2014/main" id="{C635E81F-95E4-7D27-FB05-89AF47B3D732}"/>
              </a:ext>
            </a:extLst>
          </p:cNvPr>
          <p:cNvSpPr>
            <a:spLocks noGrp="1"/>
          </p:cNvSpPr>
          <p:nvPr>
            <p:ph type="dt" sz="half" idx="10"/>
          </p:nvPr>
        </p:nvSpPr>
        <p:spPr/>
        <p:txBody>
          <a:bodyPr/>
          <a:lstStyle/>
          <a:p>
            <a:fld id="{415EB3E6-F576-4188-8F10-BABBBA55A564}" type="datetimeFigureOut">
              <a:rPr lang="nb-NO" smtClean="0"/>
              <a:t>05.06.2025</a:t>
            </a:fld>
            <a:endParaRPr lang="nb-NO"/>
          </a:p>
        </p:txBody>
      </p:sp>
      <p:sp>
        <p:nvSpPr>
          <p:cNvPr id="8" name="Plassholder for bunntekst 7">
            <a:extLst>
              <a:ext uri="{FF2B5EF4-FFF2-40B4-BE49-F238E27FC236}">
                <a16:creationId xmlns:a16="http://schemas.microsoft.com/office/drawing/2014/main" id="{ECBF1207-F572-70CA-475E-F65AA12D3B76}"/>
              </a:ext>
            </a:extLst>
          </p:cNvPr>
          <p:cNvSpPr>
            <a:spLocks noGrp="1"/>
          </p:cNvSpPr>
          <p:nvPr>
            <p:ph type="ftr" sz="quarter" idx="11"/>
          </p:nvPr>
        </p:nvSpPr>
        <p:spPr/>
        <p:txBody>
          <a:bodyPr/>
          <a:lstStyle/>
          <a:p>
            <a:endParaRPr lang="nb-NO"/>
          </a:p>
        </p:txBody>
      </p:sp>
      <p:sp>
        <p:nvSpPr>
          <p:cNvPr id="9" name="Plassholder for lysbildenummer 8">
            <a:extLst>
              <a:ext uri="{FF2B5EF4-FFF2-40B4-BE49-F238E27FC236}">
                <a16:creationId xmlns:a16="http://schemas.microsoft.com/office/drawing/2014/main" id="{430B1E28-7FD1-1C3F-FEAC-883C88640062}"/>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524039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1E86142-8DE2-8B7F-9CB3-BFD849BE2B26}"/>
              </a:ext>
            </a:extLst>
          </p:cNvPr>
          <p:cNvSpPr>
            <a:spLocks noGrp="1"/>
          </p:cNvSpPr>
          <p:nvPr>
            <p:ph type="title"/>
          </p:nvPr>
        </p:nvSpPr>
        <p:spPr/>
        <p:txBody>
          <a:bodyPr/>
          <a:lstStyle/>
          <a:p>
            <a:r>
              <a:rPr lang="nb-NO"/>
              <a:t>Klikk for å redigere tittelstil</a:t>
            </a:r>
          </a:p>
        </p:txBody>
      </p:sp>
      <p:sp>
        <p:nvSpPr>
          <p:cNvPr id="3" name="Plassholder for dato 2">
            <a:extLst>
              <a:ext uri="{FF2B5EF4-FFF2-40B4-BE49-F238E27FC236}">
                <a16:creationId xmlns:a16="http://schemas.microsoft.com/office/drawing/2014/main" id="{F0E065F0-987E-F28E-74DD-944E7DB7FE0B}"/>
              </a:ext>
            </a:extLst>
          </p:cNvPr>
          <p:cNvSpPr>
            <a:spLocks noGrp="1"/>
          </p:cNvSpPr>
          <p:nvPr>
            <p:ph type="dt" sz="half" idx="10"/>
          </p:nvPr>
        </p:nvSpPr>
        <p:spPr/>
        <p:txBody>
          <a:bodyPr/>
          <a:lstStyle/>
          <a:p>
            <a:fld id="{415EB3E6-F576-4188-8F10-BABBBA55A564}" type="datetimeFigureOut">
              <a:rPr lang="nb-NO" smtClean="0"/>
              <a:t>05.06.2025</a:t>
            </a:fld>
            <a:endParaRPr lang="nb-NO"/>
          </a:p>
        </p:txBody>
      </p:sp>
      <p:sp>
        <p:nvSpPr>
          <p:cNvPr id="4" name="Plassholder for bunntekst 3">
            <a:extLst>
              <a:ext uri="{FF2B5EF4-FFF2-40B4-BE49-F238E27FC236}">
                <a16:creationId xmlns:a16="http://schemas.microsoft.com/office/drawing/2014/main" id="{CB426940-12F0-B497-AB32-819FB9EC0FA8}"/>
              </a:ext>
            </a:extLst>
          </p:cNvPr>
          <p:cNvSpPr>
            <a:spLocks noGrp="1"/>
          </p:cNvSpPr>
          <p:nvPr>
            <p:ph type="ftr" sz="quarter" idx="11"/>
          </p:nvPr>
        </p:nvSpPr>
        <p:spPr/>
        <p:txBody>
          <a:bodyPr/>
          <a:lstStyle/>
          <a:p>
            <a:endParaRPr lang="nb-NO"/>
          </a:p>
        </p:txBody>
      </p:sp>
      <p:sp>
        <p:nvSpPr>
          <p:cNvPr id="5" name="Plassholder for lysbildenummer 4">
            <a:extLst>
              <a:ext uri="{FF2B5EF4-FFF2-40B4-BE49-F238E27FC236}">
                <a16:creationId xmlns:a16="http://schemas.microsoft.com/office/drawing/2014/main" id="{7B177A00-F640-DF94-4B39-D09C8CCA81FD}"/>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1851552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a:extLst>
              <a:ext uri="{FF2B5EF4-FFF2-40B4-BE49-F238E27FC236}">
                <a16:creationId xmlns:a16="http://schemas.microsoft.com/office/drawing/2014/main" id="{F3AF4184-8077-6779-D4DE-A1E3A97E37A0}"/>
              </a:ext>
            </a:extLst>
          </p:cNvPr>
          <p:cNvSpPr>
            <a:spLocks noGrp="1"/>
          </p:cNvSpPr>
          <p:nvPr>
            <p:ph type="dt" sz="half" idx="10"/>
          </p:nvPr>
        </p:nvSpPr>
        <p:spPr/>
        <p:txBody>
          <a:bodyPr/>
          <a:lstStyle/>
          <a:p>
            <a:fld id="{415EB3E6-F576-4188-8F10-BABBBA55A564}" type="datetimeFigureOut">
              <a:rPr lang="nb-NO" smtClean="0"/>
              <a:t>05.06.2025</a:t>
            </a:fld>
            <a:endParaRPr lang="nb-NO"/>
          </a:p>
        </p:txBody>
      </p:sp>
      <p:sp>
        <p:nvSpPr>
          <p:cNvPr id="3" name="Plassholder for bunntekst 2">
            <a:extLst>
              <a:ext uri="{FF2B5EF4-FFF2-40B4-BE49-F238E27FC236}">
                <a16:creationId xmlns:a16="http://schemas.microsoft.com/office/drawing/2014/main" id="{E59FC2D9-D18A-A887-C428-941FC8C8DCEB}"/>
              </a:ext>
            </a:extLst>
          </p:cNvPr>
          <p:cNvSpPr>
            <a:spLocks noGrp="1"/>
          </p:cNvSpPr>
          <p:nvPr>
            <p:ph type="ftr" sz="quarter" idx="11"/>
          </p:nvPr>
        </p:nvSpPr>
        <p:spPr/>
        <p:txBody>
          <a:bodyPr/>
          <a:lstStyle/>
          <a:p>
            <a:endParaRPr lang="nb-NO"/>
          </a:p>
        </p:txBody>
      </p:sp>
      <p:sp>
        <p:nvSpPr>
          <p:cNvPr id="4" name="Plassholder for lysbildenummer 3">
            <a:extLst>
              <a:ext uri="{FF2B5EF4-FFF2-40B4-BE49-F238E27FC236}">
                <a16:creationId xmlns:a16="http://schemas.microsoft.com/office/drawing/2014/main" id="{33B65844-C603-B4BC-69BA-682BD6D30A48}"/>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3057839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3A81E18-6C98-B19A-851F-F963E5075660}"/>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a:extLst>
              <a:ext uri="{FF2B5EF4-FFF2-40B4-BE49-F238E27FC236}">
                <a16:creationId xmlns:a16="http://schemas.microsoft.com/office/drawing/2014/main" id="{5935A83E-DCAA-17F2-DBDF-9668A317B5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a:extLst>
              <a:ext uri="{FF2B5EF4-FFF2-40B4-BE49-F238E27FC236}">
                <a16:creationId xmlns:a16="http://schemas.microsoft.com/office/drawing/2014/main" id="{FB2AA179-BD14-ED27-DC21-A718CE7FA4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17102F16-EA68-B64D-015A-2740F9519806}"/>
              </a:ext>
            </a:extLst>
          </p:cNvPr>
          <p:cNvSpPr>
            <a:spLocks noGrp="1"/>
          </p:cNvSpPr>
          <p:nvPr>
            <p:ph type="dt" sz="half" idx="10"/>
          </p:nvPr>
        </p:nvSpPr>
        <p:spPr/>
        <p:txBody>
          <a:bodyPr/>
          <a:lstStyle/>
          <a:p>
            <a:fld id="{415EB3E6-F576-4188-8F10-BABBBA55A564}" type="datetimeFigureOut">
              <a:rPr lang="nb-NO" smtClean="0"/>
              <a:t>05.06.2025</a:t>
            </a:fld>
            <a:endParaRPr lang="nb-NO"/>
          </a:p>
        </p:txBody>
      </p:sp>
      <p:sp>
        <p:nvSpPr>
          <p:cNvPr id="6" name="Plassholder for bunntekst 5">
            <a:extLst>
              <a:ext uri="{FF2B5EF4-FFF2-40B4-BE49-F238E27FC236}">
                <a16:creationId xmlns:a16="http://schemas.microsoft.com/office/drawing/2014/main" id="{C6EEDDAF-946F-BAD6-7F4C-79B7449FA623}"/>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DA1F68E3-8513-0EC4-9C52-6A4A54A9A2A9}"/>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3105948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D9F0F2F-8D73-CFF5-2849-222A0B0464A9}"/>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a:extLst>
              <a:ext uri="{FF2B5EF4-FFF2-40B4-BE49-F238E27FC236}">
                <a16:creationId xmlns:a16="http://schemas.microsoft.com/office/drawing/2014/main" id="{F1B47295-1507-CE1A-8FFD-75ADCCB477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a:extLst>
              <a:ext uri="{FF2B5EF4-FFF2-40B4-BE49-F238E27FC236}">
                <a16:creationId xmlns:a16="http://schemas.microsoft.com/office/drawing/2014/main" id="{509EF8D0-1F55-2004-04D5-3D3E880B3F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6764FDD6-D448-F5F7-2781-62C9B5A1C675}"/>
              </a:ext>
            </a:extLst>
          </p:cNvPr>
          <p:cNvSpPr>
            <a:spLocks noGrp="1"/>
          </p:cNvSpPr>
          <p:nvPr>
            <p:ph type="dt" sz="half" idx="10"/>
          </p:nvPr>
        </p:nvSpPr>
        <p:spPr/>
        <p:txBody>
          <a:bodyPr/>
          <a:lstStyle/>
          <a:p>
            <a:fld id="{415EB3E6-F576-4188-8F10-BABBBA55A564}" type="datetimeFigureOut">
              <a:rPr lang="nb-NO" smtClean="0"/>
              <a:t>05.06.2025</a:t>
            </a:fld>
            <a:endParaRPr lang="nb-NO"/>
          </a:p>
        </p:txBody>
      </p:sp>
      <p:sp>
        <p:nvSpPr>
          <p:cNvPr id="6" name="Plassholder for bunntekst 5">
            <a:extLst>
              <a:ext uri="{FF2B5EF4-FFF2-40B4-BE49-F238E27FC236}">
                <a16:creationId xmlns:a16="http://schemas.microsoft.com/office/drawing/2014/main" id="{4A365E1D-70D9-549B-C913-22106A474B73}"/>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7CA40FC0-AB55-CD76-D07B-E532B38DD424}"/>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3157650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99E094C-2862-44B7-4E68-373923CE8118}"/>
              </a:ext>
            </a:extLst>
          </p:cNvPr>
          <p:cNvSpPr>
            <a:spLocks noGrp="1"/>
          </p:cNvSpPr>
          <p:nvPr>
            <p:ph type="title"/>
          </p:nvPr>
        </p:nvSpPr>
        <p:spPr/>
        <p:txBody>
          <a:bodyPr/>
          <a:lstStyle/>
          <a:p>
            <a:r>
              <a:rPr lang="nb-NO"/>
              <a:t>Klikk for å redigere tittelstil</a:t>
            </a:r>
          </a:p>
        </p:txBody>
      </p:sp>
      <p:sp>
        <p:nvSpPr>
          <p:cNvPr id="3" name="Plassholder for loddrett tekst 2">
            <a:extLst>
              <a:ext uri="{FF2B5EF4-FFF2-40B4-BE49-F238E27FC236}">
                <a16:creationId xmlns:a16="http://schemas.microsoft.com/office/drawing/2014/main" id="{75A21646-F65D-7419-1442-B7874C32913C}"/>
              </a:ext>
            </a:extLst>
          </p:cNvPr>
          <p:cNvSpPr>
            <a:spLocks noGrp="1"/>
          </p:cNvSpPr>
          <p:nvPr>
            <p:ph type="body" orient="vert" idx="1"/>
          </p:nvPr>
        </p:nvSpPr>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BC16670B-2EE5-B0AA-5CC8-757C84CE83E7}"/>
              </a:ext>
            </a:extLst>
          </p:cNvPr>
          <p:cNvSpPr>
            <a:spLocks noGrp="1"/>
          </p:cNvSpPr>
          <p:nvPr>
            <p:ph type="dt" sz="half" idx="10"/>
          </p:nvPr>
        </p:nvSpPr>
        <p:spPr/>
        <p:txBody>
          <a:bodyPr/>
          <a:lstStyle/>
          <a:p>
            <a:fld id="{415EB3E6-F576-4188-8F10-BABBBA55A564}" type="datetimeFigureOut">
              <a:rPr lang="nb-NO" smtClean="0"/>
              <a:t>05.06.2025</a:t>
            </a:fld>
            <a:endParaRPr lang="nb-NO"/>
          </a:p>
        </p:txBody>
      </p:sp>
      <p:sp>
        <p:nvSpPr>
          <p:cNvPr id="5" name="Plassholder for bunntekst 4">
            <a:extLst>
              <a:ext uri="{FF2B5EF4-FFF2-40B4-BE49-F238E27FC236}">
                <a16:creationId xmlns:a16="http://schemas.microsoft.com/office/drawing/2014/main" id="{C3DC0B13-9CE5-93C6-F5B3-157152C97C26}"/>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A9F382BD-E8DF-4800-EE69-DC1C317D22F5}"/>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3244805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a:extLst>
              <a:ext uri="{FF2B5EF4-FFF2-40B4-BE49-F238E27FC236}">
                <a16:creationId xmlns:a16="http://schemas.microsoft.com/office/drawing/2014/main" id="{80CD2639-A9D1-DD6F-6F10-09AB6995E933}"/>
              </a:ext>
            </a:extLst>
          </p:cNvPr>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a:extLst>
              <a:ext uri="{FF2B5EF4-FFF2-40B4-BE49-F238E27FC236}">
                <a16:creationId xmlns:a16="http://schemas.microsoft.com/office/drawing/2014/main" id="{9C69EEB3-333F-4DF6-FE7A-3FD0201E9CB0}"/>
              </a:ext>
            </a:extLst>
          </p:cNvPr>
          <p:cNvSpPr>
            <a:spLocks noGrp="1"/>
          </p:cNvSpPr>
          <p:nvPr>
            <p:ph type="body" orient="vert" idx="1"/>
          </p:nvPr>
        </p:nvSpPr>
        <p:spPr>
          <a:xfrm>
            <a:off x="838200" y="365125"/>
            <a:ext cx="7734300" cy="5811838"/>
          </a:xfrm>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7AE50CEA-6C57-766A-D97F-01853D5D8688}"/>
              </a:ext>
            </a:extLst>
          </p:cNvPr>
          <p:cNvSpPr>
            <a:spLocks noGrp="1"/>
          </p:cNvSpPr>
          <p:nvPr>
            <p:ph type="dt" sz="half" idx="10"/>
          </p:nvPr>
        </p:nvSpPr>
        <p:spPr/>
        <p:txBody>
          <a:bodyPr/>
          <a:lstStyle/>
          <a:p>
            <a:fld id="{415EB3E6-F576-4188-8F10-BABBBA55A564}" type="datetimeFigureOut">
              <a:rPr lang="nb-NO" smtClean="0"/>
              <a:t>05.06.2025</a:t>
            </a:fld>
            <a:endParaRPr lang="nb-NO"/>
          </a:p>
        </p:txBody>
      </p:sp>
      <p:sp>
        <p:nvSpPr>
          <p:cNvPr id="5" name="Plassholder for bunntekst 4">
            <a:extLst>
              <a:ext uri="{FF2B5EF4-FFF2-40B4-BE49-F238E27FC236}">
                <a16:creationId xmlns:a16="http://schemas.microsoft.com/office/drawing/2014/main" id="{865E37D3-B332-578C-A604-C1DA62D784FA}"/>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AFC8243A-874D-192D-0F3F-45B4D6B645C6}"/>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2278931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a:extLst>
              <a:ext uri="{FF2B5EF4-FFF2-40B4-BE49-F238E27FC236}">
                <a16:creationId xmlns:a16="http://schemas.microsoft.com/office/drawing/2014/main" id="{2289EC56-16FA-8FBD-293F-AF64A9C828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a:extLst>
              <a:ext uri="{FF2B5EF4-FFF2-40B4-BE49-F238E27FC236}">
                <a16:creationId xmlns:a16="http://schemas.microsoft.com/office/drawing/2014/main" id="{76C8E9AB-8895-4C12-062E-9CF22BC7B7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23478799-267D-3DBB-47D6-A7BEE6980E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5EB3E6-F576-4188-8F10-BABBBA55A564}" type="datetimeFigureOut">
              <a:rPr lang="nb-NO" smtClean="0"/>
              <a:t>05.06.2025</a:t>
            </a:fld>
            <a:endParaRPr lang="nb-NO"/>
          </a:p>
        </p:txBody>
      </p:sp>
      <p:sp>
        <p:nvSpPr>
          <p:cNvPr id="5" name="Plassholder for bunntekst 4">
            <a:extLst>
              <a:ext uri="{FF2B5EF4-FFF2-40B4-BE49-F238E27FC236}">
                <a16:creationId xmlns:a16="http://schemas.microsoft.com/office/drawing/2014/main" id="{976CBC97-B07A-FF95-3AE1-70B9D9C026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Plassholder for lysbildenummer 5">
            <a:extLst>
              <a:ext uri="{FF2B5EF4-FFF2-40B4-BE49-F238E27FC236}">
                <a16:creationId xmlns:a16="http://schemas.microsoft.com/office/drawing/2014/main" id="{60D808EF-8D57-4EBB-E5F2-A66A9FE79B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F810C7-8E2A-482C-B27F-DA8717815A14}" type="slidenum">
              <a:rPr lang="nb-NO" smtClean="0"/>
              <a:t>‹#›</a:t>
            </a:fld>
            <a:endParaRPr lang="nb-NO"/>
          </a:p>
        </p:txBody>
      </p:sp>
    </p:spTree>
    <p:extLst>
      <p:ext uri="{BB962C8B-B14F-4D97-AF65-F5344CB8AC3E}">
        <p14:creationId xmlns:p14="http://schemas.microsoft.com/office/powerpoint/2010/main" val="1162891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svg"/></Relationships>
</file>

<file path=ppt/slides/_rels/slide2.xml.rels><?xml version="1.0" encoding="UTF-8" standalone="yes"?>
<Relationships xmlns="http://schemas.openxmlformats.org/package/2006/relationships"><Relationship Id="rId8" Type="http://schemas.openxmlformats.org/officeDocument/2006/relationships/hyperlink" Target="https://www.energi.ai/" TargetMode="External"/><Relationship Id="rId13" Type="http://schemas.openxmlformats.org/officeDocument/2006/relationships/hyperlink" Target="https://www.gl-instrumenter.no/" TargetMode="External"/><Relationship Id="rId18" Type="http://schemas.openxmlformats.org/officeDocument/2006/relationships/hyperlink" Target="https://www.physicalrobotics.com/" TargetMode="External"/><Relationship Id="rId26" Type="http://schemas.openxmlformats.org/officeDocument/2006/relationships/hyperlink" Target="https://www.tronrud.no/no/" TargetMode="External"/><Relationship Id="rId3" Type="http://schemas.openxmlformats.org/officeDocument/2006/relationships/hyperlink" Target="https://www.7waves.no/" TargetMode="External"/><Relationship Id="rId21" Type="http://schemas.openxmlformats.org/officeDocument/2006/relationships/hyperlink" Target="https://www.sew-eurodrive.no/startside.html" TargetMode="External"/><Relationship Id="rId7" Type="http://schemas.openxmlformats.org/officeDocument/2006/relationships/hyperlink" Target="https://www.ezoneenergy.com/" TargetMode="External"/><Relationship Id="rId12" Type="http://schemas.openxmlformats.org/officeDocument/2006/relationships/hyperlink" Target="https://www.dynatec.no/" TargetMode="External"/><Relationship Id="rId17" Type="http://schemas.openxmlformats.org/officeDocument/2006/relationships/hyperlink" Target="https://www.neo.no/" TargetMode="External"/><Relationship Id="rId25" Type="http://schemas.openxmlformats.org/officeDocument/2006/relationships/hyperlink" Target="https://www.techni.no/" TargetMode="External"/><Relationship Id="rId2" Type="http://schemas.openxmlformats.org/officeDocument/2006/relationships/image" Target="../media/image14.png"/><Relationship Id="rId16" Type="http://schemas.openxmlformats.org/officeDocument/2006/relationships/hyperlink" Target="https://www.nmbu.no/fakulteter/fakultet-realfag-og-teknologi/eik-lab" TargetMode="External"/><Relationship Id="rId20" Type="http://schemas.openxmlformats.org/officeDocument/2006/relationships/hyperlink" Target="https://www.servi.no/" TargetMode="External"/><Relationship Id="rId29" Type="http://schemas.openxmlformats.org/officeDocument/2006/relationships/hyperlink" Target="https://zebra.no/" TargetMode="External"/><Relationship Id="rId1" Type="http://schemas.openxmlformats.org/officeDocument/2006/relationships/slideLayout" Target="../slideLayouts/slideLayout1.xml"/><Relationship Id="rId6" Type="http://schemas.openxmlformats.org/officeDocument/2006/relationships/hyperlink" Target="https://incrementi.no/" TargetMode="External"/><Relationship Id="rId11" Type="http://schemas.openxmlformats.org/officeDocument/2006/relationships/hyperlink" Target="https://codeitworldwide.com/" TargetMode="External"/><Relationship Id="rId24" Type="http://schemas.openxmlformats.org/officeDocument/2006/relationships/hyperlink" Target="https://stepsolutions.no/" TargetMode="External"/><Relationship Id="rId5" Type="http://schemas.openxmlformats.org/officeDocument/2006/relationships/hyperlink" Target="https://www.krescado.no/" TargetMode="External"/><Relationship Id="rId15" Type="http://schemas.openxmlformats.org/officeDocument/2006/relationships/hyperlink" Target="https://www.mnu-as.no/" TargetMode="External"/><Relationship Id="rId23" Type="http://schemas.openxmlformats.org/officeDocument/2006/relationships/hyperlink" Target="https://slattland.no/" TargetMode="External"/><Relationship Id="rId28" Type="http://schemas.openxmlformats.org/officeDocument/2006/relationships/hyperlink" Target="https://www.wartsila.com/marine/products/gas-solutions/inert-gas/wartsila-moss-mult-inert-systems" TargetMode="External"/><Relationship Id="rId10" Type="http://schemas.openxmlformats.org/officeDocument/2006/relationships/hyperlink" Target="https://bewi.com/" TargetMode="External"/><Relationship Id="rId19" Type="http://schemas.openxmlformats.org/officeDocument/2006/relationships/hyperlink" Target="https://pronofa.no/" TargetMode="External"/><Relationship Id="rId4" Type="http://schemas.openxmlformats.org/officeDocument/2006/relationships/hyperlink" Target="https://www.dengineering.no/" TargetMode="External"/><Relationship Id="rId9" Type="http://schemas.openxmlformats.org/officeDocument/2006/relationships/hyperlink" Target="https://prod.akersolutions.com/" TargetMode="External"/><Relationship Id="rId14" Type="http://schemas.openxmlformats.org/officeDocument/2006/relationships/hyperlink" Target="https://www.mhtech.no/" TargetMode="External"/><Relationship Id="rId22" Type="http://schemas.openxmlformats.org/officeDocument/2006/relationships/hyperlink" Target="https://www.skolt-pukk.no/" TargetMode="External"/><Relationship Id="rId27" Type="http://schemas.openxmlformats.org/officeDocument/2006/relationships/hyperlink" Target="https://www.vuleng.n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3E02"/>
        </a:solidFill>
        <a:effectLst/>
      </p:bgPr>
    </p:bg>
    <p:spTree>
      <p:nvGrpSpPr>
        <p:cNvPr id="1" name=""/>
        <p:cNvGrpSpPr/>
        <p:nvPr/>
      </p:nvGrpSpPr>
      <p:grpSpPr>
        <a:xfrm>
          <a:off x="0" y="0"/>
          <a:ext cx="0" cy="0"/>
          <a:chOff x="0" y="0"/>
          <a:chExt cx="0" cy="0"/>
        </a:xfrm>
      </p:grpSpPr>
      <p:pic>
        <p:nvPicPr>
          <p:cNvPr id="46" name="Bilde 45" descr="Et bilde som inneholder maskin, innendørs, tak, gulv&#10;&#10;KI-generert innhold kan være feil.">
            <a:extLst>
              <a:ext uri="{FF2B5EF4-FFF2-40B4-BE49-F238E27FC236}">
                <a16:creationId xmlns:a16="http://schemas.microsoft.com/office/drawing/2014/main" id="{8FF22F2D-823D-88F5-6604-99C9D88E4E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8926" y="0"/>
            <a:ext cx="2482941" cy="1396655"/>
          </a:xfrm>
          <a:prstGeom prst="rect">
            <a:avLst/>
          </a:prstGeom>
        </p:spPr>
      </p:pic>
      <p:sp>
        <p:nvSpPr>
          <p:cNvPr id="69" name="Rektangel 68">
            <a:extLst>
              <a:ext uri="{FF2B5EF4-FFF2-40B4-BE49-F238E27FC236}">
                <a16:creationId xmlns:a16="http://schemas.microsoft.com/office/drawing/2014/main" id="{561003A0-9A7E-4EDA-7579-D685009688FE}"/>
              </a:ext>
            </a:extLst>
          </p:cNvPr>
          <p:cNvSpPr/>
          <p:nvPr/>
        </p:nvSpPr>
        <p:spPr>
          <a:xfrm>
            <a:off x="0" y="3056843"/>
            <a:ext cx="12217877" cy="13091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dirty="0"/>
          </a:p>
        </p:txBody>
      </p:sp>
      <p:pic>
        <p:nvPicPr>
          <p:cNvPr id="11" name="Bilde 10" descr="Et bilde som inneholder tekst, Font, Grafikk, logo&#10;&#10;KI-generert innhold kan være feil.">
            <a:extLst>
              <a:ext uri="{FF2B5EF4-FFF2-40B4-BE49-F238E27FC236}">
                <a16:creationId xmlns:a16="http://schemas.microsoft.com/office/drawing/2014/main" id="{45BC6E5D-D124-C06E-128A-341333D477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853" y="863660"/>
            <a:ext cx="2810933" cy="1136418"/>
          </a:xfrm>
          <a:prstGeom prst="rect">
            <a:avLst/>
          </a:prstGeom>
        </p:spPr>
      </p:pic>
      <p:sp>
        <p:nvSpPr>
          <p:cNvPr id="20" name="Rektangel 19">
            <a:extLst>
              <a:ext uri="{FF2B5EF4-FFF2-40B4-BE49-F238E27FC236}">
                <a16:creationId xmlns:a16="http://schemas.microsoft.com/office/drawing/2014/main" id="{FC9A8CAA-EAD6-EC8C-FB0F-8A6D2BA45092}"/>
              </a:ext>
            </a:extLst>
          </p:cNvPr>
          <p:cNvSpPr/>
          <p:nvPr/>
        </p:nvSpPr>
        <p:spPr>
          <a:xfrm>
            <a:off x="5751687" y="316866"/>
            <a:ext cx="3235399" cy="401934"/>
          </a:xfrm>
          <a:prstGeom prst="rect">
            <a:avLst/>
          </a:prstGeom>
          <a:solidFill>
            <a:srgbClr val="FF3E02"/>
          </a:solidFill>
          <a:ln>
            <a:solidFill>
              <a:srgbClr val="FF3E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b-NO" sz="4400" dirty="0">
                <a:solidFill>
                  <a:schemeClr val="tx1"/>
                </a:solidFill>
                <a:latin typeface="Montserrat Bold" panose="00000800000000000000" pitchFamily="2" charset="0"/>
              </a:rPr>
              <a:t>NEXUS_9</a:t>
            </a:r>
          </a:p>
        </p:txBody>
      </p:sp>
      <p:cxnSp>
        <p:nvCxnSpPr>
          <p:cNvPr id="36" name="Rett linje 35">
            <a:extLst>
              <a:ext uri="{FF2B5EF4-FFF2-40B4-BE49-F238E27FC236}">
                <a16:creationId xmlns:a16="http://schemas.microsoft.com/office/drawing/2014/main" id="{1AD493D3-D6A2-6B6E-E3AB-B9D2BE3698F3}"/>
              </a:ext>
            </a:extLst>
          </p:cNvPr>
          <p:cNvCxnSpPr>
            <a:cxnSpLocks/>
          </p:cNvCxnSpPr>
          <p:nvPr/>
        </p:nvCxnSpPr>
        <p:spPr>
          <a:xfrm>
            <a:off x="5364226" y="-13781"/>
            <a:ext cx="0" cy="932313"/>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8" name="Rett linje 37">
            <a:extLst>
              <a:ext uri="{FF2B5EF4-FFF2-40B4-BE49-F238E27FC236}">
                <a16:creationId xmlns:a16="http://schemas.microsoft.com/office/drawing/2014/main" id="{DC2462CB-08A2-3206-137D-072ACB138D50}"/>
              </a:ext>
            </a:extLst>
          </p:cNvPr>
          <p:cNvCxnSpPr>
            <a:cxnSpLocks/>
          </p:cNvCxnSpPr>
          <p:nvPr/>
        </p:nvCxnSpPr>
        <p:spPr>
          <a:xfrm>
            <a:off x="0" y="918532"/>
            <a:ext cx="9718926" cy="0"/>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7" name="Rett linje 46">
            <a:extLst>
              <a:ext uri="{FF2B5EF4-FFF2-40B4-BE49-F238E27FC236}">
                <a16:creationId xmlns:a16="http://schemas.microsoft.com/office/drawing/2014/main" id="{1A69B596-A03B-C21A-8311-8182A2DB2A11}"/>
              </a:ext>
            </a:extLst>
          </p:cNvPr>
          <p:cNvCxnSpPr>
            <a:cxnSpLocks/>
          </p:cNvCxnSpPr>
          <p:nvPr/>
        </p:nvCxnSpPr>
        <p:spPr>
          <a:xfrm>
            <a:off x="9718926" y="0"/>
            <a:ext cx="0" cy="1390647"/>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9" name="Rett linje 48">
            <a:extLst>
              <a:ext uri="{FF2B5EF4-FFF2-40B4-BE49-F238E27FC236}">
                <a16:creationId xmlns:a16="http://schemas.microsoft.com/office/drawing/2014/main" id="{61CD20D0-BF87-5495-3545-8E305AEF1CFD}"/>
              </a:ext>
            </a:extLst>
          </p:cNvPr>
          <p:cNvCxnSpPr>
            <a:cxnSpLocks/>
          </p:cNvCxnSpPr>
          <p:nvPr/>
        </p:nvCxnSpPr>
        <p:spPr>
          <a:xfrm>
            <a:off x="9718926" y="1390647"/>
            <a:ext cx="2471361" cy="0"/>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sp>
        <p:nvSpPr>
          <p:cNvPr id="81" name="Undertittel 2">
            <a:extLst>
              <a:ext uri="{FF2B5EF4-FFF2-40B4-BE49-F238E27FC236}">
                <a16:creationId xmlns:a16="http://schemas.microsoft.com/office/drawing/2014/main" id="{8A2018A1-5BD5-8615-F8C4-928E18BFEB9F}"/>
              </a:ext>
            </a:extLst>
          </p:cNvPr>
          <p:cNvSpPr>
            <a:spLocks noGrp="1"/>
          </p:cNvSpPr>
          <p:nvPr>
            <p:ph type="subTitle" idx="1"/>
          </p:nvPr>
        </p:nvSpPr>
        <p:spPr>
          <a:xfrm>
            <a:off x="399631" y="2029956"/>
            <a:ext cx="2643376" cy="369331"/>
          </a:xfrm>
        </p:spPr>
        <p:txBody>
          <a:bodyPr>
            <a:normAutofit fontScale="25000" lnSpcReduction="20000"/>
          </a:bodyPr>
          <a:lstStyle/>
          <a:p>
            <a:pPr>
              <a:spcBef>
                <a:spcPts val="600"/>
              </a:spcBef>
            </a:pPr>
            <a:r>
              <a:rPr lang="en-US" sz="4800" b="1" i="0" dirty="0">
                <a:solidFill>
                  <a:schemeClr val="bg1"/>
                </a:solidFill>
                <a:effectLst/>
              </a:rPr>
              <a:t>High precision </a:t>
            </a:r>
          </a:p>
          <a:p>
            <a:pPr>
              <a:spcBef>
                <a:spcPts val="600"/>
              </a:spcBef>
            </a:pPr>
            <a:r>
              <a:rPr lang="en-US" sz="4800" b="1" i="0" dirty="0">
                <a:solidFill>
                  <a:schemeClr val="bg1"/>
                </a:solidFill>
                <a:effectLst/>
              </a:rPr>
              <a:t>“</a:t>
            </a:r>
            <a:r>
              <a:rPr lang="en-US" sz="4800" b="1" dirty="0">
                <a:solidFill>
                  <a:schemeClr val="bg1"/>
                </a:solidFill>
              </a:rPr>
              <a:t>L</a:t>
            </a:r>
            <a:r>
              <a:rPr lang="en-US" sz="4800" b="1" i="0" dirty="0">
                <a:solidFill>
                  <a:schemeClr val="bg1"/>
                </a:solidFill>
                <a:effectLst/>
              </a:rPr>
              <a:t>ights Off Manufacturing” </a:t>
            </a:r>
            <a:br>
              <a:rPr lang="en-US" sz="1050" b="1" i="0" dirty="0">
                <a:solidFill>
                  <a:schemeClr val="bg1"/>
                </a:solidFill>
                <a:effectLst/>
              </a:rPr>
            </a:br>
            <a:endParaRPr lang="nb-NO" sz="1050" b="1" dirty="0">
              <a:solidFill>
                <a:schemeClr val="bg1"/>
              </a:solidFill>
              <a:ea typeface="Lato" panose="020F0502020204030203" pitchFamily="34" charset="0"/>
              <a:cs typeface="Lato" panose="020F0502020204030203" pitchFamily="34" charset="0"/>
            </a:endParaRPr>
          </a:p>
        </p:txBody>
      </p:sp>
      <p:sp>
        <p:nvSpPr>
          <p:cNvPr id="84" name="TekstSylinder 83">
            <a:extLst>
              <a:ext uri="{FF2B5EF4-FFF2-40B4-BE49-F238E27FC236}">
                <a16:creationId xmlns:a16="http://schemas.microsoft.com/office/drawing/2014/main" id="{66FB1E47-CBFA-D0DE-2554-F9A77A6DDB4B}"/>
              </a:ext>
            </a:extLst>
          </p:cNvPr>
          <p:cNvSpPr txBox="1"/>
          <p:nvPr/>
        </p:nvSpPr>
        <p:spPr>
          <a:xfrm>
            <a:off x="3317556" y="999804"/>
            <a:ext cx="8700285" cy="2000548"/>
          </a:xfrm>
          <a:prstGeom prst="rect">
            <a:avLst/>
          </a:prstGeom>
          <a:noFill/>
        </p:spPr>
        <p:txBody>
          <a:bodyPr wrap="square">
            <a:spAutoFit/>
          </a:bodyPr>
          <a:lstStyle/>
          <a:p>
            <a:r>
              <a:rPr lang="en-US" sz="1200" b="1" dirty="0">
                <a:solidFill>
                  <a:schemeClr val="bg1"/>
                </a:solidFill>
                <a:latin typeface="Montserrat Bold" panose="00000800000000000000"/>
              </a:rPr>
              <a:t>The Idea</a:t>
            </a:r>
          </a:p>
          <a:p>
            <a:endParaRPr lang="en-US" sz="1200" b="1" dirty="0">
              <a:solidFill>
                <a:schemeClr val="bg1"/>
              </a:solidFill>
              <a:latin typeface="Montserrat Bold" panose="00000800000000000000"/>
            </a:endParaRPr>
          </a:p>
          <a:p>
            <a:pPr marL="171450" indent="-171450">
              <a:buFont typeface="Arial" panose="020B0604020202020204" pitchFamily="34" charset="0"/>
              <a:buChar char="•"/>
            </a:pPr>
            <a:r>
              <a:rPr lang="en-US" sz="1000" b="1" dirty="0">
                <a:solidFill>
                  <a:schemeClr val="bg1"/>
                </a:solidFill>
              </a:rPr>
              <a:t>High-precision manufacturing</a:t>
            </a:r>
            <a:r>
              <a:rPr lang="en-US" sz="1000" dirty="0">
                <a:solidFill>
                  <a:schemeClr val="bg1"/>
                </a:solidFill>
              </a:rPr>
              <a:t>, exclusively made-to-order machined components.</a:t>
            </a:r>
            <a:endParaRPr lang="en-US" sz="1000" b="1" dirty="0">
              <a:solidFill>
                <a:schemeClr val="bg1"/>
              </a:solidFill>
            </a:endParaRPr>
          </a:p>
          <a:p>
            <a:pPr marL="171450" indent="-171450">
              <a:buFont typeface="Arial" panose="020B0604020202020204" pitchFamily="34" charset="0"/>
              <a:buChar char="•"/>
            </a:pPr>
            <a:r>
              <a:rPr lang="en-US" sz="1000" b="1" dirty="0">
                <a:solidFill>
                  <a:schemeClr val="bg1"/>
                </a:solidFill>
              </a:rPr>
              <a:t>Supply Chain Sovereignty</a:t>
            </a:r>
            <a:r>
              <a:rPr lang="en-US" sz="1000" dirty="0">
                <a:solidFill>
                  <a:schemeClr val="bg1"/>
                </a:solidFill>
              </a:rPr>
              <a:t>  Reduce critical dependency on distant manufacturing hubs by establishing resilient, automated production capabilities</a:t>
            </a:r>
          </a:p>
          <a:p>
            <a:pPr marL="171450" indent="-171450">
              <a:buFont typeface="Arial" panose="020B0604020202020204" pitchFamily="34" charset="0"/>
              <a:buChar char="•"/>
            </a:pPr>
            <a:r>
              <a:rPr lang="en-US" sz="1000" b="1" dirty="0">
                <a:solidFill>
                  <a:schemeClr val="bg1"/>
                </a:solidFill>
              </a:rPr>
              <a:t>Regional Economic Transformation</a:t>
            </a:r>
            <a:r>
              <a:rPr lang="en-US" sz="1000" dirty="0">
                <a:solidFill>
                  <a:schemeClr val="bg1"/>
                </a:solidFill>
              </a:rPr>
              <a:t> - Create a high-value manufacturing ecosystem that attracts global tech talent, R&amp;D investments, and advanced manufacturing companies</a:t>
            </a:r>
          </a:p>
          <a:p>
            <a:pPr marL="171450" indent="-171450">
              <a:buFont typeface="Arial" panose="020B0604020202020204" pitchFamily="34" charset="0"/>
              <a:buChar char="•"/>
            </a:pPr>
            <a:endParaRPr lang="en-US" sz="1000" dirty="0">
              <a:solidFill>
                <a:schemeClr val="bg1"/>
              </a:solidFill>
            </a:endParaRPr>
          </a:p>
          <a:p>
            <a:pPr marL="171450" indent="-171450">
              <a:buFont typeface="Arial" panose="020B0604020202020204" pitchFamily="34" charset="0"/>
              <a:buChar char="•"/>
            </a:pPr>
            <a:r>
              <a:rPr lang="en-US" sz="1000" b="1" dirty="0">
                <a:solidFill>
                  <a:schemeClr val="bg1"/>
                </a:solidFill>
              </a:rPr>
              <a:t>Future-Proofing Industrial Competitiveness</a:t>
            </a:r>
            <a:r>
              <a:rPr lang="en-US" sz="1000" dirty="0">
                <a:solidFill>
                  <a:schemeClr val="bg1"/>
                </a:solidFill>
              </a:rPr>
              <a:t> - Capture first-mover advantage in the inevitable shift toward fully autonomous manufacturing, securing </a:t>
            </a:r>
            <a:r>
              <a:rPr lang="en-US" sz="1000" dirty="0" err="1">
                <a:solidFill>
                  <a:schemeClr val="bg1"/>
                </a:solidFill>
              </a:rPr>
              <a:t>Østfold’s</a:t>
            </a:r>
            <a:r>
              <a:rPr lang="en-US" sz="1000" dirty="0">
                <a:solidFill>
                  <a:schemeClr val="bg1"/>
                </a:solidFill>
              </a:rPr>
              <a:t> position as a leader in advanced production technologies</a:t>
            </a:r>
          </a:p>
          <a:p>
            <a:pPr marL="171450" indent="-171450">
              <a:buFont typeface="Arial" panose="020B0604020202020204" pitchFamily="34" charset="0"/>
              <a:buChar char="•"/>
            </a:pPr>
            <a:r>
              <a:rPr lang="en-US" sz="1000" b="1" dirty="0">
                <a:solidFill>
                  <a:schemeClr val="bg1"/>
                </a:solidFill>
              </a:rPr>
              <a:t>Human-Level Physical Intelligence</a:t>
            </a:r>
            <a:r>
              <a:rPr lang="en-US" sz="1000" dirty="0">
                <a:solidFill>
                  <a:schemeClr val="bg1"/>
                </a:solidFill>
              </a:rPr>
              <a:t> – Applying humanoid robots with advanced tactile sensing, computer vision, and adaptive manipulation capabilities represent the missing link for achieving true lights-out manufacturing, enabling complex assembly tasks, quality inspections, and exception scenarios that currently require human workers.</a:t>
            </a:r>
          </a:p>
        </p:txBody>
      </p:sp>
      <p:sp>
        <p:nvSpPr>
          <p:cNvPr id="91" name="TekstSylinder 90">
            <a:extLst>
              <a:ext uri="{FF2B5EF4-FFF2-40B4-BE49-F238E27FC236}">
                <a16:creationId xmlns:a16="http://schemas.microsoft.com/office/drawing/2014/main" id="{428B096C-FF88-EDC1-1F06-6584B2D3F1F4}"/>
              </a:ext>
            </a:extLst>
          </p:cNvPr>
          <p:cNvSpPr txBox="1"/>
          <p:nvPr/>
        </p:nvSpPr>
        <p:spPr>
          <a:xfrm>
            <a:off x="6008624" y="39867"/>
            <a:ext cx="2246623" cy="276999"/>
          </a:xfrm>
          <a:prstGeom prst="rect">
            <a:avLst/>
          </a:prstGeom>
          <a:noFill/>
        </p:spPr>
        <p:txBody>
          <a:bodyPr wrap="square">
            <a:spAutoFit/>
          </a:bodyPr>
          <a:lstStyle/>
          <a:p>
            <a:r>
              <a:rPr lang="en-US" sz="1200" b="1" dirty="0"/>
              <a:t>PROJECT:</a:t>
            </a:r>
            <a:endParaRPr lang="en-US" sz="1200" dirty="0"/>
          </a:p>
        </p:txBody>
      </p:sp>
      <p:sp>
        <p:nvSpPr>
          <p:cNvPr id="94" name="Ellipse 93">
            <a:extLst>
              <a:ext uri="{FF2B5EF4-FFF2-40B4-BE49-F238E27FC236}">
                <a16:creationId xmlns:a16="http://schemas.microsoft.com/office/drawing/2014/main" id="{21F814B7-23C7-0026-DEFE-4226B0CC3AD4}"/>
              </a:ext>
            </a:extLst>
          </p:cNvPr>
          <p:cNvSpPr/>
          <p:nvPr/>
        </p:nvSpPr>
        <p:spPr>
          <a:xfrm>
            <a:off x="203599" y="4538552"/>
            <a:ext cx="3035439" cy="2091904"/>
          </a:xfrm>
          <a:prstGeom prst="ellipse">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TekstSylinder 6">
            <a:extLst>
              <a:ext uri="{FF2B5EF4-FFF2-40B4-BE49-F238E27FC236}">
                <a16:creationId xmlns:a16="http://schemas.microsoft.com/office/drawing/2014/main" id="{28B3F489-9758-4585-1240-FB71D9ED9627}"/>
              </a:ext>
            </a:extLst>
          </p:cNvPr>
          <p:cNvSpPr txBox="1"/>
          <p:nvPr/>
        </p:nvSpPr>
        <p:spPr>
          <a:xfrm>
            <a:off x="3359776" y="4417476"/>
            <a:ext cx="8791021" cy="2123658"/>
          </a:xfrm>
          <a:prstGeom prst="rect">
            <a:avLst/>
          </a:prstGeom>
          <a:noFill/>
        </p:spPr>
        <p:txBody>
          <a:bodyPr wrap="square">
            <a:spAutoFit/>
          </a:bodyPr>
          <a:lstStyle/>
          <a:p>
            <a:pPr>
              <a:buNone/>
            </a:pPr>
            <a:r>
              <a:rPr lang="en-US" sz="1200" b="1" dirty="0">
                <a:solidFill>
                  <a:schemeClr val="bg1"/>
                </a:solidFill>
              </a:rPr>
              <a:t>Strategic Partnership &amp; Scale Opportunity</a:t>
            </a:r>
            <a:r>
              <a:rPr lang="en-US" sz="1200" dirty="0">
                <a:solidFill>
                  <a:schemeClr val="bg1"/>
                </a:solidFill>
              </a:rPr>
              <a:t> - Establishing Aurelian Manufacturing creates a unique symbiotic relationship with Physical Robotics AS </a:t>
            </a:r>
            <a:r>
              <a:rPr lang="en-US" sz="1200" dirty="0" err="1">
                <a:solidFill>
                  <a:schemeClr val="bg1"/>
                </a:solidFill>
              </a:rPr>
              <a:t>as</a:t>
            </a:r>
            <a:r>
              <a:rPr lang="en-US" sz="1200" dirty="0">
                <a:solidFill>
                  <a:schemeClr val="bg1"/>
                </a:solidFill>
              </a:rPr>
              <a:t> their primary development and deployment partner for physical intelligent humanoid robots, while simultaneously capturing the component manufacturing opportunity for 100,000+ humanoid robots by 2035, positioning Østfold and Norway to both pioneer and produce the physical intelligence systems that will define next-generation autonomous robotics and manufacturing facilities globally.</a:t>
            </a:r>
          </a:p>
          <a:p>
            <a:pPr>
              <a:buNone/>
            </a:pPr>
            <a:endParaRPr lang="en-US" sz="1200" dirty="0">
              <a:solidFill>
                <a:schemeClr val="bg1"/>
              </a:solidFill>
            </a:endParaRPr>
          </a:p>
          <a:p>
            <a:r>
              <a:rPr lang="en-US" sz="1200" b="1" dirty="0">
                <a:solidFill>
                  <a:schemeClr val="bg1"/>
                </a:solidFill>
              </a:rPr>
              <a:t>Scalable Deployment &amp; Regional Innovation Impact</a:t>
            </a:r>
            <a:r>
              <a:rPr lang="en-US" sz="1200" dirty="0">
                <a:solidFill>
                  <a:schemeClr val="bg1"/>
                </a:solidFill>
              </a:rPr>
              <a:t> - The project will generate cascading opportunities to deploy proven humanoid robotics solutions across diverse manufacturing sectors, process industries, food processing facilities, and circular economy applications, leveraging the trained robotic systems and operational expertise developed at Aurelian. These efficiency-driven spin-offs will amplify the transformative impact of </a:t>
            </a:r>
            <a:r>
              <a:rPr lang="en-US" sz="1200" dirty="0" err="1">
                <a:solidFill>
                  <a:schemeClr val="bg1"/>
                </a:solidFill>
              </a:rPr>
              <a:t>Østfold's</a:t>
            </a:r>
            <a:r>
              <a:rPr lang="en-US" sz="1200" dirty="0">
                <a:solidFill>
                  <a:schemeClr val="bg1"/>
                </a:solidFill>
              </a:rPr>
              <a:t> Regional Innovation Valley initiative, creating a multiplier effect that extends autonomous manufacturing capabilities throughout the regional industrial ecosystem.</a:t>
            </a:r>
          </a:p>
        </p:txBody>
      </p:sp>
      <p:sp>
        <p:nvSpPr>
          <p:cNvPr id="9" name="TekstSylinder 5">
            <a:extLst>
              <a:ext uri="{FF2B5EF4-FFF2-40B4-BE49-F238E27FC236}">
                <a16:creationId xmlns:a16="http://schemas.microsoft.com/office/drawing/2014/main" id="{061BEA63-F42B-F097-9421-6E09BFC28286}"/>
              </a:ext>
            </a:extLst>
          </p:cNvPr>
          <p:cNvSpPr txBox="1"/>
          <p:nvPr/>
        </p:nvSpPr>
        <p:spPr>
          <a:xfrm>
            <a:off x="404336" y="3181321"/>
            <a:ext cx="3064899" cy="400110"/>
          </a:xfrm>
          <a:prstGeom prst="rect">
            <a:avLst/>
          </a:prstGeom>
          <a:noFill/>
        </p:spPr>
        <p:txBody>
          <a:bodyPr wrap="square">
            <a:spAutoFit/>
          </a:bodyPr>
          <a:ls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1000" b="1" dirty="0"/>
              <a:t>Speed: </a:t>
            </a:r>
            <a:r>
              <a:rPr lang="nb-NO" sz="1000" dirty="0"/>
              <a:t>Game </a:t>
            </a:r>
            <a:r>
              <a:rPr lang="nb-NO" sz="1000" dirty="0" err="1"/>
              <a:t>changing</a:t>
            </a:r>
            <a:r>
              <a:rPr lang="nb-NO" sz="1000" dirty="0"/>
              <a:t> </a:t>
            </a:r>
            <a:r>
              <a:rPr lang="nb-NO" sz="1000" dirty="0" err="1"/>
              <a:t>production</a:t>
            </a:r>
            <a:r>
              <a:rPr lang="nb-NO" sz="1000" dirty="0"/>
              <a:t> </a:t>
            </a:r>
            <a:r>
              <a:rPr lang="nb-NO" sz="1000" dirty="0" err="1"/>
              <a:t>velocities</a:t>
            </a:r>
            <a:r>
              <a:rPr lang="nb-NO" sz="1000" dirty="0"/>
              <a:t> </a:t>
            </a:r>
          </a:p>
          <a:p>
            <a:r>
              <a:rPr lang="nb-NO" sz="1000" dirty="0" err="1"/>
              <a:t>that</a:t>
            </a:r>
            <a:r>
              <a:rPr lang="nb-NO" sz="1000" dirty="0"/>
              <a:t> redefines </a:t>
            </a:r>
            <a:r>
              <a:rPr lang="nb-NO" sz="1000" dirty="0" err="1"/>
              <a:t>manufacturing</a:t>
            </a:r>
            <a:r>
              <a:rPr lang="nb-NO" sz="1000" dirty="0"/>
              <a:t> timelines.</a:t>
            </a:r>
          </a:p>
        </p:txBody>
      </p:sp>
      <p:pic>
        <p:nvPicPr>
          <p:cNvPr id="10" name="Grafikk 19" descr="Stoppeklokke 25% kontur">
            <a:extLst>
              <a:ext uri="{FF2B5EF4-FFF2-40B4-BE49-F238E27FC236}">
                <a16:creationId xmlns:a16="http://schemas.microsoft.com/office/drawing/2014/main" id="{1914B9BF-4588-E628-E6FA-C5AE4D12F09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424" y="3136435"/>
            <a:ext cx="435527" cy="435527"/>
          </a:xfrm>
          <a:prstGeom prst="rect">
            <a:avLst/>
          </a:prstGeom>
        </p:spPr>
      </p:pic>
      <p:sp>
        <p:nvSpPr>
          <p:cNvPr id="12" name="TekstSylinder 13">
            <a:extLst>
              <a:ext uri="{FF2B5EF4-FFF2-40B4-BE49-F238E27FC236}">
                <a16:creationId xmlns:a16="http://schemas.microsoft.com/office/drawing/2014/main" id="{CAB7CD27-D085-5EFD-151B-C2E0AC488299}"/>
              </a:ext>
            </a:extLst>
          </p:cNvPr>
          <p:cNvSpPr txBox="1"/>
          <p:nvPr/>
        </p:nvSpPr>
        <p:spPr>
          <a:xfrm>
            <a:off x="3969965" y="3171852"/>
            <a:ext cx="4186872" cy="400110"/>
          </a:xfrm>
          <a:prstGeom prst="rect">
            <a:avLst/>
          </a:prstGeom>
          <a:noFill/>
        </p:spPr>
        <p:txBody>
          <a:bodyPr wrap="square">
            <a:spAutoFit/>
          </a:bodyPr>
          <a:ls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1000" b="1" dirty="0"/>
              <a:t>Supply Chain </a:t>
            </a:r>
            <a:r>
              <a:rPr lang="nb-NO" sz="1000" b="1" dirty="0" err="1"/>
              <a:t>Resilience</a:t>
            </a:r>
            <a:r>
              <a:rPr lang="nb-NO" sz="1000" b="1" dirty="0"/>
              <a:t>: </a:t>
            </a:r>
            <a:r>
              <a:rPr lang="en-US" sz="1000" dirty="0"/>
              <a:t>Eliminate global supply chain vulnerabilities </a:t>
            </a:r>
          </a:p>
          <a:p>
            <a:r>
              <a:rPr lang="en-US" sz="1000" dirty="0"/>
              <a:t>through on-demand local production of critical  components.</a:t>
            </a:r>
            <a:r>
              <a:rPr lang="nb-NO" sz="1000" b="1" dirty="0"/>
              <a:t> </a:t>
            </a:r>
            <a:endParaRPr lang="nb-NO" sz="1000" dirty="0"/>
          </a:p>
        </p:txBody>
      </p:sp>
      <p:pic>
        <p:nvPicPr>
          <p:cNvPr id="13" name="Grafikk 30" descr="Tilkoblet kontur">
            <a:extLst>
              <a:ext uri="{FF2B5EF4-FFF2-40B4-BE49-F238E27FC236}">
                <a16:creationId xmlns:a16="http://schemas.microsoft.com/office/drawing/2014/main" id="{430D0AE1-21D4-8BDF-27FC-B70E5E39F0A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620725" y="3136414"/>
            <a:ext cx="435527" cy="435527"/>
          </a:xfrm>
          <a:prstGeom prst="rect">
            <a:avLst/>
          </a:prstGeom>
        </p:spPr>
      </p:pic>
      <p:sp>
        <p:nvSpPr>
          <p:cNvPr id="14" name="TekstSylinder 17">
            <a:extLst>
              <a:ext uri="{FF2B5EF4-FFF2-40B4-BE49-F238E27FC236}">
                <a16:creationId xmlns:a16="http://schemas.microsoft.com/office/drawing/2014/main" id="{D4B2C330-EAA9-2168-0F50-6F0FD68278B3}"/>
              </a:ext>
            </a:extLst>
          </p:cNvPr>
          <p:cNvSpPr txBox="1"/>
          <p:nvPr/>
        </p:nvSpPr>
        <p:spPr>
          <a:xfrm>
            <a:off x="8710994" y="3164730"/>
            <a:ext cx="3506883" cy="400110"/>
          </a:xfrm>
          <a:prstGeom prst="rect">
            <a:avLst/>
          </a:prstGeom>
          <a:noFill/>
        </p:spPr>
        <p:txBody>
          <a:bodyPr wrap="square">
            <a:spAutoFit/>
          </a:bodyPr>
          <a:ls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1000" b="1" dirty="0" err="1"/>
              <a:t>Flexibility</a:t>
            </a:r>
            <a:r>
              <a:rPr lang="nb-NO" sz="1000" b="1" dirty="0"/>
              <a:t>: </a:t>
            </a:r>
            <a:r>
              <a:rPr lang="en-US" sz="1000" dirty="0"/>
              <a:t>Customer-controlled manufacturing agility that adjusts specifications, schedules and cost in real-time.</a:t>
            </a:r>
            <a:r>
              <a:rPr lang="nb-NO" sz="1000" b="1" dirty="0"/>
              <a:t> </a:t>
            </a:r>
            <a:endParaRPr lang="nb-NO" sz="1000" dirty="0"/>
          </a:p>
        </p:txBody>
      </p:sp>
      <p:pic>
        <p:nvPicPr>
          <p:cNvPr id="15" name="Grafikk 34" descr="Innstillinger kontur">
            <a:extLst>
              <a:ext uri="{FF2B5EF4-FFF2-40B4-BE49-F238E27FC236}">
                <a16:creationId xmlns:a16="http://schemas.microsoft.com/office/drawing/2014/main" id="{18EDE362-51BD-58C9-434E-EA50D580F10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47174" y="3136414"/>
            <a:ext cx="452386" cy="452386"/>
          </a:xfrm>
          <a:prstGeom prst="rect">
            <a:avLst/>
          </a:prstGeom>
        </p:spPr>
      </p:pic>
      <p:sp>
        <p:nvSpPr>
          <p:cNvPr id="16" name="TekstSylinder 9">
            <a:extLst>
              <a:ext uri="{FF2B5EF4-FFF2-40B4-BE49-F238E27FC236}">
                <a16:creationId xmlns:a16="http://schemas.microsoft.com/office/drawing/2014/main" id="{CE904ED9-9F3D-0E0F-A5B1-2F1F77BF5C07}"/>
              </a:ext>
            </a:extLst>
          </p:cNvPr>
          <p:cNvSpPr txBox="1"/>
          <p:nvPr/>
        </p:nvSpPr>
        <p:spPr>
          <a:xfrm>
            <a:off x="1323964" y="3768206"/>
            <a:ext cx="5050177" cy="400110"/>
          </a:xfrm>
          <a:prstGeom prst="rect">
            <a:avLst/>
          </a:prstGeom>
          <a:noFill/>
        </p:spPr>
        <p:txBody>
          <a:bodyPr wrap="square" lIns="91440" tIns="45720" rIns="91440" bIns="45720" anchor="t">
            <a:spAutoFit/>
          </a:bodyPr>
          <a:ls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1000" b="1" dirty="0" err="1"/>
              <a:t>Cost</a:t>
            </a:r>
            <a:r>
              <a:rPr lang="nb-NO" sz="1000" b="1" dirty="0"/>
              <a:t> </a:t>
            </a:r>
            <a:r>
              <a:rPr lang="nb-NO" sz="1000" b="1" dirty="0" err="1"/>
              <a:t>Efficiency</a:t>
            </a:r>
            <a:r>
              <a:rPr lang="nb-NO" sz="1000" b="1" dirty="0"/>
              <a:t>: </a:t>
            </a:r>
            <a:r>
              <a:rPr lang="en-US" sz="1000" dirty="0"/>
              <a:t>Deliver exceptional cost performance through </a:t>
            </a:r>
          </a:p>
          <a:p>
            <a:r>
              <a:rPr lang="en-US" sz="1000" dirty="0"/>
              <a:t>autonomous precision with superior quality.</a:t>
            </a:r>
            <a:endParaRPr lang="nb-NO" sz="1000" dirty="0"/>
          </a:p>
        </p:txBody>
      </p:sp>
      <p:pic>
        <p:nvPicPr>
          <p:cNvPr id="17" name="Grafikk 23" descr="Euro kontur">
            <a:extLst>
              <a:ext uri="{FF2B5EF4-FFF2-40B4-BE49-F238E27FC236}">
                <a16:creationId xmlns:a16="http://schemas.microsoft.com/office/drawing/2014/main" id="{56E39E31-7DAF-683E-2850-94A7F51CEE5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07294" y="3752585"/>
            <a:ext cx="435528" cy="435528"/>
          </a:xfrm>
          <a:prstGeom prst="rect">
            <a:avLst/>
          </a:prstGeom>
        </p:spPr>
      </p:pic>
      <p:sp>
        <p:nvSpPr>
          <p:cNvPr id="18" name="TekstSylinder 11">
            <a:extLst>
              <a:ext uri="{FF2B5EF4-FFF2-40B4-BE49-F238E27FC236}">
                <a16:creationId xmlns:a16="http://schemas.microsoft.com/office/drawing/2014/main" id="{B66E5122-9547-A879-91E4-BFD965EFB911}"/>
              </a:ext>
            </a:extLst>
          </p:cNvPr>
          <p:cNvSpPr txBox="1"/>
          <p:nvPr/>
        </p:nvSpPr>
        <p:spPr>
          <a:xfrm>
            <a:off x="6690811" y="3754306"/>
            <a:ext cx="4917789" cy="553998"/>
          </a:xfrm>
          <a:prstGeom prst="rect">
            <a:avLst/>
          </a:prstGeom>
          <a:noFill/>
        </p:spPr>
        <p:txBody>
          <a:bodyPr wrap="square" lIns="91440" tIns="45720" rIns="91440" bIns="45720" anchor="t">
            <a:spAutoFit/>
          </a:bodyPr>
          <a:ls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1000" b="1" dirty="0" err="1"/>
              <a:t>Quality</a:t>
            </a:r>
            <a:r>
              <a:rPr lang="nb-NO" sz="1000" b="1" dirty="0"/>
              <a:t> </a:t>
            </a:r>
            <a:r>
              <a:rPr lang="nb-NO" sz="1000" b="1" dirty="0" err="1"/>
              <a:t>Assurance</a:t>
            </a:r>
            <a:r>
              <a:rPr lang="nb-NO" sz="1000" b="1" dirty="0"/>
              <a:t>/Control: </a:t>
            </a:r>
            <a:r>
              <a:rPr lang="en-US" sz="1000" dirty="0"/>
              <a:t>Meet highest international standards for offshore, aerospace and defense industries through automated precision that eliminates human error.</a:t>
            </a:r>
            <a:endParaRPr lang="nb-NO" sz="1000" dirty="0"/>
          </a:p>
        </p:txBody>
      </p:sp>
      <p:pic>
        <p:nvPicPr>
          <p:cNvPr id="19" name="Grafikk 27" descr="Utklippstavle emblem kontur">
            <a:extLst>
              <a:ext uri="{FF2B5EF4-FFF2-40B4-BE49-F238E27FC236}">
                <a16:creationId xmlns:a16="http://schemas.microsoft.com/office/drawing/2014/main" id="{B6998828-3253-B5B2-19B1-8A860B4832D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243943" y="3741245"/>
            <a:ext cx="446868" cy="446868"/>
          </a:xfrm>
          <a:prstGeom prst="rect">
            <a:avLst/>
          </a:prstGeom>
        </p:spPr>
      </p:pic>
      <p:sp>
        <p:nvSpPr>
          <p:cNvPr id="2" name="TekstSylinder 1">
            <a:extLst>
              <a:ext uri="{FF2B5EF4-FFF2-40B4-BE49-F238E27FC236}">
                <a16:creationId xmlns:a16="http://schemas.microsoft.com/office/drawing/2014/main" id="{B4350CC3-D641-EDBE-1D4F-15591A34D8B6}"/>
              </a:ext>
            </a:extLst>
          </p:cNvPr>
          <p:cNvSpPr txBox="1"/>
          <p:nvPr/>
        </p:nvSpPr>
        <p:spPr>
          <a:xfrm>
            <a:off x="63424" y="186729"/>
            <a:ext cx="5226111" cy="523220"/>
          </a:xfrm>
          <a:prstGeom prst="rect">
            <a:avLst/>
          </a:prstGeom>
          <a:noFill/>
        </p:spPr>
        <p:txBody>
          <a:bodyPr wrap="none" rtlCol="0">
            <a:spAutoFit/>
          </a:bodyPr>
          <a:lstStyle/>
          <a:p>
            <a:r>
              <a:rPr lang="nb-NO" sz="2800" dirty="0">
                <a:solidFill>
                  <a:schemeClr val="bg1"/>
                </a:solidFill>
                <a:latin typeface="Montserrat Bold" panose="00000800000000000000" pitchFamily="2" charset="0"/>
              </a:rPr>
              <a:t>Regional </a:t>
            </a:r>
            <a:r>
              <a:rPr lang="nb-NO" sz="2800" dirty="0" err="1">
                <a:solidFill>
                  <a:schemeClr val="bg1"/>
                </a:solidFill>
                <a:latin typeface="Montserrat Bold" panose="00000800000000000000" pitchFamily="2" charset="0"/>
              </a:rPr>
              <a:t>Innovation</a:t>
            </a:r>
            <a:r>
              <a:rPr lang="nb-NO" sz="2800" dirty="0">
                <a:solidFill>
                  <a:schemeClr val="bg1"/>
                </a:solidFill>
                <a:latin typeface="Montserrat Bold" panose="00000800000000000000" pitchFamily="2" charset="0"/>
              </a:rPr>
              <a:t> Valley</a:t>
            </a:r>
          </a:p>
        </p:txBody>
      </p:sp>
    </p:spTree>
    <p:extLst>
      <p:ext uri="{BB962C8B-B14F-4D97-AF65-F5344CB8AC3E}">
        <p14:creationId xmlns:p14="http://schemas.microsoft.com/office/powerpoint/2010/main" val="466669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3E02"/>
        </a:solidFill>
        <a:effectLst/>
      </p:bgPr>
    </p:bg>
    <p:spTree>
      <p:nvGrpSpPr>
        <p:cNvPr id="1" name="">
          <a:extLst>
            <a:ext uri="{FF2B5EF4-FFF2-40B4-BE49-F238E27FC236}">
              <a16:creationId xmlns:a16="http://schemas.microsoft.com/office/drawing/2014/main" id="{51760D78-00A4-02A7-D2BD-699012986992}"/>
            </a:ext>
          </a:extLst>
        </p:cNvPr>
        <p:cNvGrpSpPr/>
        <p:nvPr/>
      </p:nvGrpSpPr>
      <p:grpSpPr>
        <a:xfrm>
          <a:off x="0" y="0"/>
          <a:ext cx="0" cy="0"/>
          <a:chOff x="0" y="0"/>
          <a:chExt cx="0" cy="0"/>
        </a:xfrm>
      </p:grpSpPr>
      <p:pic>
        <p:nvPicPr>
          <p:cNvPr id="8" name="Bilde 7" descr="Et bilde som inneholder statue, kunst, person, skulptur&#10;&#10;KI-generert innhold kan være feil.">
            <a:extLst>
              <a:ext uri="{FF2B5EF4-FFF2-40B4-BE49-F238E27FC236}">
                <a16:creationId xmlns:a16="http://schemas.microsoft.com/office/drawing/2014/main" id="{9EA91F5F-81B3-69B2-0B27-5A15B09743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4720" y="2474"/>
            <a:ext cx="2317280" cy="1540571"/>
          </a:xfrm>
          <a:prstGeom prst="rect">
            <a:avLst/>
          </a:prstGeom>
        </p:spPr>
      </p:pic>
      <p:sp>
        <p:nvSpPr>
          <p:cNvPr id="4" name="Rektangel 3">
            <a:extLst>
              <a:ext uri="{FF2B5EF4-FFF2-40B4-BE49-F238E27FC236}">
                <a16:creationId xmlns:a16="http://schemas.microsoft.com/office/drawing/2014/main" id="{6E9FB730-3BB8-2802-4CF6-726BB87EAB06}"/>
              </a:ext>
            </a:extLst>
          </p:cNvPr>
          <p:cNvSpPr/>
          <p:nvPr/>
        </p:nvSpPr>
        <p:spPr>
          <a:xfrm>
            <a:off x="0" y="1102068"/>
            <a:ext cx="3304467" cy="57752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 name="TekstSylinder 2">
            <a:extLst>
              <a:ext uri="{FF2B5EF4-FFF2-40B4-BE49-F238E27FC236}">
                <a16:creationId xmlns:a16="http://schemas.microsoft.com/office/drawing/2014/main" id="{05B0FB98-934F-ADE5-80E2-BF59035C6F4B}"/>
              </a:ext>
            </a:extLst>
          </p:cNvPr>
          <p:cNvSpPr txBox="1"/>
          <p:nvPr/>
        </p:nvSpPr>
        <p:spPr>
          <a:xfrm>
            <a:off x="73770" y="1189352"/>
            <a:ext cx="3234091" cy="5539978"/>
          </a:xfrm>
          <a:prstGeom prst="rect">
            <a:avLst/>
          </a:prstGeom>
          <a:solidFill>
            <a:schemeClr val="bg1"/>
          </a:solidFill>
        </p:spPr>
        <p:txBody>
          <a:bodyPr wrap="square" lIns="91440" tIns="45720" rIns="91440" bIns="45720" anchor="t">
            <a:spAutoFit/>
          </a:bodyPr>
          <a:lstStyle/>
          <a:p>
            <a:r>
              <a:rPr lang="en-US" b="1" dirty="0">
                <a:solidFill>
                  <a:srgbClr val="FF3E02"/>
                </a:solidFill>
                <a:latin typeface="Montserrat Bold"/>
              </a:rPr>
              <a:t>Industrial Symbiosis</a:t>
            </a:r>
          </a:p>
          <a:p>
            <a:endParaRPr lang="en-US" sz="1200" b="1" dirty="0">
              <a:solidFill>
                <a:srgbClr val="FF3E02"/>
              </a:solidFill>
            </a:endParaRPr>
          </a:p>
          <a:p>
            <a:r>
              <a:rPr lang="en-US" sz="1200" b="1" dirty="0">
                <a:solidFill>
                  <a:srgbClr val="FF3E02"/>
                </a:solidFill>
              </a:rPr>
              <a:t>Positioning the </a:t>
            </a:r>
            <a:r>
              <a:rPr lang="en-US" sz="1200" b="1" dirty="0" err="1">
                <a:solidFill>
                  <a:srgbClr val="FF3E02"/>
                </a:solidFill>
              </a:rPr>
              <a:t>Østfold</a:t>
            </a:r>
            <a:r>
              <a:rPr lang="en-US" sz="1200" b="1" dirty="0">
                <a:solidFill>
                  <a:srgbClr val="FF3E02"/>
                </a:solidFill>
              </a:rPr>
              <a:t> </a:t>
            </a:r>
            <a:r>
              <a:rPr lang="en-US" sz="1200" dirty="0">
                <a:solidFill>
                  <a:srgbClr val="FF3E02"/>
                </a:solidFill>
              </a:rPr>
              <a:t>region as a hub for advanced manufacturing and industrial symbiosis, with a strong emphasis on </a:t>
            </a:r>
            <a:r>
              <a:rPr lang="en-US" sz="1200" b="1" i="1" dirty="0">
                <a:solidFill>
                  <a:srgbClr val="FF3E02"/>
                </a:solidFill>
              </a:rPr>
              <a:t>digital transition and circular economy</a:t>
            </a:r>
            <a:r>
              <a:rPr lang="en-US" sz="1200" dirty="0">
                <a:solidFill>
                  <a:srgbClr val="FF3E02"/>
                </a:solidFill>
              </a:rPr>
              <a:t>, to drive regional growth. By fostering collaboration between machining, welding, and metal 3D printing companies and prioritizing education and skills development, the region can build a solid foundation for sustainable growth, innovation, and long-term competitiveness.</a:t>
            </a:r>
          </a:p>
          <a:p>
            <a:endParaRPr lang="en-US" sz="1200" b="1" dirty="0">
              <a:solidFill>
                <a:srgbClr val="FF3E02"/>
              </a:solidFill>
              <a:latin typeface="Aptos"/>
              <a:ea typeface="Calibri"/>
              <a:cs typeface="Calibri"/>
            </a:endParaRPr>
          </a:p>
          <a:p>
            <a:endParaRPr lang="nb-NO" sz="1200" b="1" dirty="0">
              <a:solidFill>
                <a:srgbClr val="FF3E02"/>
              </a:solidFill>
              <a:latin typeface="Aptos"/>
              <a:ea typeface="Calibri"/>
              <a:cs typeface="Calibri"/>
            </a:endParaRPr>
          </a:p>
          <a:p>
            <a:r>
              <a:rPr lang="nb-NO" sz="1200" b="1" dirty="0" err="1">
                <a:solidFill>
                  <a:srgbClr val="FF3E02"/>
                </a:solidFill>
                <a:ea typeface="+mn-lt"/>
                <a:cs typeface="+mn-lt"/>
              </a:rPr>
              <a:t>Examples</a:t>
            </a:r>
            <a:r>
              <a:rPr lang="nb-NO" sz="1200" b="1" dirty="0">
                <a:solidFill>
                  <a:srgbClr val="FF3E02"/>
                </a:solidFill>
                <a:ea typeface="+mn-lt"/>
                <a:cs typeface="+mn-lt"/>
              </a:rPr>
              <a:t> </a:t>
            </a:r>
            <a:r>
              <a:rPr lang="nb-NO" sz="1200" b="1" dirty="0" err="1">
                <a:solidFill>
                  <a:srgbClr val="FF3E02"/>
                </a:solidFill>
                <a:ea typeface="+mn-lt"/>
                <a:cs typeface="+mn-lt"/>
              </a:rPr>
              <a:t>of</a:t>
            </a:r>
            <a:r>
              <a:rPr lang="nb-NO" sz="1200" b="1" dirty="0">
                <a:solidFill>
                  <a:srgbClr val="FF3E02"/>
                </a:solidFill>
                <a:ea typeface="+mn-lt"/>
                <a:cs typeface="+mn-lt"/>
              </a:rPr>
              <a:t> Symbioses</a:t>
            </a:r>
            <a:endParaRPr lang="nb-NO" dirty="0">
              <a:ea typeface="+mn-lt"/>
              <a:cs typeface="+mn-lt"/>
            </a:endParaRPr>
          </a:p>
          <a:p>
            <a:pPr marL="285750" indent="-285750">
              <a:buFont typeface="Arial"/>
              <a:buChar char="•"/>
            </a:pPr>
            <a:r>
              <a:rPr lang="nb-NO" sz="1200" dirty="0" err="1">
                <a:solidFill>
                  <a:srgbClr val="FF3E02"/>
                </a:solidFill>
                <a:ea typeface="+mn-lt"/>
                <a:cs typeface="+mn-lt"/>
              </a:rPr>
              <a:t>Competence</a:t>
            </a:r>
            <a:r>
              <a:rPr lang="nb-NO" sz="1200" dirty="0">
                <a:solidFill>
                  <a:srgbClr val="FF3E02"/>
                </a:solidFill>
                <a:ea typeface="+mn-lt"/>
                <a:cs typeface="+mn-lt"/>
              </a:rPr>
              <a:t> </a:t>
            </a:r>
            <a:r>
              <a:rPr lang="nb-NO" sz="1200" dirty="0" err="1">
                <a:solidFill>
                  <a:srgbClr val="FF3E02"/>
                </a:solidFill>
                <a:ea typeface="+mn-lt"/>
                <a:cs typeface="+mn-lt"/>
              </a:rPr>
              <a:t>Symbiosis</a:t>
            </a:r>
            <a:r>
              <a:rPr lang="nb-NO" sz="1200" dirty="0">
                <a:solidFill>
                  <a:srgbClr val="FF3E02"/>
                </a:solidFill>
                <a:ea typeface="+mn-lt"/>
                <a:cs typeface="+mn-lt"/>
              </a:rPr>
              <a:t> for Advanced </a:t>
            </a:r>
            <a:r>
              <a:rPr lang="nb-NO" sz="1200" dirty="0" err="1">
                <a:solidFill>
                  <a:srgbClr val="FF3E02"/>
                </a:solidFill>
                <a:ea typeface="+mn-lt"/>
                <a:cs typeface="+mn-lt"/>
              </a:rPr>
              <a:t>Manufacturing</a:t>
            </a:r>
            <a:endParaRPr lang="nb-NO" dirty="0" err="1"/>
          </a:p>
          <a:p>
            <a:pPr marL="285750" indent="-285750">
              <a:buFont typeface="Arial"/>
              <a:buChar char="•"/>
            </a:pPr>
            <a:r>
              <a:rPr lang="nb-NO" sz="1200" dirty="0">
                <a:solidFill>
                  <a:srgbClr val="FF3E02"/>
                </a:solidFill>
                <a:ea typeface="+mn-lt"/>
                <a:cs typeface="+mn-lt"/>
              </a:rPr>
              <a:t>Digital </a:t>
            </a:r>
            <a:r>
              <a:rPr lang="nb-NO" sz="1200" dirty="0" err="1">
                <a:solidFill>
                  <a:srgbClr val="FF3E02"/>
                </a:solidFill>
                <a:ea typeface="+mn-lt"/>
                <a:cs typeface="+mn-lt"/>
              </a:rPr>
              <a:t>Twin</a:t>
            </a:r>
            <a:r>
              <a:rPr lang="nb-NO" sz="1200" dirty="0">
                <a:solidFill>
                  <a:srgbClr val="FF3E02"/>
                </a:solidFill>
                <a:ea typeface="+mn-lt"/>
                <a:cs typeface="+mn-lt"/>
              </a:rPr>
              <a:t> Network for Production </a:t>
            </a:r>
            <a:r>
              <a:rPr lang="nb-NO" sz="1200" dirty="0" err="1">
                <a:solidFill>
                  <a:srgbClr val="FF3E02"/>
                </a:solidFill>
                <a:ea typeface="+mn-lt"/>
                <a:cs typeface="+mn-lt"/>
              </a:rPr>
              <a:t>Optimization</a:t>
            </a:r>
            <a:endParaRPr lang="nb-NO" dirty="0" err="1"/>
          </a:p>
          <a:p>
            <a:pPr marL="285750" indent="-285750">
              <a:buFont typeface="Arial"/>
              <a:buChar char="•"/>
            </a:pPr>
            <a:r>
              <a:rPr lang="nb-NO" sz="1200" dirty="0">
                <a:solidFill>
                  <a:srgbClr val="FF3E02"/>
                </a:solidFill>
                <a:ea typeface="+mn-lt"/>
                <a:cs typeface="+mn-lt"/>
              </a:rPr>
              <a:t>Production Network </a:t>
            </a:r>
            <a:r>
              <a:rPr lang="nb-NO" sz="1200" dirty="0" err="1">
                <a:solidFill>
                  <a:srgbClr val="FF3E02"/>
                </a:solidFill>
                <a:ea typeface="+mn-lt"/>
                <a:cs typeface="+mn-lt"/>
              </a:rPr>
              <a:t>with</a:t>
            </a:r>
            <a:r>
              <a:rPr lang="nb-NO" sz="1200" dirty="0">
                <a:solidFill>
                  <a:srgbClr val="FF3E02"/>
                </a:solidFill>
                <a:ea typeface="+mn-lt"/>
                <a:cs typeface="+mn-lt"/>
              </a:rPr>
              <a:t> AI </a:t>
            </a:r>
            <a:r>
              <a:rPr lang="nb-NO" sz="1200" dirty="0" err="1">
                <a:solidFill>
                  <a:srgbClr val="FF3E02"/>
                </a:solidFill>
                <a:ea typeface="+mn-lt"/>
                <a:cs typeface="+mn-lt"/>
              </a:rPr>
              <a:t>Coordination</a:t>
            </a:r>
            <a:r>
              <a:rPr lang="nb-NO" sz="1200" dirty="0">
                <a:solidFill>
                  <a:srgbClr val="FF3E02"/>
                </a:solidFill>
                <a:ea typeface="+mn-lt"/>
                <a:cs typeface="+mn-lt"/>
              </a:rPr>
              <a:t> and </a:t>
            </a:r>
            <a:r>
              <a:rPr lang="nb-NO" sz="1200" dirty="0" err="1">
                <a:solidFill>
                  <a:srgbClr val="FF3E02"/>
                </a:solidFill>
                <a:ea typeface="+mn-lt"/>
                <a:cs typeface="+mn-lt"/>
              </a:rPr>
              <a:t>Capacity-Based</a:t>
            </a:r>
            <a:r>
              <a:rPr lang="nb-NO" sz="1200" dirty="0">
                <a:solidFill>
                  <a:srgbClr val="FF3E02"/>
                </a:solidFill>
                <a:ea typeface="+mn-lt"/>
                <a:cs typeface="+mn-lt"/>
              </a:rPr>
              <a:t> </a:t>
            </a:r>
            <a:r>
              <a:rPr lang="nb-NO" sz="1200" dirty="0" err="1">
                <a:solidFill>
                  <a:srgbClr val="FF3E02"/>
                </a:solidFill>
                <a:ea typeface="+mn-lt"/>
                <a:cs typeface="+mn-lt"/>
              </a:rPr>
              <a:t>Task</a:t>
            </a:r>
            <a:r>
              <a:rPr lang="nb-NO" sz="1200" dirty="0">
                <a:solidFill>
                  <a:srgbClr val="FF3E02"/>
                </a:solidFill>
                <a:ea typeface="+mn-lt"/>
                <a:cs typeface="+mn-lt"/>
              </a:rPr>
              <a:t> </a:t>
            </a:r>
            <a:r>
              <a:rPr lang="nb-NO" sz="1200" dirty="0" err="1">
                <a:solidFill>
                  <a:srgbClr val="FF3E02"/>
                </a:solidFill>
                <a:ea typeface="+mn-lt"/>
                <a:cs typeface="+mn-lt"/>
              </a:rPr>
              <a:t>Sharing</a:t>
            </a:r>
            <a:endParaRPr lang="nb-NO" dirty="0" err="1"/>
          </a:p>
          <a:p>
            <a:pPr marL="285750" indent="-285750">
              <a:buFont typeface="Arial"/>
              <a:buChar char="•"/>
            </a:pPr>
            <a:r>
              <a:rPr lang="nb-NO" sz="1200" dirty="0">
                <a:solidFill>
                  <a:srgbClr val="FF3E02"/>
                </a:solidFill>
                <a:ea typeface="+mn-lt"/>
                <a:cs typeface="+mn-lt"/>
              </a:rPr>
              <a:t>Data-Driven </a:t>
            </a:r>
            <a:r>
              <a:rPr lang="nb-NO" sz="1200" dirty="0" err="1">
                <a:solidFill>
                  <a:srgbClr val="FF3E02"/>
                </a:solidFill>
                <a:ea typeface="+mn-lt"/>
                <a:cs typeface="+mn-lt"/>
              </a:rPr>
              <a:t>Quality</a:t>
            </a:r>
            <a:r>
              <a:rPr lang="nb-NO" sz="1200" dirty="0">
                <a:solidFill>
                  <a:srgbClr val="FF3E02"/>
                </a:solidFill>
                <a:ea typeface="+mn-lt"/>
                <a:cs typeface="+mn-lt"/>
              </a:rPr>
              <a:t> Network</a:t>
            </a:r>
            <a:endParaRPr lang="nb-NO" dirty="0"/>
          </a:p>
          <a:p>
            <a:pPr marL="285750" indent="-285750">
              <a:buFont typeface="Arial"/>
              <a:buChar char="•"/>
            </a:pPr>
            <a:r>
              <a:rPr lang="nb-NO" sz="1200" dirty="0" err="1">
                <a:solidFill>
                  <a:srgbClr val="FF3E02"/>
                </a:solidFill>
                <a:ea typeface="+mn-lt"/>
                <a:cs typeface="+mn-lt"/>
              </a:rPr>
              <a:t>Enabling</a:t>
            </a:r>
            <a:r>
              <a:rPr lang="nb-NO" sz="1200" dirty="0">
                <a:solidFill>
                  <a:srgbClr val="FF3E02"/>
                </a:solidFill>
                <a:ea typeface="+mn-lt"/>
                <a:cs typeface="+mn-lt"/>
              </a:rPr>
              <a:t> Full “</a:t>
            </a:r>
            <a:r>
              <a:rPr lang="nb-NO" sz="1200" dirty="0" err="1">
                <a:solidFill>
                  <a:srgbClr val="FF3E02"/>
                </a:solidFill>
                <a:ea typeface="+mn-lt"/>
                <a:cs typeface="+mn-lt"/>
              </a:rPr>
              <a:t>Lights-Off</a:t>
            </a:r>
            <a:r>
              <a:rPr lang="nb-NO" sz="1200" dirty="0">
                <a:solidFill>
                  <a:srgbClr val="FF3E02"/>
                </a:solidFill>
                <a:ea typeface="+mn-lt"/>
                <a:cs typeface="+mn-lt"/>
              </a:rPr>
              <a:t>” </a:t>
            </a:r>
            <a:r>
              <a:rPr lang="nb-NO" sz="1200" dirty="0" err="1">
                <a:solidFill>
                  <a:srgbClr val="FF3E02"/>
                </a:solidFill>
                <a:ea typeface="+mn-lt"/>
                <a:cs typeface="+mn-lt"/>
              </a:rPr>
              <a:t>Manufacturing</a:t>
            </a:r>
            <a:r>
              <a:rPr lang="nb-NO" sz="1200" dirty="0">
                <a:solidFill>
                  <a:srgbClr val="FF3E02"/>
                </a:solidFill>
                <a:ea typeface="+mn-lt"/>
                <a:cs typeface="+mn-lt"/>
              </a:rPr>
              <a:t> </a:t>
            </a:r>
            <a:r>
              <a:rPr lang="nb-NO" sz="1200" dirty="0" err="1">
                <a:solidFill>
                  <a:srgbClr val="FF3E02"/>
                </a:solidFill>
                <a:ea typeface="+mn-lt"/>
                <a:cs typeface="+mn-lt"/>
              </a:rPr>
              <a:t>through</a:t>
            </a:r>
            <a:r>
              <a:rPr lang="nb-NO" sz="1200" dirty="0">
                <a:solidFill>
                  <a:srgbClr val="FF3E02"/>
                </a:solidFill>
                <a:ea typeface="+mn-lt"/>
                <a:cs typeface="+mn-lt"/>
              </a:rPr>
              <a:t> Intelligent </a:t>
            </a:r>
            <a:r>
              <a:rPr lang="nb-NO" sz="1200" dirty="0" err="1">
                <a:solidFill>
                  <a:srgbClr val="FF3E02"/>
                </a:solidFill>
                <a:ea typeface="+mn-lt"/>
                <a:cs typeface="+mn-lt"/>
              </a:rPr>
              <a:t>Physical</a:t>
            </a:r>
            <a:r>
              <a:rPr lang="nb-NO" sz="1200" dirty="0">
                <a:solidFill>
                  <a:srgbClr val="FF3E02"/>
                </a:solidFill>
                <a:ea typeface="+mn-lt"/>
                <a:cs typeface="+mn-lt"/>
              </a:rPr>
              <a:t> Humanoid Robots</a:t>
            </a:r>
            <a:endParaRPr lang="nb-NO" dirty="0"/>
          </a:p>
          <a:p>
            <a:pPr marL="285750" indent="-285750">
              <a:buFont typeface="Arial"/>
              <a:buChar char="•"/>
            </a:pPr>
            <a:r>
              <a:rPr lang="nb-NO" sz="1200" dirty="0">
                <a:solidFill>
                  <a:srgbClr val="FF3E02"/>
                </a:solidFill>
                <a:ea typeface="+mn-lt"/>
                <a:cs typeface="+mn-lt"/>
              </a:rPr>
              <a:t>100% </a:t>
            </a:r>
            <a:r>
              <a:rPr lang="nb-NO" sz="1200" dirty="0" err="1">
                <a:solidFill>
                  <a:srgbClr val="FF3E02"/>
                </a:solidFill>
                <a:ea typeface="+mn-lt"/>
                <a:cs typeface="+mn-lt"/>
              </a:rPr>
              <a:t>Traceability</a:t>
            </a:r>
            <a:r>
              <a:rPr lang="nb-NO" sz="1200" dirty="0">
                <a:solidFill>
                  <a:srgbClr val="FF3E02"/>
                </a:solidFill>
                <a:ea typeface="+mn-lt"/>
                <a:cs typeface="+mn-lt"/>
              </a:rPr>
              <a:t> </a:t>
            </a:r>
            <a:r>
              <a:rPr lang="nb-NO" sz="1200" dirty="0" err="1">
                <a:solidFill>
                  <a:srgbClr val="FF3E02"/>
                </a:solidFill>
                <a:ea typeface="+mn-lt"/>
                <a:cs typeface="+mn-lt"/>
              </a:rPr>
              <a:t>of</a:t>
            </a:r>
            <a:r>
              <a:rPr lang="nb-NO" sz="1200" dirty="0">
                <a:solidFill>
                  <a:srgbClr val="FF3E02"/>
                </a:solidFill>
                <a:ea typeface="+mn-lt"/>
                <a:cs typeface="+mn-lt"/>
              </a:rPr>
              <a:t> Residual Materials </a:t>
            </a:r>
            <a:r>
              <a:rPr lang="nb-NO" sz="1200" dirty="0" err="1">
                <a:solidFill>
                  <a:srgbClr val="FF3E02"/>
                </a:solidFill>
                <a:ea typeface="+mn-lt"/>
                <a:cs typeface="+mn-lt"/>
              </a:rPr>
              <a:t>through</a:t>
            </a:r>
            <a:r>
              <a:rPr lang="nb-NO" sz="1200" dirty="0">
                <a:solidFill>
                  <a:srgbClr val="FF3E02"/>
                </a:solidFill>
                <a:ea typeface="+mn-lt"/>
                <a:cs typeface="+mn-lt"/>
              </a:rPr>
              <a:t> Digital Material Passports and a National Materials Exchange</a:t>
            </a:r>
            <a:endParaRPr lang="nb-NO" dirty="0"/>
          </a:p>
          <a:p>
            <a:endParaRPr lang="nb-NO" sz="1200" b="1" dirty="0">
              <a:solidFill>
                <a:srgbClr val="FF3E02"/>
              </a:solidFill>
              <a:ea typeface="Calibri"/>
              <a:cs typeface="Calibri"/>
            </a:endParaRPr>
          </a:p>
        </p:txBody>
      </p:sp>
      <p:sp>
        <p:nvSpPr>
          <p:cNvPr id="7" name="TekstSylinder 85">
            <a:extLst>
              <a:ext uri="{FF2B5EF4-FFF2-40B4-BE49-F238E27FC236}">
                <a16:creationId xmlns:a16="http://schemas.microsoft.com/office/drawing/2014/main" id="{551C60C5-D950-0DCE-1BA4-E0E5294437ED}"/>
              </a:ext>
            </a:extLst>
          </p:cNvPr>
          <p:cNvSpPr txBox="1"/>
          <p:nvPr/>
        </p:nvSpPr>
        <p:spPr>
          <a:xfrm>
            <a:off x="3752387" y="1850845"/>
            <a:ext cx="2279176" cy="307777"/>
          </a:xfrm>
          <a:prstGeom prst="rect">
            <a:avLst/>
          </a:prstGeom>
          <a:noFill/>
        </p:spPr>
        <p:txBody>
          <a:bodyPr wrap="square" lIns="91440" tIns="45720" rIns="91440" bIns="45720" anchor="t">
            <a:spAutoFit/>
          </a:bodyPr>
          <a:lstStyle/>
          <a:p>
            <a:r>
              <a:rPr lang="en-US" sz="1400" dirty="0">
                <a:solidFill>
                  <a:schemeClr val="bg1"/>
                </a:solidFill>
                <a:latin typeface="Montserrat Bold"/>
              </a:rPr>
              <a:t>NECIA Tech Cluster </a:t>
            </a:r>
          </a:p>
        </p:txBody>
      </p:sp>
      <p:sp>
        <p:nvSpPr>
          <p:cNvPr id="9" name="TekstSylinder 85">
            <a:extLst>
              <a:ext uri="{FF2B5EF4-FFF2-40B4-BE49-F238E27FC236}">
                <a16:creationId xmlns:a16="http://schemas.microsoft.com/office/drawing/2014/main" id="{6DC04488-D1D2-F284-7DDC-F75990C18960}"/>
              </a:ext>
            </a:extLst>
          </p:cNvPr>
          <p:cNvSpPr txBox="1"/>
          <p:nvPr/>
        </p:nvSpPr>
        <p:spPr>
          <a:xfrm>
            <a:off x="8676438" y="2076581"/>
            <a:ext cx="3156926" cy="4339650"/>
          </a:xfrm>
          <a:prstGeom prst="rect">
            <a:avLst/>
          </a:prstGeom>
          <a:noFill/>
        </p:spPr>
        <p:txBody>
          <a:bodyPr wrap="square" lIns="91440" tIns="45720" rIns="91440" bIns="45720" anchor="t">
            <a:spAutoFit/>
          </a:bodyPr>
          <a:lstStyle/>
          <a:p>
            <a:r>
              <a:rPr lang="en-US" sz="1200" b="1" dirty="0">
                <a:solidFill>
                  <a:schemeClr val="bg1"/>
                </a:solidFill>
                <a:ea typeface="+mn-lt"/>
                <a:cs typeface="+mn-lt"/>
              </a:rPr>
              <a:t>Environments and companies that will benefit from this project</a:t>
            </a:r>
          </a:p>
          <a:p>
            <a:endParaRPr lang="en-US" sz="1200" dirty="0">
              <a:solidFill>
                <a:schemeClr val="bg1"/>
              </a:solidFill>
            </a:endParaRPr>
          </a:p>
          <a:p>
            <a:pPr marL="285750" indent="-285750">
              <a:buFont typeface="Arial"/>
              <a:buChar char="•"/>
            </a:pPr>
            <a:r>
              <a:rPr lang="en-US" sz="1200" dirty="0">
                <a:solidFill>
                  <a:schemeClr val="bg1"/>
                </a:solidFill>
                <a:ea typeface="+mn-lt"/>
                <a:cs typeface="+mn-lt"/>
              </a:rPr>
              <a:t>Regional industry clusters.</a:t>
            </a:r>
          </a:p>
          <a:p>
            <a:pPr marL="285750" indent="-285750">
              <a:buFont typeface="Arial"/>
              <a:buChar char="•"/>
            </a:pPr>
            <a:r>
              <a:rPr lang="en-US" sz="1200" dirty="0">
                <a:solidFill>
                  <a:schemeClr val="bg1"/>
                </a:solidFill>
                <a:ea typeface="+mn-lt"/>
                <a:cs typeface="+mn-lt"/>
              </a:rPr>
              <a:t>Technology providers with expertise in sensor technology and data analysis</a:t>
            </a:r>
            <a:endParaRPr lang="en-US" sz="1200" dirty="0">
              <a:solidFill>
                <a:schemeClr val="bg1"/>
              </a:solidFill>
            </a:endParaRPr>
          </a:p>
          <a:p>
            <a:pPr marL="285750" indent="-285750">
              <a:buFont typeface="Arial"/>
              <a:buChar char="•"/>
            </a:pPr>
            <a:r>
              <a:rPr lang="en-US" sz="1200" dirty="0">
                <a:solidFill>
                  <a:schemeClr val="bg1"/>
                </a:solidFill>
                <a:ea typeface="+mn-lt"/>
                <a:cs typeface="+mn-lt"/>
              </a:rPr>
              <a:t>All mechanical companies in </a:t>
            </a:r>
            <a:r>
              <a:rPr lang="en-US" sz="1200" dirty="0" err="1">
                <a:solidFill>
                  <a:schemeClr val="bg1"/>
                </a:solidFill>
                <a:ea typeface="+mn-lt"/>
                <a:cs typeface="+mn-lt"/>
              </a:rPr>
              <a:t>Østfold</a:t>
            </a:r>
          </a:p>
          <a:p>
            <a:pPr marL="285750" indent="-285750">
              <a:buFont typeface="Arial"/>
              <a:buChar char="•"/>
            </a:pPr>
            <a:r>
              <a:rPr lang="en-US" sz="1200" dirty="0" err="1">
                <a:solidFill>
                  <a:schemeClr val="bg1"/>
                </a:solidFill>
                <a:ea typeface="+mn-lt"/>
                <a:cs typeface="+mn-lt"/>
              </a:rPr>
              <a:t>Høgskolen</a:t>
            </a:r>
            <a:r>
              <a:rPr lang="en-US" sz="1200" dirty="0">
                <a:solidFill>
                  <a:schemeClr val="bg1"/>
                </a:solidFill>
                <a:ea typeface="+mn-lt"/>
                <a:cs typeface="+mn-lt"/>
              </a:rPr>
              <a:t> </a:t>
            </a:r>
            <a:r>
              <a:rPr lang="en-US" sz="1200" dirty="0" err="1">
                <a:solidFill>
                  <a:schemeClr val="bg1"/>
                </a:solidFill>
                <a:ea typeface="+mn-lt"/>
                <a:cs typeface="+mn-lt"/>
              </a:rPr>
              <a:t>i</a:t>
            </a:r>
            <a:r>
              <a:rPr lang="en-US" sz="1200" dirty="0">
                <a:solidFill>
                  <a:schemeClr val="bg1"/>
                </a:solidFill>
                <a:ea typeface="+mn-lt"/>
                <a:cs typeface="+mn-lt"/>
              </a:rPr>
              <a:t> </a:t>
            </a:r>
            <a:r>
              <a:rPr lang="en-US" sz="1200" dirty="0" err="1">
                <a:solidFill>
                  <a:schemeClr val="bg1"/>
                </a:solidFill>
                <a:ea typeface="+mn-lt"/>
                <a:cs typeface="+mn-lt"/>
              </a:rPr>
              <a:t>Østfold</a:t>
            </a:r>
          </a:p>
          <a:p>
            <a:pPr marL="285750" indent="-285750">
              <a:buFont typeface="Arial"/>
              <a:buChar char="•"/>
            </a:pPr>
            <a:r>
              <a:rPr lang="en-US" sz="1200" dirty="0" err="1">
                <a:solidFill>
                  <a:schemeClr val="bg1"/>
                </a:solidFill>
                <a:ea typeface="+mn-lt"/>
                <a:cs typeface="+mn-lt"/>
              </a:rPr>
              <a:t>Fagskolen</a:t>
            </a:r>
            <a:r>
              <a:rPr lang="en-US" sz="1200" dirty="0">
                <a:solidFill>
                  <a:schemeClr val="bg1"/>
                </a:solidFill>
                <a:ea typeface="+mn-lt"/>
                <a:cs typeface="+mn-lt"/>
              </a:rPr>
              <a:t> Viken</a:t>
            </a:r>
          </a:p>
          <a:p>
            <a:pPr marL="285750" indent="-285750">
              <a:buFont typeface="Arial"/>
              <a:buChar char="•"/>
            </a:pPr>
            <a:r>
              <a:rPr lang="en-US" sz="1200" dirty="0" err="1">
                <a:solidFill>
                  <a:schemeClr val="bg1"/>
                </a:solidFill>
                <a:ea typeface="+mn-lt"/>
                <a:cs typeface="+mn-lt"/>
              </a:rPr>
              <a:t>Industrifagskolen</a:t>
            </a:r>
          </a:p>
          <a:p>
            <a:pPr marL="285750" indent="-285750">
              <a:buFont typeface="Arial"/>
              <a:buChar char="•"/>
            </a:pPr>
            <a:r>
              <a:rPr lang="en-US" sz="1200" dirty="0">
                <a:solidFill>
                  <a:schemeClr val="bg1"/>
                </a:solidFill>
                <a:ea typeface="+mn-lt"/>
                <a:cs typeface="+mn-lt"/>
              </a:rPr>
              <a:t>Upper secondary schools offering technology and industrial subjects</a:t>
            </a:r>
            <a:endParaRPr lang="en-US" sz="1200" dirty="0">
              <a:solidFill>
                <a:schemeClr val="bg1"/>
              </a:solidFill>
            </a:endParaRPr>
          </a:p>
          <a:p>
            <a:pPr marL="285750" indent="-285750">
              <a:buFont typeface="Arial"/>
              <a:buChar char="•"/>
            </a:pPr>
            <a:r>
              <a:rPr lang="en-US" sz="1200" dirty="0">
                <a:solidFill>
                  <a:schemeClr val="bg1"/>
                </a:solidFill>
                <a:ea typeface="+mn-lt"/>
                <a:cs typeface="+mn-lt"/>
              </a:rPr>
              <a:t>Municipalities and the county authority</a:t>
            </a:r>
            <a:endParaRPr lang="en-US" sz="1200" dirty="0">
              <a:solidFill>
                <a:schemeClr val="bg1"/>
              </a:solidFill>
            </a:endParaRPr>
          </a:p>
          <a:p>
            <a:pPr marL="285750" indent="-285750">
              <a:buFont typeface="Arial"/>
              <a:buChar char="•"/>
            </a:pPr>
            <a:r>
              <a:rPr lang="en-US" sz="1200" dirty="0">
                <a:solidFill>
                  <a:schemeClr val="bg1"/>
                </a:solidFill>
                <a:ea typeface="+mn-lt"/>
                <a:cs typeface="+mn-lt"/>
              </a:rPr>
              <a:t>Technology providers with AI expertise</a:t>
            </a:r>
            <a:endParaRPr lang="en-US" sz="1200" dirty="0">
              <a:solidFill>
                <a:schemeClr val="bg1"/>
              </a:solidFill>
            </a:endParaRPr>
          </a:p>
          <a:p>
            <a:pPr marL="285750" indent="-285750">
              <a:buFont typeface="Arial"/>
              <a:buChar char="•"/>
            </a:pPr>
            <a:r>
              <a:rPr lang="en-US" sz="1200" dirty="0">
                <a:solidFill>
                  <a:schemeClr val="bg1"/>
                </a:solidFill>
                <a:ea typeface="+mn-lt"/>
                <a:cs typeface="+mn-lt"/>
              </a:rPr>
              <a:t>Universities and strong national and international academic communities connected to the region</a:t>
            </a:r>
            <a:endParaRPr lang="en-US" sz="1200" dirty="0">
              <a:solidFill>
                <a:schemeClr val="bg1"/>
              </a:solidFill>
            </a:endParaRPr>
          </a:p>
          <a:p>
            <a:pPr marL="285750" indent="-285750">
              <a:buFont typeface="Arial"/>
              <a:buChar char="•"/>
            </a:pPr>
            <a:r>
              <a:rPr lang="en-US" sz="1200" dirty="0">
                <a:solidFill>
                  <a:schemeClr val="bg1"/>
                </a:solidFill>
                <a:ea typeface="+mn-lt"/>
                <a:cs typeface="+mn-lt"/>
              </a:rPr>
              <a:t>MNU/ITS </a:t>
            </a:r>
            <a:r>
              <a:rPr lang="en-US" sz="1200" dirty="0" err="1">
                <a:solidFill>
                  <a:schemeClr val="bg1"/>
                </a:solidFill>
                <a:ea typeface="+mn-lt"/>
                <a:cs typeface="+mn-lt"/>
              </a:rPr>
              <a:t>enywere</a:t>
            </a:r>
            <a:endParaRPr lang="en-US" sz="1200" dirty="0">
              <a:solidFill>
                <a:schemeClr val="bg1"/>
              </a:solidFill>
              <a:ea typeface="+mn-lt"/>
              <a:cs typeface="+mn-lt"/>
            </a:endParaRPr>
          </a:p>
          <a:p>
            <a:endParaRPr lang="en-US" sz="1200" dirty="0">
              <a:solidFill>
                <a:schemeClr val="bg1"/>
              </a:solidFill>
              <a:ea typeface="+mn-lt"/>
              <a:cs typeface="+mn-lt"/>
            </a:endParaRPr>
          </a:p>
          <a:p>
            <a:pPr marL="285750" indent="-285750">
              <a:buFont typeface="Arial"/>
              <a:buChar char="•"/>
            </a:pPr>
            <a:endParaRPr lang="en-US" sz="1200" dirty="0">
              <a:solidFill>
                <a:schemeClr val="bg1"/>
              </a:solidFill>
            </a:endParaRPr>
          </a:p>
          <a:p>
            <a:endParaRPr lang="en-US" sz="1200" dirty="0">
              <a:solidFill>
                <a:schemeClr val="bg1"/>
              </a:solidFill>
            </a:endParaRPr>
          </a:p>
          <a:p>
            <a:pPr marL="285750" indent="-285750">
              <a:buFont typeface="Arial"/>
              <a:buChar char="•"/>
            </a:pPr>
            <a:endParaRPr lang="en-US" sz="1200" dirty="0">
              <a:solidFill>
                <a:schemeClr val="bg1"/>
              </a:solidFill>
            </a:endParaRPr>
          </a:p>
          <a:p>
            <a:endParaRPr lang="en-US" sz="1200" b="1" dirty="0">
              <a:solidFill>
                <a:schemeClr val="bg1"/>
              </a:solidFill>
            </a:endParaRPr>
          </a:p>
        </p:txBody>
      </p:sp>
      <p:sp>
        <p:nvSpPr>
          <p:cNvPr id="10" name="TekstSylinder 85">
            <a:extLst>
              <a:ext uri="{FF2B5EF4-FFF2-40B4-BE49-F238E27FC236}">
                <a16:creationId xmlns:a16="http://schemas.microsoft.com/office/drawing/2014/main" id="{C60BDFD4-9853-BF77-E352-62C228860144}"/>
              </a:ext>
            </a:extLst>
          </p:cNvPr>
          <p:cNvSpPr txBox="1"/>
          <p:nvPr/>
        </p:nvSpPr>
        <p:spPr>
          <a:xfrm>
            <a:off x="3752387" y="2184593"/>
            <a:ext cx="3156926" cy="3570208"/>
          </a:xfrm>
          <a:prstGeom prst="rect">
            <a:avLst/>
          </a:prstGeom>
          <a:noFill/>
        </p:spPr>
        <p:txBody>
          <a:bodyPr wrap="square" lIns="91440" tIns="45720" rIns="91440" bIns="45720" anchor="t">
            <a:spAutoFit/>
          </a:bodyPr>
          <a:lstStyle/>
          <a:p>
            <a:pPr>
              <a:buFont typeface="Arial"/>
              <a:buChar char="•"/>
            </a:pPr>
            <a:r>
              <a:rPr lang="en-US" sz="1200" dirty="0">
                <a:solidFill>
                  <a:schemeClr val="bg1"/>
                </a:solidFill>
                <a:ea typeface="+mn-lt"/>
                <a:cs typeface="+mn-lt"/>
                <a:hlinkClick r:id="rId3">
                  <a:extLst>
                    <a:ext uri="{A12FA001-AC4F-418D-AE19-62706E023703}">
                      <ahyp:hlinkClr xmlns:ahyp="http://schemas.microsoft.com/office/drawing/2018/hyperlinkcolor" val="tx"/>
                    </a:ext>
                  </a:extLst>
                </a:hlinkClick>
              </a:rPr>
              <a:t>7Waves</a:t>
            </a:r>
            <a:endParaRPr lang="en-US" sz="1200" dirty="0">
              <a:solidFill>
                <a:schemeClr val="bg1"/>
              </a:solidFill>
              <a:hlinkClick r:id="rId3">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4">
                  <a:extLst>
                    <a:ext uri="{A12FA001-AC4F-418D-AE19-62706E023703}">
                      <ahyp:hlinkClr xmlns:ahyp="http://schemas.microsoft.com/office/drawing/2018/hyperlinkcolor" val="tx"/>
                    </a:ext>
                  </a:extLst>
                </a:hlinkClick>
              </a:rPr>
              <a:t>Disruptive Engineering</a:t>
            </a:r>
            <a:endParaRPr lang="en-US" sz="1200" dirty="0">
              <a:solidFill>
                <a:schemeClr val="bg1"/>
              </a:solidFill>
              <a:hlinkClick r:id="rId4">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5">
                  <a:extLst>
                    <a:ext uri="{A12FA001-AC4F-418D-AE19-62706E023703}">
                      <ahyp:hlinkClr xmlns:ahyp="http://schemas.microsoft.com/office/drawing/2018/hyperlinkcolor" val="tx"/>
                    </a:ext>
                  </a:extLst>
                </a:hlinkClick>
              </a:rPr>
              <a:t>Krescado</a:t>
            </a:r>
            <a:endParaRPr lang="en-US" sz="1200" dirty="0">
              <a:solidFill>
                <a:schemeClr val="bg1"/>
              </a:solidFill>
              <a:hlinkClick r:id="rId5">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6">
                  <a:extLst>
                    <a:ext uri="{A12FA001-AC4F-418D-AE19-62706E023703}">
                      <ahyp:hlinkClr xmlns:ahyp="http://schemas.microsoft.com/office/drawing/2018/hyperlinkcolor" val="tx"/>
                    </a:ext>
                  </a:extLst>
                </a:hlinkClick>
              </a:rPr>
              <a:t>Incrementi</a:t>
            </a:r>
            <a:endParaRPr lang="en-US" sz="1200" dirty="0">
              <a:solidFill>
                <a:schemeClr val="bg1"/>
              </a:solidFill>
              <a:hlinkClick r:id="rId6">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7">
                  <a:extLst>
                    <a:ext uri="{A12FA001-AC4F-418D-AE19-62706E023703}">
                      <ahyp:hlinkClr xmlns:ahyp="http://schemas.microsoft.com/office/drawing/2018/hyperlinkcolor" val="tx"/>
                    </a:ext>
                  </a:extLst>
                </a:hlinkClick>
              </a:rPr>
              <a:t>Ezone Energy</a:t>
            </a:r>
            <a:endParaRPr lang="en-US" sz="1200" dirty="0">
              <a:solidFill>
                <a:schemeClr val="bg1"/>
              </a:solidFill>
              <a:hlinkClick r:id="rId7">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8">
                  <a:extLst>
                    <a:ext uri="{A12FA001-AC4F-418D-AE19-62706E023703}">
                      <ahyp:hlinkClr xmlns:ahyp="http://schemas.microsoft.com/office/drawing/2018/hyperlinkcolor" val="tx"/>
                    </a:ext>
                  </a:extLst>
                </a:hlinkClick>
              </a:rPr>
              <a:t>Energy AI</a:t>
            </a:r>
            <a:endParaRPr lang="en-US" sz="1200" dirty="0">
              <a:solidFill>
                <a:schemeClr val="bg1"/>
              </a:solidFill>
              <a:hlinkClick r:id="rId8">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9">
                  <a:extLst>
                    <a:ext uri="{A12FA001-AC4F-418D-AE19-62706E023703}">
                      <ahyp:hlinkClr xmlns:ahyp="http://schemas.microsoft.com/office/drawing/2018/hyperlinkcolor" val="tx"/>
                    </a:ext>
                  </a:extLst>
                </a:hlinkClick>
              </a:rPr>
              <a:t>Aker Solutions</a:t>
            </a:r>
            <a:endParaRPr lang="en-US" sz="1200" dirty="0">
              <a:solidFill>
                <a:schemeClr val="bg1"/>
              </a:solidFill>
              <a:hlinkClick r:id="rId9">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10">
                  <a:extLst>
                    <a:ext uri="{A12FA001-AC4F-418D-AE19-62706E023703}">
                      <ahyp:hlinkClr xmlns:ahyp="http://schemas.microsoft.com/office/drawing/2018/hyperlinkcolor" val="tx"/>
                    </a:ext>
                  </a:extLst>
                </a:hlinkClick>
              </a:rPr>
              <a:t>BEWI</a:t>
            </a:r>
            <a:endParaRPr lang="en-US" sz="1200" dirty="0">
              <a:solidFill>
                <a:schemeClr val="bg1"/>
              </a:solidFill>
              <a:hlinkClick r:id="rId10">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11">
                  <a:extLst>
                    <a:ext uri="{A12FA001-AC4F-418D-AE19-62706E023703}">
                      <ahyp:hlinkClr xmlns:ahyp="http://schemas.microsoft.com/office/drawing/2018/hyperlinkcolor" val="tx"/>
                    </a:ext>
                  </a:extLst>
                </a:hlinkClick>
              </a:rPr>
              <a:t>CodeIT</a:t>
            </a:r>
            <a:endParaRPr lang="en-US" sz="1200" dirty="0">
              <a:solidFill>
                <a:schemeClr val="bg1"/>
              </a:solidFill>
              <a:hlinkClick r:id="rId11">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12">
                  <a:extLst>
                    <a:ext uri="{A12FA001-AC4F-418D-AE19-62706E023703}">
                      <ahyp:hlinkClr xmlns:ahyp="http://schemas.microsoft.com/office/drawing/2018/hyperlinkcolor" val="tx"/>
                    </a:ext>
                  </a:extLst>
                </a:hlinkClick>
              </a:rPr>
              <a:t>Dynatec Engineering</a:t>
            </a:r>
            <a:endParaRPr lang="en-US" sz="1200" dirty="0">
              <a:solidFill>
                <a:schemeClr val="bg1"/>
              </a:solidFill>
              <a:hlinkClick r:id="rId12">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13">
                  <a:extLst>
                    <a:ext uri="{A12FA001-AC4F-418D-AE19-62706E023703}">
                      <ahyp:hlinkClr xmlns:ahyp="http://schemas.microsoft.com/office/drawing/2018/hyperlinkcolor" val="tx"/>
                    </a:ext>
                  </a:extLst>
                </a:hlinkClick>
              </a:rPr>
              <a:t>Gundersen &amp; Løke AS</a:t>
            </a:r>
            <a:endParaRPr lang="en-US" sz="1200" dirty="0">
              <a:solidFill>
                <a:schemeClr val="bg1"/>
              </a:solidFill>
            </a:endParaRPr>
          </a:p>
          <a:p>
            <a:pPr>
              <a:buFont typeface="Arial"/>
              <a:buChar char="•"/>
            </a:pPr>
            <a:r>
              <a:rPr lang="en-US" sz="1200" dirty="0">
                <a:solidFill>
                  <a:schemeClr val="bg1"/>
                </a:solidFill>
                <a:ea typeface="+mn-lt"/>
                <a:cs typeface="+mn-lt"/>
                <a:hlinkClick r:id="rId14">
                  <a:extLst>
                    <a:ext uri="{A12FA001-AC4F-418D-AE19-62706E023703}">
                      <ahyp:hlinkClr xmlns:ahyp="http://schemas.microsoft.com/office/drawing/2018/hyperlinkcolor" val="tx"/>
                    </a:ext>
                  </a:extLst>
                </a:hlinkClick>
              </a:rPr>
              <a:t>MHTech</a:t>
            </a:r>
            <a:endParaRPr lang="en-US" sz="1200" dirty="0">
              <a:solidFill>
                <a:schemeClr val="bg1"/>
              </a:solidFill>
              <a:hlinkClick r:id="rId14">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15">
                  <a:extLst>
                    <a:ext uri="{A12FA001-AC4F-418D-AE19-62706E023703}">
                      <ahyp:hlinkClr xmlns:ahyp="http://schemas.microsoft.com/office/drawing/2018/hyperlinkcolor" val="tx"/>
                    </a:ext>
                  </a:extLst>
                </a:hlinkClick>
              </a:rPr>
              <a:t>MNU</a:t>
            </a:r>
            <a:endParaRPr lang="en-US" sz="1200" dirty="0">
              <a:solidFill>
                <a:schemeClr val="bg1"/>
              </a:solidFill>
              <a:hlinkClick r:id="rId15">
                <a:extLst>
                  <a:ext uri="{A12FA001-AC4F-418D-AE19-62706E023703}">
                    <ahyp:hlinkClr xmlns:ahyp="http://schemas.microsoft.com/office/drawing/2018/hyperlinkcolor" val="tx"/>
                  </a:ext>
                </a:extLst>
              </a:hlinkClick>
            </a:endParaRPr>
          </a:p>
          <a:p>
            <a:endParaRPr lang="en-US" sz="1100" dirty="0">
              <a:solidFill>
                <a:schemeClr val="bg1"/>
              </a:solidFill>
              <a:hlinkClick r:id="rId16">
                <a:extLst>
                  <a:ext uri="{A12FA001-AC4F-418D-AE19-62706E023703}">
                    <ahyp:hlinkClr xmlns:ahyp="http://schemas.microsoft.com/office/drawing/2018/hyperlinkcolor" val="tx"/>
                  </a:ext>
                </a:extLst>
              </a:hlinkClick>
            </a:endParaRPr>
          </a:p>
          <a:p>
            <a:pPr>
              <a:buFont typeface="Arial"/>
              <a:buChar char="•"/>
            </a:pPr>
            <a:endParaRPr lang="en-US" sz="1100" dirty="0">
              <a:solidFill>
                <a:schemeClr val="bg1"/>
              </a:solidFill>
            </a:endParaRPr>
          </a:p>
          <a:p>
            <a:pPr marL="285750" indent="-285750">
              <a:buFont typeface="Arial"/>
              <a:buChar char="•"/>
            </a:pPr>
            <a:endParaRPr lang="en-US" sz="1200" dirty="0">
              <a:solidFill>
                <a:schemeClr val="bg1"/>
              </a:solidFill>
            </a:endParaRPr>
          </a:p>
          <a:p>
            <a:pPr marL="285750" indent="-285750">
              <a:buFont typeface="Arial"/>
              <a:buChar char="•"/>
            </a:pPr>
            <a:endParaRPr lang="en-US" sz="1200" dirty="0">
              <a:solidFill>
                <a:schemeClr val="bg1"/>
              </a:solidFill>
            </a:endParaRPr>
          </a:p>
          <a:p>
            <a:pPr marL="285750" indent="-285750">
              <a:buFont typeface="Arial"/>
              <a:buChar char="•"/>
            </a:pPr>
            <a:endParaRPr lang="en-US" sz="1200" dirty="0">
              <a:solidFill>
                <a:schemeClr val="bg1"/>
              </a:solidFill>
            </a:endParaRPr>
          </a:p>
          <a:p>
            <a:endParaRPr lang="en-US" sz="1200" b="1" dirty="0">
              <a:solidFill>
                <a:schemeClr val="bg1"/>
              </a:solidFill>
            </a:endParaRPr>
          </a:p>
        </p:txBody>
      </p:sp>
      <p:sp>
        <p:nvSpPr>
          <p:cNvPr id="11" name="TekstSylinder 85">
            <a:extLst>
              <a:ext uri="{FF2B5EF4-FFF2-40B4-BE49-F238E27FC236}">
                <a16:creationId xmlns:a16="http://schemas.microsoft.com/office/drawing/2014/main" id="{395B1C08-1A24-40D0-D84F-FF6729B70B46}"/>
              </a:ext>
            </a:extLst>
          </p:cNvPr>
          <p:cNvSpPr txBox="1"/>
          <p:nvPr/>
        </p:nvSpPr>
        <p:spPr>
          <a:xfrm>
            <a:off x="8673044" y="1850845"/>
            <a:ext cx="2279176" cy="307777"/>
          </a:xfrm>
          <a:prstGeom prst="rect">
            <a:avLst/>
          </a:prstGeom>
          <a:noFill/>
        </p:spPr>
        <p:txBody>
          <a:bodyPr wrap="square" lIns="91440" tIns="45720" rIns="91440" bIns="45720" anchor="t">
            <a:spAutoFit/>
          </a:bodyPr>
          <a:lstStyle/>
          <a:p>
            <a:r>
              <a:rPr lang="en-US" sz="1400" b="1" dirty="0">
                <a:solidFill>
                  <a:schemeClr val="bg1"/>
                </a:solidFill>
                <a:latin typeface="Montserrat Bold"/>
              </a:rPr>
              <a:t>Other stakeholders  </a:t>
            </a:r>
          </a:p>
        </p:txBody>
      </p:sp>
      <p:sp>
        <p:nvSpPr>
          <p:cNvPr id="6" name="TekstSylinder 5">
            <a:extLst>
              <a:ext uri="{FF2B5EF4-FFF2-40B4-BE49-F238E27FC236}">
                <a16:creationId xmlns:a16="http://schemas.microsoft.com/office/drawing/2014/main" id="{5A01AF92-1C61-0A18-66C7-864647AFF155}"/>
              </a:ext>
            </a:extLst>
          </p:cNvPr>
          <p:cNvSpPr txBox="1"/>
          <p:nvPr/>
        </p:nvSpPr>
        <p:spPr>
          <a:xfrm>
            <a:off x="3883312" y="5754801"/>
            <a:ext cx="7819127" cy="1138773"/>
          </a:xfrm>
          <a:prstGeom prst="rect">
            <a:avLst/>
          </a:prstGeom>
          <a:noFill/>
        </p:spPr>
        <p:txBody>
          <a:bodyPr wrap="square" lIns="91440" tIns="45720" rIns="91440" bIns="45720" anchor="t">
            <a:spAutoFit/>
          </a:bodyPr>
          <a:lstStyle/>
          <a:p>
            <a:r>
              <a:rPr lang="nb-NO" sz="2400" b="1" dirty="0" err="1">
                <a:solidFill>
                  <a:schemeClr val="bg1"/>
                </a:solidFill>
                <a:latin typeface="Montserrat Bold"/>
              </a:rPr>
              <a:t>Enablers</a:t>
            </a:r>
            <a:r>
              <a:rPr lang="nb-NO" sz="2400" b="1" dirty="0">
                <a:solidFill>
                  <a:schemeClr val="bg1"/>
                </a:solidFill>
                <a:latin typeface="Montserrat Bold"/>
              </a:rPr>
              <a:t>: Regional Clusters and </a:t>
            </a:r>
            <a:r>
              <a:rPr lang="nb-NO" sz="2400" b="1" dirty="0" err="1">
                <a:solidFill>
                  <a:schemeClr val="bg1"/>
                </a:solidFill>
                <a:latin typeface="Montserrat Bold"/>
              </a:rPr>
              <a:t>their</a:t>
            </a:r>
            <a:r>
              <a:rPr lang="nb-NO" sz="2400" b="1" dirty="0">
                <a:solidFill>
                  <a:schemeClr val="bg1"/>
                </a:solidFill>
                <a:latin typeface="Montserrat Bold"/>
              </a:rPr>
              <a:t> </a:t>
            </a:r>
            <a:r>
              <a:rPr lang="nb-NO" sz="2400" b="1" dirty="0" err="1">
                <a:solidFill>
                  <a:schemeClr val="bg1"/>
                </a:solidFill>
                <a:latin typeface="Montserrat Bold"/>
              </a:rPr>
              <a:t>members</a:t>
            </a:r>
            <a:r>
              <a:rPr lang="nb-NO" sz="2400" b="1" dirty="0">
                <a:solidFill>
                  <a:schemeClr val="bg1"/>
                </a:solidFill>
                <a:latin typeface="Montserrat Bold"/>
              </a:rPr>
              <a:t>.</a:t>
            </a:r>
          </a:p>
          <a:p>
            <a:endParaRPr lang="nb-NO" sz="4400" b="1" dirty="0">
              <a:solidFill>
                <a:srgbClr val="FF3E02"/>
              </a:solidFill>
              <a:latin typeface="Montserrat Bold"/>
            </a:endParaRPr>
          </a:p>
        </p:txBody>
      </p:sp>
      <p:sp>
        <p:nvSpPr>
          <p:cNvPr id="2" name="Rektangel 1">
            <a:extLst>
              <a:ext uri="{FF2B5EF4-FFF2-40B4-BE49-F238E27FC236}">
                <a16:creationId xmlns:a16="http://schemas.microsoft.com/office/drawing/2014/main" id="{84265D10-FDCA-7963-C447-C7048C424A13}"/>
              </a:ext>
            </a:extLst>
          </p:cNvPr>
          <p:cNvSpPr/>
          <p:nvPr/>
        </p:nvSpPr>
        <p:spPr>
          <a:xfrm>
            <a:off x="5751687" y="316866"/>
            <a:ext cx="3235399" cy="401934"/>
          </a:xfrm>
          <a:prstGeom prst="rect">
            <a:avLst/>
          </a:prstGeom>
          <a:solidFill>
            <a:srgbClr val="FF3E02"/>
          </a:solidFill>
          <a:ln>
            <a:solidFill>
              <a:srgbClr val="FF3E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b-NO" sz="4400" dirty="0">
                <a:solidFill>
                  <a:schemeClr val="tx1"/>
                </a:solidFill>
                <a:latin typeface="Montserrat Bold" panose="00000800000000000000" pitchFamily="2" charset="0"/>
              </a:rPr>
              <a:t>NEXUS_9</a:t>
            </a:r>
          </a:p>
        </p:txBody>
      </p:sp>
      <p:sp>
        <p:nvSpPr>
          <p:cNvPr id="12" name="TekstSylinder 11">
            <a:extLst>
              <a:ext uri="{FF2B5EF4-FFF2-40B4-BE49-F238E27FC236}">
                <a16:creationId xmlns:a16="http://schemas.microsoft.com/office/drawing/2014/main" id="{BEDFC275-5E0A-426E-9C88-A8AC8A3E4B48}"/>
              </a:ext>
            </a:extLst>
          </p:cNvPr>
          <p:cNvSpPr txBox="1"/>
          <p:nvPr/>
        </p:nvSpPr>
        <p:spPr>
          <a:xfrm>
            <a:off x="6008624" y="39867"/>
            <a:ext cx="2246623" cy="276999"/>
          </a:xfrm>
          <a:prstGeom prst="rect">
            <a:avLst/>
          </a:prstGeom>
          <a:noFill/>
        </p:spPr>
        <p:txBody>
          <a:bodyPr wrap="square">
            <a:spAutoFit/>
          </a:bodyPr>
          <a:lstStyle/>
          <a:p>
            <a:r>
              <a:rPr lang="en-US" sz="1200" b="1" dirty="0"/>
              <a:t>PROJECT:</a:t>
            </a:r>
            <a:endParaRPr lang="en-US" sz="1200" dirty="0"/>
          </a:p>
        </p:txBody>
      </p:sp>
      <p:cxnSp>
        <p:nvCxnSpPr>
          <p:cNvPr id="13" name="Rett linje 12">
            <a:extLst>
              <a:ext uri="{FF2B5EF4-FFF2-40B4-BE49-F238E27FC236}">
                <a16:creationId xmlns:a16="http://schemas.microsoft.com/office/drawing/2014/main" id="{2EF430CD-6721-D99F-E791-49D6A7216AA6}"/>
              </a:ext>
            </a:extLst>
          </p:cNvPr>
          <p:cNvCxnSpPr>
            <a:cxnSpLocks/>
          </p:cNvCxnSpPr>
          <p:nvPr/>
        </p:nvCxnSpPr>
        <p:spPr>
          <a:xfrm>
            <a:off x="5364226" y="-13781"/>
            <a:ext cx="0" cy="932313"/>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Rett linje 13">
            <a:extLst>
              <a:ext uri="{FF2B5EF4-FFF2-40B4-BE49-F238E27FC236}">
                <a16:creationId xmlns:a16="http://schemas.microsoft.com/office/drawing/2014/main" id="{DFEE59AC-C16D-2081-2F42-7DA3842CF322}"/>
              </a:ext>
            </a:extLst>
          </p:cNvPr>
          <p:cNvCxnSpPr>
            <a:cxnSpLocks/>
          </p:cNvCxnSpPr>
          <p:nvPr/>
        </p:nvCxnSpPr>
        <p:spPr>
          <a:xfrm>
            <a:off x="0" y="918532"/>
            <a:ext cx="9871326" cy="0"/>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8" name="Rett linje 17">
            <a:extLst>
              <a:ext uri="{FF2B5EF4-FFF2-40B4-BE49-F238E27FC236}">
                <a16:creationId xmlns:a16="http://schemas.microsoft.com/office/drawing/2014/main" id="{9738A1A0-54EF-C70A-3BF6-6453FC96043F}"/>
              </a:ext>
            </a:extLst>
          </p:cNvPr>
          <p:cNvCxnSpPr>
            <a:cxnSpLocks/>
          </p:cNvCxnSpPr>
          <p:nvPr/>
        </p:nvCxnSpPr>
        <p:spPr>
          <a:xfrm>
            <a:off x="9871326" y="0"/>
            <a:ext cx="0" cy="1543047"/>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Rett linje 18">
            <a:extLst>
              <a:ext uri="{FF2B5EF4-FFF2-40B4-BE49-F238E27FC236}">
                <a16:creationId xmlns:a16="http://schemas.microsoft.com/office/drawing/2014/main" id="{B17F53B7-917A-F50F-9DC5-3A715714F244}"/>
              </a:ext>
            </a:extLst>
          </p:cNvPr>
          <p:cNvCxnSpPr>
            <a:cxnSpLocks/>
          </p:cNvCxnSpPr>
          <p:nvPr/>
        </p:nvCxnSpPr>
        <p:spPr>
          <a:xfrm>
            <a:off x="9871326" y="1543047"/>
            <a:ext cx="2471361" cy="0"/>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sp>
        <p:nvSpPr>
          <p:cNvPr id="23" name="TekstSylinder 85">
            <a:extLst>
              <a:ext uri="{FF2B5EF4-FFF2-40B4-BE49-F238E27FC236}">
                <a16:creationId xmlns:a16="http://schemas.microsoft.com/office/drawing/2014/main" id="{281EB5CA-818C-28E1-0D25-923AAA708734}"/>
              </a:ext>
            </a:extLst>
          </p:cNvPr>
          <p:cNvSpPr txBox="1"/>
          <p:nvPr/>
        </p:nvSpPr>
        <p:spPr>
          <a:xfrm>
            <a:off x="5830160" y="2184594"/>
            <a:ext cx="3156926" cy="3754874"/>
          </a:xfrm>
          <a:prstGeom prst="rect">
            <a:avLst/>
          </a:prstGeom>
          <a:noFill/>
        </p:spPr>
        <p:txBody>
          <a:bodyPr wrap="square" lIns="91440" tIns="45720" rIns="91440" bIns="45720" anchor="t">
            <a:spAutoFit/>
          </a:bodyPr>
          <a:lstStyle/>
          <a:p>
            <a:pPr>
              <a:buFont typeface="Arial"/>
              <a:buChar char="•"/>
            </a:pPr>
            <a:r>
              <a:rPr lang="en-US" sz="1200" dirty="0">
                <a:solidFill>
                  <a:schemeClr val="bg1"/>
                </a:solidFill>
                <a:ea typeface="+mn-lt"/>
                <a:cs typeface="+mn-lt"/>
                <a:hlinkClick r:id="rId17">
                  <a:extLst>
                    <a:ext uri="{A12FA001-AC4F-418D-AE19-62706E023703}">
                      <ahyp:hlinkClr xmlns:ahyp="http://schemas.microsoft.com/office/drawing/2018/hyperlinkcolor" val="tx"/>
                    </a:ext>
                  </a:extLst>
                </a:hlinkClick>
              </a:rPr>
              <a:t>Norsk Elektro Optikk AS</a:t>
            </a:r>
            <a:endParaRPr lang="en-US" sz="1200" dirty="0">
              <a:solidFill>
                <a:schemeClr val="bg1"/>
              </a:solidFill>
            </a:endParaRPr>
          </a:p>
          <a:p>
            <a:pPr>
              <a:buFont typeface="Arial"/>
              <a:buChar char="•"/>
            </a:pPr>
            <a:r>
              <a:rPr lang="en-US" sz="1200" dirty="0">
                <a:solidFill>
                  <a:schemeClr val="bg1"/>
                </a:solidFill>
                <a:ea typeface="+mn-lt"/>
                <a:cs typeface="+mn-lt"/>
                <a:hlinkClick r:id="rId18">
                  <a:extLst>
                    <a:ext uri="{A12FA001-AC4F-418D-AE19-62706E023703}">
                      <ahyp:hlinkClr xmlns:ahyp="http://schemas.microsoft.com/office/drawing/2018/hyperlinkcolor" val="tx"/>
                    </a:ext>
                  </a:extLst>
                </a:hlinkClick>
              </a:rPr>
              <a:t>Physical Robotics AS</a:t>
            </a:r>
            <a:endParaRPr lang="en-US" sz="1200" dirty="0">
              <a:solidFill>
                <a:schemeClr val="bg1"/>
              </a:solidFill>
            </a:endParaRPr>
          </a:p>
          <a:p>
            <a:pPr>
              <a:buFont typeface="Arial"/>
              <a:buChar char="•"/>
            </a:pPr>
            <a:r>
              <a:rPr lang="en-US" sz="1200" dirty="0">
                <a:solidFill>
                  <a:schemeClr val="bg1"/>
                </a:solidFill>
                <a:ea typeface="+mn-lt"/>
                <a:cs typeface="+mn-lt"/>
                <a:hlinkClick r:id="rId19">
                  <a:extLst>
                    <a:ext uri="{A12FA001-AC4F-418D-AE19-62706E023703}">
                      <ahyp:hlinkClr xmlns:ahyp="http://schemas.microsoft.com/office/drawing/2018/hyperlinkcolor" val="tx"/>
                    </a:ext>
                  </a:extLst>
                </a:hlinkClick>
              </a:rPr>
              <a:t>Pronofa</a:t>
            </a:r>
            <a:endParaRPr lang="en-US" sz="1200" dirty="0">
              <a:solidFill>
                <a:schemeClr val="bg1"/>
              </a:solidFill>
              <a:hlinkClick r:id="rId19">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20">
                  <a:extLst>
                    <a:ext uri="{A12FA001-AC4F-418D-AE19-62706E023703}">
                      <ahyp:hlinkClr xmlns:ahyp="http://schemas.microsoft.com/office/drawing/2018/hyperlinkcolor" val="tx"/>
                    </a:ext>
                  </a:extLst>
                </a:hlinkClick>
              </a:rPr>
              <a:t>Servi Group</a:t>
            </a:r>
            <a:endParaRPr lang="en-US" sz="1200" dirty="0">
              <a:solidFill>
                <a:schemeClr val="bg1"/>
              </a:solidFill>
              <a:hlinkClick r:id="rId20">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21">
                  <a:extLst>
                    <a:ext uri="{A12FA001-AC4F-418D-AE19-62706E023703}">
                      <ahyp:hlinkClr xmlns:ahyp="http://schemas.microsoft.com/office/drawing/2018/hyperlinkcolor" val="tx"/>
                    </a:ext>
                  </a:extLst>
                </a:hlinkClick>
              </a:rPr>
              <a:t>Sew Eurodrive</a:t>
            </a:r>
            <a:endParaRPr lang="en-US" sz="1200" dirty="0">
              <a:solidFill>
                <a:schemeClr val="bg1"/>
              </a:solidFill>
              <a:hlinkClick r:id="rId21">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22">
                  <a:extLst>
                    <a:ext uri="{A12FA001-AC4F-418D-AE19-62706E023703}">
                      <ahyp:hlinkClr xmlns:ahyp="http://schemas.microsoft.com/office/drawing/2018/hyperlinkcolor" val="tx"/>
                    </a:ext>
                  </a:extLst>
                </a:hlinkClick>
              </a:rPr>
              <a:t>Skolt</a:t>
            </a:r>
            <a:endParaRPr lang="en-US" sz="1200" dirty="0">
              <a:solidFill>
                <a:schemeClr val="bg1"/>
              </a:solidFill>
              <a:hlinkClick r:id="rId22">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23">
                  <a:extLst>
                    <a:ext uri="{A12FA001-AC4F-418D-AE19-62706E023703}">
                      <ahyp:hlinkClr xmlns:ahyp="http://schemas.microsoft.com/office/drawing/2018/hyperlinkcolor" val="tx"/>
                    </a:ext>
                  </a:extLst>
                </a:hlinkClick>
              </a:rPr>
              <a:t>Slåttland</a:t>
            </a:r>
            <a:endParaRPr lang="en-US" sz="1200" dirty="0">
              <a:solidFill>
                <a:schemeClr val="bg1"/>
              </a:solidFill>
              <a:hlinkClick r:id="rId23">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24">
                  <a:extLst>
                    <a:ext uri="{A12FA001-AC4F-418D-AE19-62706E023703}">
                      <ahyp:hlinkClr xmlns:ahyp="http://schemas.microsoft.com/office/drawing/2018/hyperlinkcolor" val="tx"/>
                    </a:ext>
                  </a:extLst>
                </a:hlinkClick>
              </a:rPr>
              <a:t>StepSolutions</a:t>
            </a:r>
            <a:endParaRPr lang="en-US" sz="1200" dirty="0">
              <a:solidFill>
                <a:schemeClr val="bg1"/>
              </a:solidFill>
              <a:hlinkClick r:id="rId24">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25">
                  <a:extLst>
                    <a:ext uri="{A12FA001-AC4F-418D-AE19-62706E023703}">
                      <ahyp:hlinkClr xmlns:ahyp="http://schemas.microsoft.com/office/drawing/2018/hyperlinkcolor" val="tx"/>
                    </a:ext>
                  </a:extLst>
                </a:hlinkClick>
              </a:rPr>
              <a:t>Techni</a:t>
            </a:r>
            <a:endParaRPr lang="en-US" sz="1200" dirty="0">
              <a:solidFill>
                <a:schemeClr val="bg1"/>
              </a:solidFill>
              <a:hlinkClick r:id="rId25">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26">
                  <a:extLst>
                    <a:ext uri="{A12FA001-AC4F-418D-AE19-62706E023703}">
                      <ahyp:hlinkClr xmlns:ahyp="http://schemas.microsoft.com/office/drawing/2018/hyperlinkcolor" val="tx"/>
                    </a:ext>
                  </a:extLst>
                </a:hlinkClick>
              </a:rPr>
              <a:t>Tronrud Engineering</a:t>
            </a:r>
            <a:endParaRPr lang="en-US" sz="1200" dirty="0">
              <a:solidFill>
                <a:schemeClr val="bg1"/>
              </a:solidFill>
              <a:hlinkClick r:id="rId26">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27">
                  <a:extLst>
                    <a:ext uri="{A12FA001-AC4F-418D-AE19-62706E023703}">
                      <ahyp:hlinkClr xmlns:ahyp="http://schemas.microsoft.com/office/drawing/2018/hyperlinkcolor" val="tx"/>
                    </a:ext>
                  </a:extLst>
                </a:hlinkClick>
              </a:rPr>
              <a:t>Vulkan Engineering</a:t>
            </a:r>
            <a:endParaRPr lang="en-US" sz="1200" dirty="0">
              <a:solidFill>
                <a:schemeClr val="bg1"/>
              </a:solidFill>
              <a:hlinkClick r:id="rId27">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28">
                  <a:extLst>
                    <a:ext uri="{A12FA001-AC4F-418D-AE19-62706E023703}">
                      <ahyp:hlinkClr xmlns:ahyp="http://schemas.microsoft.com/office/drawing/2018/hyperlinkcolor" val="tx"/>
                    </a:ext>
                  </a:extLst>
                </a:hlinkClick>
              </a:rPr>
              <a:t>Wärtsilä</a:t>
            </a:r>
            <a:endParaRPr lang="en-US" sz="1200" dirty="0">
              <a:solidFill>
                <a:schemeClr val="bg1"/>
              </a:solidFill>
              <a:hlinkClick r:id="rId28">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29">
                  <a:extLst>
                    <a:ext uri="{A12FA001-AC4F-418D-AE19-62706E023703}">
                      <ahyp:hlinkClr xmlns:ahyp="http://schemas.microsoft.com/office/drawing/2018/hyperlinkcolor" val="tx"/>
                    </a:ext>
                  </a:extLst>
                </a:hlinkClick>
              </a:rPr>
              <a:t>Zebra</a:t>
            </a:r>
            <a:endParaRPr lang="en-US" sz="1200" dirty="0">
              <a:solidFill>
                <a:schemeClr val="bg1"/>
              </a:solidFill>
              <a:hlinkClick r:id="rId29">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rPr>
              <a:t>Zephyr</a:t>
            </a:r>
            <a:endParaRPr lang="en-US" sz="1200" dirty="0">
              <a:solidFill>
                <a:schemeClr val="bg1"/>
              </a:solidFill>
            </a:endParaRPr>
          </a:p>
          <a:p>
            <a:endParaRPr lang="en-US" sz="1100" dirty="0">
              <a:solidFill>
                <a:schemeClr val="bg1"/>
              </a:solidFill>
              <a:hlinkClick r:id="rId16">
                <a:extLst>
                  <a:ext uri="{A12FA001-AC4F-418D-AE19-62706E023703}">
                    <ahyp:hlinkClr xmlns:ahyp="http://schemas.microsoft.com/office/drawing/2018/hyperlinkcolor" val="tx"/>
                  </a:ext>
                </a:extLst>
              </a:hlinkClick>
            </a:endParaRPr>
          </a:p>
          <a:p>
            <a:pPr>
              <a:buFont typeface="Arial"/>
              <a:buChar char="•"/>
            </a:pPr>
            <a:endParaRPr lang="en-US" sz="1100" dirty="0">
              <a:solidFill>
                <a:schemeClr val="bg1"/>
              </a:solidFill>
            </a:endParaRPr>
          </a:p>
          <a:p>
            <a:pPr marL="285750" indent="-285750">
              <a:buFont typeface="Arial"/>
              <a:buChar char="•"/>
            </a:pPr>
            <a:endParaRPr lang="en-US" sz="1200" dirty="0">
              <a:solidFill>
                <a:schemeClr val="bg1"/>
              </a:solidFill>
            </a:endParaRPr>
          </a:p>
          <a:p>
            <a:pPr marL="285750" indent="-285750">
              <a:buFont typeface="Arial"/>
              <a:buChar char="•"/>
            </a:pPr>
            <a:endParaRPr lang="en-US" sz="1200" dirty="0">
              <a:solidFill>
                <a:schemeClr val="bg1"/>
              </a:solidFill>
            </a:endParaRPr>
          </a:p>
          <a:p>
            <a:pPr marL="285750" indent="-285750">
              <a:buFont typeface="Arial"/>
              <a:buChar char="•"/>
            </a:pPr>
            <a:endParaRPr lang="en-US" sz="1200" dirty="0">
              <a:solidFill>
                <a:schemeClr val="bg1"/>
              </a:solidFill>
            </a:endParaRPr>
          </a:p>
          <a:p>
            <a:endParaRPr lang="en-US" sz="1200" b="1" dirty="0">
              <a:solidFill>
                <a:schemeClr val="bg1"/>
              </a:solidFill>
            </a:endParaRPr>
          </a:p>
        </p:txBody>
      </p:sp>
      <p:sp>
        <p:nvSpPr>
          <p:cNvPr id="15" name="TekstSylinder 14">
            <a:extLst>
              <a:ext uri="{FF2B5EF4-FFF2-40B4-BE49-F238E27FC236}">
                <a16:creationId xmlns:a16="http://schemas.microsoft.com/office/drawing/2014/main" id="{722530BD-0524-D69E-82AD-54B697C1C8D4}"/>
              </a:ext>
            </a:extLst>
          </p:cNvPr>
          <p:cNvSpPr txBox="1"/>
          <p:nvPr/>
        </p:nvSpPr>
        <p:spPr>
          <a:xfrm>
            <a:off x="63424" y="186729"/>
            <a:ext cx="5226111" cy="523220"/>
          </a:xfrm>
          <a:prstGeom prst="rect">
            <a:avLst/>
          </a:prstGeom>
          <a:noFill/>
        </p:spPr>
        <p:txBody>
          <a:bodyPr wrap="none" rtlCol="0">
            <a:spAutoFit/>
          </a:bodyPr>
          <a:lstStyle/>
          <a:p>
            <a:r>
              <a:rPr lang="nb-NO" sz="2800" dirty="0">
                <a:solidFill>
                  <a:schemeClr val="bg1"/>
                </a:solidFill>
                <a:latin typeface="Montserrat Bold" panose="00000800000000000000" pitchFamily="2" charset="0"/>
              </a:rPr>
              <a:t>Regional </a:t>
            </a:r>
            <a:r>
              <a:rPr lang="nb-NO" sz="2800" dirty="0" err="1">
                <a:solidFill>
                  <a:schemeClr val="bg1"/>
                </a:solidFill>
                <a:latin typeface="Montserrat Bold" panose="00000800000000000000" pitchFamily="2" charset="0"/>
              </a:rPr>
              <a:t>Innovation</a:t>
            </a:r>
            <a:r>
              <a:rPr lang="nb-NO" sz="2800" dirty="0">
                <a:solidFill>
                  <a:schemeClr val="bg1"/>
                </a:solidFill>
                <a:latin typeface="Montserrat Bold" panose="00000800000000000000" pitchFamily="2" charset="0"/>
              </a:rPr>
              <a:t> Valley</a:t>
            </a:r>
          </a:p>
        </p:txBody>
      </p:sp>
    </p:spTree>
    <p:extLst>
      <p:ext uri="{BB962C8B-B14F-4D97-AF65-F5344CB8AC3E}">
        <p14:creationId xmlns:p14="http://schemas.microsoft.com/office/powerpoint/2010/main" val="1632597"/>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11390</TotalTime>
  <Words>622</Words>
  <Application>Microsoft Office PowerPoint</Application>
  <PresentationFormat>Widescreen</PresentationFormat>
  <Paragraphs>93</Paragraphs>
  <Slides>2</Slides>
  <Notes>0</Notes>
  <HiddenSlides>0</HiddenSlides>
  <MMClips>0</MMClips>
  <ScaleCrop>false</ScaleCrop>
  <HeadingPairs>
    <vt:vector size="6" baseType="variant">
      <vt:variant>
        <vt:lpstr>Brukte skrifter</vt:lpstr>
      </vt:variant>
      <vt:variant>
        <vt:i4>6</vt:i4>
      </vt:variant>
      <vt:variant>
        <vt:lpstr>Tema</vt:lpstr>
      </vt:variant>
      <vt:variant>
        <vt:i4>1</vt:i4>
      </vt:variant>
      <vt:variant>
        <vt:lpstr>Lysbildetitler</vt:lpstr>
      </vt:variant>
      <vt:variant>
        <vt:i4>2</vt:i4>
      </vt:variant>
    </vt:vector>
  </HeadingPairs>
  <TitlesOfParts>
    <vt:vector size="9" baseType="lpstr">
      <vt:lpstr>Aptos</vt:lpstr>
      <vt:lpstr>Aptos Display</vt:lpstr>
      <vt:lpstr>Arial</vt:lpstr>
      <vt:lpstr>Calibri</vt:lpstr>
      <vt:lpstr>Lato</vt:lpstr>
      <vt:lpstr>Montserrat Bold</vt:lpstr>
      <vt:lpstr>Office-tema</vt:lpstr>
      <vt:lpstr>PowerPoint-presentasjon</vt:lpstr>
      <vt:lpstr>PowerPoint-presentasjon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André Tandberg</dc:creator>
  <cp:lastModifiedBy>Tore Ausland</cp:lastModifiedBy>
  <cp:revision>189</cp:revision>
  <cp:lastPrinted>2025-05-26T10:41:56Z</cp:lastPrinted>
  <dcterms:created xsi:type="dcterms:W3CDTF">2025-05-26T08:22:51Z</dcterms:created>
  <dcterms:modified xsi:type="dcterms:W3CDTF">2025-06-05T07:37:10Z</dcterms:modified>
</cp:coreProperties>
</file>