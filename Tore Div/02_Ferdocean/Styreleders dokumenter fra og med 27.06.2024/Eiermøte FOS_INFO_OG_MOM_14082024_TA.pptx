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64" r:id="rId4"/>
    <p:sldId id="270" r:id="rId5"/>
    <p:sldId id="272" r:id="rId6"/>
    <p:sldId id="27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B0AE2-E469-4C37-82AA-ADE8C4F2E02F}" v="29" dt="2024-08-14T11:49:29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DB4B0AE2-E469-4C37-82AA-ADE8C4F2E02F}"/>
    <pc:docChg chg="custSel modSld">
      <pc:chgData name="Tore Ausland" userId="aba57685-d7d9-45f9-a74d-a4b3d109653f" providerId="ADAL" clId="{DB4B0AE2-E469-4C37-82AA-ADE8C4F2E02F}" dt="2024-08-14T11:50:57.105" v="246" actId="20577"/>
      <pc:docMkLst>
        <pc:docMk/>
      </pc:docMkLst>
      <pc:sldChg chg="addSp delSp modSp mod">
        <pc:chgData name="Tore Ausland" userId="aba57685-d7d9-45f9-a74d-a4b3d109653f" providerId="ADAL" clId="{DB4B0AE2-E469-4C37-82AA-ADE8C4F2E02F}" dt="2024-08-14T11:48:48.738" v="220" actId="20577"/>
        <pc:sldMkLst>
          <pc:docMk/>
          <pc:sldMk cId="79375369" sldId="264"/>
        </pc:sldMkLst>
        <pc:spChg chg="mod">
          <ac:chgData name="Tore Ausland" userId="aba57685-d7d9-45f9-a74d-a4b3d109653f" providerId="ADAL" clId="{DB4B0AE2-E469-4C37-82AA-ADE8C4F2E02F}" dt="2024-08-14T11:48:48.738" v="220" actId="20577"/>
          <ac:spMkLst>
            <pc:docMk/>
            <pc:sldMk cId="79375369" sldId="264"/>
            <ac:spMk id="2" creationId="{F88026DC-550B-A781-AA02-8C9C6360D4CE}"/>
          </ac:spMkLst>
        </pc:spChg>
        <pc:picChg chg="del">
          <ac:chgData name="Tore Ausland" userId="aba57685-d7d9-45f9-a74d-a4b3d109653f" providerId="ADAL" clId="{DB4B0AE2-E469-4C37-82AA-ADE8C4F2E02F}" dt="2024-08-14T11:40:58.325" v="0" actId="478"/>
          <ac:picMkLst>
            <pc:docMk/>
            <pc:sldMk cId="79375369" sldId="264"/>
            <ac:picMk id="11" creationId="{3D8BBD12-8BC0-6D15-BBE6-B33BEEE899A0}"/>
          </ac:picMkLst>
        </pc:picChg>
        <pc:picChg chg="add mod">
          <ac:chgData name="Tore Ausland" userId="aba57685-d7d9-45f9-a74d-a4b3d109653f" providerId="ADAL" clId="{DB4B0AE2-E469-4C37-82AA-ADE8C4F2E02F}" dt="2024-08-14T11:41:04.697" v="2" actId="1076"/>
          <ac:picMkLst>
            <pc:docMk/>
            <pc:sldMk cId="79375369" sldId="264"/>
            <ac:picMk id="25" creationId="{6DBAE326-936F-090E-EC1A-229EE19409A1}"/>
          </ac:picMkLst>
        </pc:picChg>
      </pc:sldChg>
      <pc:sldChg chg="addSp modSp mod">
        <pc:chgData name="Tore Ausland" userId="aba57685-d7d9-45f9-a74d-a4b3d109653f" providerId="ADAL" clId="{DB4B0AE2-E469-4C37-82AA-ADE8C4F2E02F}" dt="2024-08-14T11:50:57.105" v="246" actId="20577"/>
        <pc:sldMkLst>
          <pc:docMk/>
          <pc:sldMk cId="1366365572" sldId="270"/>
        </pc:sldMkLst>
        <pc:spChg chg="mod">
          <ac:chgData name="Tore Ausland" userId="aba57685-d7d9-45f9-a74d-a4b3d109653f" providerId="ADAL" clId="{DB4B0AE2-E469-4C37-82AA-ADE8C4F2E02F}" dt="2024-08-14T11:50:57.105" v="246" actId="20577"/>
          <ac:spMkLst>
            <pc:docMk/>
            <pc:sldMk cId="1366365572" sldId="270"/>
            <ac:spMk id="2" creationId="{F88026DC-550B-A781-AA02-8C9C6360D4CE}"/>
          </ac:spMkLst>
        </pc:spChg>
        <pc:spChg chg="add mod">
          <ac:chgData name="Tore Ausland" userId="aba57685-d7d9-45f9-a74d-a4b3d109653f" providerId="ADAL" clId="{DB4B0AE2-E469-4C37-82AA-ADE8C4F2E02F}" dt="2024-08-14T11:50:20.647" v="231" actId="255"/>
          <ac:spMkLst>
            <pc:docMk/>
            <pc:sldMk cId="1366365572" sldId="270"/>
            <ac:spMk id="4" creationId="{98A2AF49-C4F4-0378-5812-CD4FDDD91BEB}"/>
          </ac:spMkLst>
        </pc:spChg>
        <pc:spChg chg="mod">
          <ac:chgData name="Tore Ausland" userId="aba57685-d7d9-45f9-a74d-a4b3d109653f" providerId="ADAL" clId="{DB4B0AE2-E469-4C37-82AA-ADE8C4F2E02F}" dt="2024-08-14T11:50:27.138" v="232" actId="255"/>
          <ac:spMkLst>
            <pc:docMk/>
            <pc:sldMk cId="1366365572" sldId="270"/>
            <ac:spMk id="102" creationId="{93523F7B-DC99-782F-D6DC-C49BC5B1C85D}"/>
          </ac:spMkLst>
        </pc:spChg>
        <pc:picChg chg="mod">
          <ac:chgData name="Tore Ausland" userId="aba57685-d7d9-45f9-a74d-a4b3d109653f" providerId="ADAL" clId="{DB4B0AE2-E469-4C37-82AA-ADE8C4F2E02F}" dt="2024-08-14T11:49:22.773" v="221" actId="14100"/>
          <ac:picMkLst>
            <pc:docMk/>
            <pc:sldMk cId="1366365572" sldId="270"/>
            <ac:picMk id="40" creationId="{BC3A7EEF-0C0C-1D5C-3847-DE7419F5D65D}"/>
          </ac:picMkLst>
        </pc:picChg>
      </pc:sldChg>
      <pc:sldChg chg="addSp delSp modSp mod">
        <pc:chgData name="Tore Ausland" userId="aba57685-d7d9-45f9-a74d-a4b3d109653f" providerId="ADAL" clId="{DB4B0AE2-E469-4C37-82AA-ADE8C4F2E02F}" dt="2024-08-14T11:41:41.755" v="19" actId="20577"/>
        <pc:sldMkLst>
          <pc:docMk/>
          <pc:sldMk cId="931101884" sldId="271"/>
        </pc:sldMkLst>
        <pc:spChg chg="del">
          <ac:chgData name="Tore Ausland" userId="aba57685-d7d9-45f9-a74d-a4b3d109653f" providerId="ADAL" clId="{DB4B0AE2-E469-4C37-82AA-ADE8C4F2E02F}" dt="2024-08-14T11:41:25.019" v="3" actId="478"/>
          <ac:spMkLst>
            <pc:docMk/>
            <pc:sldMk cId="931101884" sldId="271"/>
            <ac:spMk id="3" creationId="{93523F7B-DC99-782F-D6DC-C49BC5B1C85D}"/>
          </ac:spMkLst>
        </pc:spChg>
        <pc:spChg chg="add mod">
          <ac:chgData name="Tore Ausland" userId="aba57685-d7d9-45f9-a74d-a4b3d109653f" providerId="ADAL" clId="{DB4B0AE2-E469-4C37-82AA-ADE8C4F2E02F}" dt="2024-08-14T11:41:41.755" v="19" actId="20577"/>
          <ac:spMkLst>
            <pc:docMk/>
            <pc:sldMk cId="931101884" sldId="271"/>
            <ac:spMk id="4" creationId="{02EC4C47-B4BA-EEDF-3FCF-647FF560E06C}"/>
          </ac:spMkLst>
        </pc:spChg>
      </pc:sldChg>
      <pc:sldChg chg="addSp modSp mod">
        <pc:chgData name="Tore Ausland" userId="aba57685-d7d9-45f9-a74d-a4b3d109653f" providerId="ADAL" clId="{DB4B0AE2-E469-4C37-82AA-ADE8C4F2E02F}" dt="2024-08-14T11:47:55.352" v="196" actId="27636"/>
        <pc:sldMkLst>
          <pc:docMk/>
          <pc:sldMk cId="409045571" sldId="272"/>
        </pc:sldMkLst>
        <pc:spChg chg="mod">
          <ac:chgData name="Tore Ausland" userId="aba57685-d7d9-45f9-a74d-a4b3d109653f" providerId="ADAL" clId="{DB4B0AE2-E469-4C37-82AA-ADE8C4F2E02F}" dt="2024-08-14T11:45:00.794" v="85" actId="20577"/>
          <ac:spMkLst>
            <pc:docMk/>
            <pc:sldMk cId="409045571" sldId="272"/>
            <ac:spMk id="2" creationId="{F88026DC-550B-A781-AA02-8C9C6360D4CE}"/>
          </ac:spMkLst>
        </pc:spChg>
        <pc:spChg chg="add mod">
          <ac:chgData name="Tore Ausland" userId="aba57685-d7d9-45f9-a74d-a4b3d109653f" providerId="ADAL" clId="{DB4B0AE2-E469-4C37-82AA-ADE8C4F2E02F}" dt="2024-08-14T11:44:28.697" v="46" actId="1076"/>
          <ac:spMkLst>
            <pc:docMk/>
            <pc:sldMk cId="409045571" sldId="272"/>
            <ac:spMk id="3" creationId="{8520C2F9-DECD-A5EE-BEA3-E6E957F78E92}"/>
          </ac:spMkLst>
        </pc:spChg>
        <pc:spChg chg="add mod">
          <ac:chgData name="Tore Ausland" userId="aba57685-d7d9-45f9-a74d-a4b3d109653f" providerId="ADAL" clId="{DB4B0AE2-E469-4C37-82AA-ADE8C4F2E02F}" dt="2024-08-14T11:46:09.352" v="181" actId="6549"/>
          <ac:spMkLst>
            <pc:docMk/>
            <pc:sldMk cId="409045571" sldId="272"/>
            <ac:spMk id="4" creationId="{E59B43F7-A5A0-766A-6DA9-EBDD0552389D}"/>
          </ac:spMkLst>
        </pc:spChg>
        <pc:spChg chg="mod">
          <ac:chgData name="Tore Ausland" userId="aba57685-d7d9-45f9-a74d-a4b3d109653f" providerId="ADAL" clId="{DB4B0AE2-E469-4C37-82AA-ADE8C4F2E02F}" dt="2024-08-14T11:47:55.352" v="196" actId="27636"/>
          <ac:spMkLst>
            <pc:docMk/>
            <pc:sldMk cId="409045571" sldId="272"/>
            <ac:spMk id="102" creationId="{93523F7B-DC99-782F-D6DC-C49BC5B1C8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14.08.2024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9D2E67-C8D9-42AD-AFD1-750269D089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nb-NO">
                <a:solidFill>
                  <a:schemeClr val="tx1"/>
                </a:solidFill>
              </a:rPr>
              <a:t>Shareholder meeting FOS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nb-NO" dirty="0"/>
              <a:t>14.08.2024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8D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50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 iht. aksjons punkter 07.08.2024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836" y="1905000"/>
            <a:ext cx="3793300" cy="3777622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Status låneavtaler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Potensielt gap og hvordan lukke gap.</a:t>
            </a: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a typeface="Aptos" panose="020B0004020202020204" pitchFamily="34" charset="0"/>
                <a:cs typeface="Times New Roman" panose="02020603050405020304" pitchFamily="18" charset="0"/>
              </a:rPr>
              <a:t>Forbehold innfridd, aksjoner og milepeler.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AOB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698F2387-816B-135D-2785-B20EE9EE7DAF}"/>
              </a:ext>
            </a:extLst>
          </p:cNvPr>
          <p:cNvSpPr txBox="1">
            <a:spLocks/>
          </p:cNvSpPr>
          <p:nvPr/>
        </p:nvSpPr>
        <p:spPr>
          <a:xfrm>
            <a:off x="6531866" y="1905000"/>
            <a:ext cx="37933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89E5420-7310-3BA2-DC1C-4F177A3D8326}"/>
              </a:ext>
            </a:extLst>
          </p:cNvPr>
          <p:cNvSpPr txBox="1"/>
          <p:nvPr/>
        </p:nvSpPr>
        <p:spPr>
          <a:xfrm>
            <a:off x="6531866" y="1905000"/>
            <a:ext cx="3793300" cy="1164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Status of loan agreements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Potential gap and how to close the gap.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Conditions met, actions, and milestones.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AOB</a:t>
            </a:r>
            <a:endParaRPr lang="nb-NO" sz="1200" b="1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6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0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1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3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4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5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6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7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8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49" name="Group 8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2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3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4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5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6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7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8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9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0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1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62" name="Rectangle 9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6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64" name="Rectangle 101">
            <a:extLst>
              <a:ext uri="{FF2B5EF4-FFF2-40B4-BE49-F238E27FC236}">
                <a16:creationId xmlns:a16="http://schemas.microsoft.com/office/drawing/2014/main" id="{CADF4631-3C8F-45EE-8D19-4D3E8426B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03">
            <a:extLst>
              <a:ext uri="{FF2B5EF4-FFF2-40B4-BE49-F238E27FC236}">
                <a16:creationId xmlns:a16="http://schemas.microsoft.com/office/drawing/2014/main" id="{F291099C-17EE-4E0E-B096-C79975050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66" name="Freeform 11">
              <a:extLst>
                <a:ext uri="{FF2B5EF4-FFF2-40B4-BE49-F238E27FC236}">
                  <a16:creationId xmlns:a16="http://schemas.microsoft.com/office/drawing/2014/main" id="{E21C6221-3E1B-4ABD-8172-FAE995E65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7" name="Freeform 12">
              <a:extLst>
                <a:ext uri="{FF2B5EF4-FFF2-40B4-BE49-F238E27FC236}">
                  <a16:creationId xmlns:a16="http://schemas.microsoft.com/office/drawing/2014/main" id="{D3EF5991-93EA-451F-BB82-1ABC4AC0D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8" name="Freeform 13">
              <a:extLst>
                <a:ext uri="{FF2B5EF4-FFF2-40B4-BE49-F238E27FC236}">
                  <a16:creationId xmlns:a16="http://schemas.microsoft.com/office/drawing/2014/main" id="{136F96F7-16E6-48A1-A211-0B4A4D0C8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9" name="Freeform 14">
              <a:extLst>
                <a:ext uri="{FF2B5EF4-FFF2-40B4-BE49-F238E27FC236}">
                  <a16:creationId xmlns:a16="http://schemas.microsoft.com/office/drawing/2014/main" id="{5C00D000-7FA5-40C4-AB6A-DE3A61AB8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0" name="Freeform 15">
              <a:extLst>
                <a:ext uri="{FF2B5EF4-FFF2-40B4-BE49-F238E27FC236}">
                  <a16:creationId xmlns:a16="http://schemas.microsoft.com/office/drawing/2014/main" id="{5AAEB880-A03D-4743-9060-D7A846FA6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CC64DD68-0B96-4DE9-8FD5-3175E4A3F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2" name="Freeform 17">
              <a:extLst>
                <a:ext uri="{FF2B5EF4-FFF2-40B4-BE49-F238E27FC236}">
                  <a16:creationId xmlns:a16="http://schemas.microsoft.com/office/drawing/2014/main" id="{69118400-C17B-4068-86D3-93CAE7702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3" name="Freeform 18">
              <a:extLst>
                <a:ext uri="{FF2B5EF4-FFF2-40B4-BE49-F238E27FC236}">
                  <a16:creationId xmlns:a16="http://schemas.microsoft.com/office/drawing/2014/main" id="{117FA22F-CBA8-4CF5-B8CC-2D169B67E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4" name="Freeform 19">
              <a:extLst>
                <a:ext uri="{FF2B5EF4-FFF2-40B4-BE49-F238E27FC236}">
                  <a16:creationId xmlns:a16="http://schemas.microsoft.com/office/drawing/2014/main" id="{8FB2D443-8598-4CEE-AED2-BEF49AA95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5" name="Freeform 20">
              <a:extLst>
                <a:ext uri="{FF2B5EF4-FFF2-40B4-BE49-F238E27FC236}">
                  <a16:creationId xmlns:a16="http://schemas.microsoft.com/office/drawing/2014/main" id="{92593E33-68AF-485D-99D0-080CEA197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6" name="Freeform 21">
              <a:extLst>
                <a:ext uri="{FF2B5EF4-FFF2-40B4-BE49-F238E27FC236}">
                  <a16:creationId xmlns:a16="http://schemas.microsoft.com/office/drawing/2014/main" id="{96A28427-575C-4904-AC4B-3DD62801D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7" name="Freeform 22">
              <a:extLst>
                <a:ext uri="{FF2B5EF4-FFF2-40B4-BE49-F238E27FC236}">
                  <a16:creationId xmlns:a16="http://schemas.microsoft.com/office/drawing/2014/main" id="{782FA736-DE89-4D13-B0A7-3906B32CE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4529540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Status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Låneavtaler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/Status loan agreements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grpSp>
        <p:nvGrpSpPr>
          <p:cNvPr id="178" name="Group 117">
            <a:extLst>
              <a:ext uri="{FF2B5EF4-FFF2-40B4-BE49-F238E27FC236}">
                <a16:creationId xmlns:a16="http://schemas.microsoft.com/office/drawing/2014/main" id="{6A54B62D-FC5C-4E1A-8D8B-279576FE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79" name="Freeform 27">
              <a:extLst>
                <a:ext uri="{FF2B5EF4-FFF2-40B4-BE49-F238E27FC236}">
                  <a16:creationId xmlns:a16="http://schemas.microsoft.com/office/drawing/2014/main" id="{4706D2CB-CE4C-4F40-B189-FD7BB4466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0" name="Freeform 28">
              <a:extLst>
                <a:ext uri="{FF2B5EF4-FFF2-40B4-BE49-F238E27FC236}">
                  <a16:creationId xmlns:a16="http://schemas.microsoft.com/office/drawing/2014/main" id="{2714CF7E-2DF6-4F91-8BB2-D62E8B549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1" name="Freeform 29">
              <a:extLst>
                <a:ext uri="{FF2B5EF4-FFF2-40B4-BE49-F238E27FC236}">
                  <a16:creationId xmlns:a16="http://schemas.microsoft.com/office/drawing/2014/main" id="{F30DCFE1-624D-4D3C-AC61-757C2FF35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2" name="Freeform 30">
              <a:extLst>
                <a:ext uri="{FF2B5EF4-FFF2-40B4-BE49-F238E27FC236}">
                  <a16:creationId xmlns:a16="http://schemas.microsoft.com/office/drawing/2014/main" id="{BF08ABFE-DD31-4F1F-9520-93CC613CD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3" name="Freeform 31">
              <a:extLst>
                <a:ext uri="{FF2B5EF4-FFF2-40B4-BE49-F238E27FC236}">
                  <a16:creationId xmlns:a16="http://schemas.microsoft.com/office/drawing/2014/main" id="{ADFB2DBD-F00A-4820-876F-4E75F216B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" name="Freeform 32">
              <a:extLst>
                <a:ext uri="{FF2B5EF4-FFF2-40B4-BE49-F238E27FC236}">
                  <a16:creationId xmlns:a16="http://schemas.microsoft.com/office/drawing/2014/main" id="{3F85387B-5668-4570-BC5C-AA89417C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5" name="Freeform 33">
              <a:extLst>
                <a:ext uri="{FF2B5EF4-FFF2-40B4-BE49-F238E27FC236}">
                  <a16:creationId xmlns:a16="http://schemas.microsoft.com/office/drawing/2014/main" id="{FEA70EF6-623D-453D-8360-1B0C142A2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6" name="Freeform 34">
              <a:extLst>
                <a:ext uri="{FF2B5EF4-FFF2-40B4-BE49-F238E27FC236}">
                  <a16:creationId xmlns:a16="http://schemas.microsoft.com/office/drawing/2014/main" id="{FE3B449C-A5FE-44B9-A01C-A115C37D3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7" name="Freeform 35">
              <a:extLst>
                <a:ext uri="{FF2B5EF4-FFF2-40B4-BE49-F238E27FC236}">
                  <a16:creationId xmlns:a16="http://schemas.microsoft.com/office/drawing/2014/main" id="{BD672E89-DAB4-41AE-891D-6B6A52B0E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8" name="Freeform 36">
              <a:extLst>
                <a:ext uri="{FF2B5EF4-FFF2-40B4-BE49-F238E27FC236}">
                  <a16:creationId xmlns:a16="http://schemas.microsoft.com/office/drawing/2014/main" id="{C69123C3-F0F9-4AA7-BA7B-9E5E0AF27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9" name="Freeform 37">
              <a:extLst>
                <a:ext uri="{FF2B5EF4-FFF2-40B4-BE49-F238E27FC236}">
                  <a16:creationId xmlns:a16="http://schemas.microsoft.com/office/drawing/2014/main" id="{E10779C5-3DD9-489D-9A2D-EF45B7BE3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0" name="Freeform 38">
              <a:extLst>
                <a:ext uri="{FF2B5EF4-FFF2-40B4-BE49-F238E27FC236}">
                  <a16:creationId xmlns:a16="http://schemas.microsoft.com/office/drawing/2014/main" id="{1D3B4B35-2090-4DA8-ADBE-DD888B4E1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91" name="Rectangle 131">
            <a:extLst>
              <a:ext uri="{FF2B5EF4-FFF2-40B4-BE49-F238E27FC236}">
                <a16:creationId xmlns:a16="http://schemas.microsoft.com/office/drawing/2014/main" id="{46FA917F-43A3-4FA3-A085-59D0DC397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92" name="Freeform 33">
            <a:extLst>
              <a:ext uri="{FF2B5EF4-FFF2-40B4-BE49-F238E27FC236}">
                <a16:creationId xmlns:a16="http://schemas.microsoft.com/office/drawing/2014/main" id="{9CBF007B-8C8C-4F79-B037-9F4C61F9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pic>
        <p:nvPicPr>
          <p:cNvPr id="25" name="Bilde 24">
            <a:extLst>
              <a:ext uri="{FF2B5EF4-FFF2-40B4-BE49-F238E27FC236}">
                <a16:creationId xmlns:a16="http://schemas.microsoft.com/office/drawing/2014/main" id="{6DBAE326-936F-090E-EC1A-229EE194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410" y="1166037"/>
            <a:ext cx="7380952" cy="3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5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" name="Picture 15" descr="Hvitt puslespill med én rød brikke">
            <a:extLst>
              <a:ext uri="{FF2B5EF4-FFF2-40B4-BE49-F238E27FC236}">
                <a16:creationId xmlns:a16="http://schemas.microsoft.com/office/drawing/2014/main" id="{BC3A7EEF-0C0C-1D5C-3847-DE7419F5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9" r="18155"/>
          <a:stretch/>
        </p:blipFill>
        <p:spPr>
          <a:xfrm>
            <a:off x="1" y="10"/>
            <a:ext cx="4331230" cy="6857990"/>
          </a:xfrm>
          <a:prstGeom prst="rect">
            <a:avLst/>
          </a:prstGeom>
        </p:spPr>
      </p:pic>
      <p:sp>
        <p:nvSpPr>
          <p:cNvPr id="101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en-US" sz="3200" b="1" dirty="0" err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Potensielt</a:t>
            </a:r>
            <a:r>
              <a:rPr lang="en-US" sz="3200" b="1" dirty="0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GAP</a:t>
            </a:r>
            <a:r>
              <a:rPr lang="en-US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/Potential GAP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2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582" y="2017668"/>
            <a:ext cx="3750205" cy="3857816"/>
          </a:xfrm>
        </p:spPr>
        <p:txBody>
          <a:bodyPr>
            <a:normAutofit/>
          </a:bodyPr>
          <a:lstStyle/>
          <a:p>
            <a:pPr marL="0" indent="0">
              <a:buClr>
                <a:srgbClr val="AB2310"/>
              </a:buClr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Perspective on the GAP to meet conditions and the entire loan framework.</a:t>
            </a:r>
          </a:p>
          <a:p>
            <a:pPr marL="0" indent="0">
              <a:buClr>
                <a:srgbClr val="AB2310"/>
              </a:buClr>
              <a:buNone/>
            </a:pP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to meet conditions: Closed</a:t>
            </a:r>
          </a:p>
          <a:p>
            <a:pPr marL="0" indent="0">
              <a:buClr>
                <a:srgbClr val="AB2310"/>
              </a:buClr>
              <a:buNone/>
            </a:pP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to fulfill the loan agreement: NOK 72,000</a:t>
            </a:r>
            <a:endParaRPr lang="nb-NO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98A2AF49-C4F4-0378-5812-CD4FDDD91BEB}"/>
              </a:ext>
            </a:extLst>
          </p:cNvPr>
          <p:cNvSpPr txBox="1">
            <a:spLocks/>
          </p:cNvSpPr>
          <p:nvPr/>
        </p:nvSpPr>
        <p:spPr>
          <a:xfrm>
            <a:off x="4371804" y="2017668"/>
            <a:ext cx="3750205" cy="3857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Perspektiv rundt GAP til å innfri forbehold og hele låneramme.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for å innfri forbehold: </a:t>
            </a:r>
            <a:r>
              <a:rPr lang="nb-NO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Closed</a:t>
            </a:r>
            <a:endParaRPr lang="nb-NO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for å innfri  låneavtalen: NOK 72 000,-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6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764" y="1731817"/>
            <a:ext cx="3275877" cy="759691"/>
          </a:xfrm>
        </p:spPr>
        <p:txBody>
          <a:bodyPr>
            <a:normAutofit/>
          </a:bodyPr>
          <a:lstStyle/>
          <a:p>
            <a:pPr lvl="0"/>
            <a:r>
              <a:rPr lang="nb-NO" sz="18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Conditions</a:t>
            </a:r>
            <a:r>
              <a:rPr lang="nb-NO" sz="1800" b="1" dirty="0">
                <a:ea typeface="Aptos" panose="020B0004020202020204" pitchFamily="34" charset="0"/>
                <a:cs typeface="Times New Roman" panose="02020603050405020304" pitchFamily="18" charset="0"/>
              </a:rPr>
              <a:t> met, </a:t>
            </a:r>
            <a:r>
              <a:rPr lang="nb-NO" sz="18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actions</a:t>
            </a:r>
            <a:r>
              <a:rPr lang="nb-NO" sz="1800" b="1" dirty="0"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nb-NO" sz="18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milestones</a:t>
            </a:r>
            <a:endParaRPr lang="nb-NO" sz="18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765" y="2551059"/>
            <a:ext cx="3275878" cy="2912534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rgbClr val="AB2310"/>
              </a:buClr>
              <a:buNone/>
            </a:pPr>
            <a:r>
              <a:rPr lang="en-US" sz="1200" dirty="0"/>
              <a:t>Signing of loan agreements: Hard deadline immediately after the fulfillment of the loan agreement.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en-US" sz="1200" dirty="0"/>
              <a:t>Payment of loans: Hard deadline immediately after signing the loan agreement.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en-US" sz="1200" dirty="0"/>
              <a:t>Payment of AGA (Employer's National Insurance Contributions)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en-US" sz="1200" dirty="0"/>
              <a:t>Payment to BDO (Accounting/Audit Firm)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en-US" sz="1200" dirty="0"/>
              <a:t>Ensure that the financial statements are completed by the auditor and approved by the Company Register.</a:t>
            </a:r>
          </a:p>
          <a:p>
            <a:pPr marL="0" indent="0">
              <a:buClr>
                <a:srgbClr val="AB2310"/>
              </a:buClr>
              <a:buNone/>
            </a:pPr>
            <a:r>
              <a:rPr lang="en-US" sz="1200" dirty="0"/>
              <a:t>Apply for a new "Certificate of Good Standing."</a:t>
            </a:r>
            <a:endParaRPr lang="nb-NO" sz="1200" dirty="0"/>
          </a:p>
          <a:p>
            <a:pPr marL="0" indent="0">
              <a:buClr>
                <a:srgbClr val="AB2310"/>
              </a:buClr>
              <a:buNone/>
            </a:pPr>
            <a:endParaRPr lang="nb-NO" dirty="0"/>
          </a:p>
        </p:txBody>
      </p:sp>
      <p:pic>
        <p:nvPicPr>
          <p:cNvPr id="40" name="Picture 15" descr="Hvitt puslespill med én rød brikke">
            <a:extLst>
              <a:ext uri="{FF2B5EF4-FFF2-40B4-BE49-F238E27FC236}">
                <a16:creationId xmlns:a16="http://schemas.microsoft.com/office/drawing/2014/main" id="{BC3A7EEF-0C0C-1D5C-3847-DE7419F5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25" r="29659" b="-2"/>
          <a:stretch/>
        </p:blipFill>
        <p:spPr>
          <a:xfrm>
            <a:off x="7736146" y="711199"/>
            <a:ext cx="3768466" cy="5419237"/>
          </a:xfrm>
          <a:prstGeom prst="rect">
            <a:avLst/>
          </a:prstGeom>
        </p:spPr>
      </p:pic>
      <p:sp>
        <p:nvSpPr>
          <p:cNvPr id="3" name="Tittel 1">
            <a:extLst>
              <a:ext uri="{FF2B5EF4-FFF2-40B4-BE49-F238E27FC236}">
                <a16:creationId xmlns:a16="http://schemas.microsoft.com/office/drawing/2014/main" id="{8520C2F9-DECD-A5EE-BEA3-E6E957F78E92}"/>
              </a:ext>
            </a:extLst>
          </p:cNvPr>
          <p:cNvSpPr txBox="1">
            <a:spLocks/>
          </p:cNvSpPr>
          <p:nvPr/>
        </p:nvSpPr>
        <p:spPr>
          <a:xfrm>
            <a:off x="687387" y="1731817"/>
            <a:ext cx="3275877" cy="7596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nb-NO" sz="1800" b="1">
                <a:ea typeface="Aptos" panose="020B0004020202020204" pitchFamily="34" charset="0"/>
                <a:cs typeface="Times New Roman" panose="02020603050405020304" pitchFamily="18" charset="0"/>
              </a:rPr>
              <a:t>Forbehold innfridd, aksjoner og milepeler.</a:t>
            </a:r>
            <a:endParaRPr lang="nb-NO" sz="1800" b="1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E59B43F7-A5A0-766A-6DA9-EBDD0552389D}"/>
              </a:ext>
            </a:extLst>
          </p:cNvPr>
          <p:cNvSpPr txBox="1">
            <a:spLocks/>
          </p:cNvSpPr>
          <p:nvPr/>
        </p:nvSpPr>
        <p:spPr>
          <a:xfrm>
            <a:off x="687388" y="2551059"/>
            <a:ext cx="3275878" cy="2912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200" dirty="0"/>
              <a:t>Signering av låneavtaler hard deadline umiddelbart etter innfrielse av låneavtale.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200" dirty="0"/>
              <a:t>Innbetaling av lån hard deadline, umiddelbart etter signering av låneavtale.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200" dirty="0"/>
              <a:t>Betaling av AGA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200" dirty="0"/>
              <a:t>Betaling av BDO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200" dirty="0"/>
              <a:t>Sikre at regnskap blir ferdigstilt hos revisor og godkjent hos Foretaksregisteret.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r>
              <a:rPr lang="nb-NO" sz="1200" dirty="0"/>
              <a:t>Søke ny «</a:t>
            </a:r>
            <a:r>
              <a:rPr lang="nb-NO" sz="1200" dirty="0" err="1"/>
              <a:t>Certificate</a:t>
            </a:r>
            <a:r>
              <a:rPr lang="nb-NO" sz="1200" dirty="0"/>
              <a:t> </a:t>
            </a:r>
            <a:r>
              <a:rPr lang="nb-NO" sz="1200" dirty="0" err="1"/>
              <a:t>of</a:t>
            </a:r>
            <a:r>
              <a:rPr lang="nb-NO" sz="1200" dirty="0"/>
              <a:t> Good </a:t>
            </a:r>
            <a:r>
              <a:rPr lang="nb-NO" sz="1200" dirty="0" err="1"/>
              <a:t>Standing</a:t>
            </a:r>
            <a:r>
              <a:rPr lang="nb-NO" sz="1200" dirty="0"/>
              <a:t>.</a:t>
            </a:r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sz="1200" dirty="0"/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dirty="0"/>
          </a:p>
          <a:p>
            <a:pPr marL="0" indent="0">
              <a:buClr>
                <a:srgbClr val="AB2310"/>
              </a:buClr>
              <a:buFont typeface="Wingdings 3" charset="2"/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904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en-US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2EC4C47-B4BA-EEDF-3FCF-647FF560E06C}"/>
              </a:ext>
            </a:extLst>
          </p:cNvPr>
          <p:cNvSpPr txBox="1"/>
          <p:nvPr/>
        </p:nvSpPr>
        <p:spPr>
          <a:xfrm>
            <a:off x="5495637" y="3067602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Ingen nye tema</a:t>
            </a:r>
          </a:p>
        </p:txBody>
      </p:sp>
    </p:spTree>
    <p:extLst>
      <p:ext uri="{BB962C8B-B14F-4D97-AF65-F5344CB8AC3E}">
        <p14:creationId xmlns:p14="http://schemas.microsoft.com/office/powerpoint/2010/main" val="93110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2513</TotalTime>
  <Words>259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4" baseType="lpstr">
      <vt:lpstr>Aptos</vt:lpstr>
      <vt:lpstr>Arial</vt:lpstr>
      <vt:lpstr>Century Gothic</vt:lpstr>
      <vt:lpstr>Segoe UI</vt:lpstr>
      <vt:lpstr>Times New Roman</vt:lpstr>
      <vt:lpstr>Wingdings 3</vt:lpstr>
      <vt:lpstr>Tryllestav</vt:lpstr>
      <vt:lpstr>Shareholder meeting FOS</vt:lpstr>
      <vt:lpstr>Agenda iht. aksjons punkter 07.08.2024</vt:lpstr>
      <vt:lpstr>Status Låneavtaler/Status loan agreements</vt:lpstr>
      <vt:lpstr>Potensielt GAP/Potential GAP</vt:lpstr>
      <vt:lpstr>Conditions met, actions and milestones</vt:lpstr>
      <vt:lpstr>AOB</vt:lpstr>
      <vt:lpstr>Takk for oppmøte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14</cp:revision>
  <dcterms:created xsi:type="dcterms:W3CDTF">2024-06-24T07:04:37Z</dcterms:created>
  <dcterms:modified xsi:type="dcterms:W3CDTF">2024-08-14T11:50:59Z</dcterms:modified>
</cp:coreProperties>
</file>