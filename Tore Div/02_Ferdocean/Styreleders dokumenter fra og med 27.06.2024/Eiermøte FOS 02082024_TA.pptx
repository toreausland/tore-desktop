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9" r:id="rId3"/>
    <p:sldId id="258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4B56B9-C58A-45C2-860B-744AB6F652BE}" v="87" dt="2024-08-02T09:59:28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4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e Ausland" userId="aba57685-d7d9-45f9-a74d-a4b3d109653f" providerId="ADAL" clId="{2B4B56B9-C58A-45C2-860B-744AB6F652BE}"/>
    <pc:docChg chg="undo custSel delSld modSld">
      <pc:chgData name="Tore Ausland" userId="aba57685-d7d9-45f9-a74d-a4b3d109653f" providerId="ADAL" clId="{2B4B56B9-C58A-45C2-860B-744AB6F652BE}" dt="2024-08-02T10:00:20.080" v="417" actId="207"/>
      <pc:docMkLst>
        <pc:docMk/>
      </pc:docMkLst>
      <pc:sldChg chg="del">
        <pc:chgData name="Tore Ausland" userId="aba57685-d7d9-45f9-a74d-a4b3d109653f" providerId="ADAL" clId="{2B4B56B9-C58A-45C2-860B-744AB6F652BE}" dt="2024-08-01T14:13:35.146" v="0" actId="47"/>
        <pc:sldMkLst>
          <pc:docMk/>
          <pc:sldMk cId="3378622371" sldId="261"/>
        </pc:sldMkLst>
      </pc:sldChg>
      <pc:sldChg chg="addSp modSp mod">
        <pc:chgData name="Tore Ausland" userId="aba57685-d7d9-45f9-a74d-a4b3d109653f" providerId="ADAL" clId="{2B4B56B9-C58A-45C2-860B-744AB6F652BE}" dt="2024-08-02T10:00:20.080" v="417" actId="207"/>
        <pc:sldMkLst>
          <pc:docMk/>
          <pc:sldMk cId="2699261131" sldId="265"/>
        </pc:sldMkLst>
        <pc:spChg chg="add mod ord">
          <ac:chgData name="Tore Ausland" userId="aba57685-d7d9-45f9-a74d-a4b3d109653f" providerId="ADAL" clId="{2B4B56B9-C58A-45C2-860B-744AB6F652BE}" dt="2024-08-02T10:00:20.080" v="417" actId="207"/>
          <ac:spMkLst>
            <pc:docMk/>
            <pc:sldMk cId="2699261131" sldId="265"/>
            <ac:spMk id="3" creationId="{A43360FB-A1CC-6138-1932-E3D11CCDD1FE}"/>
          </ac:spMkLst>
        </pc:spChg>
        <pc:spChg chg="add mod">
          <ac:chgData name="Tore Ausland" userId="aba57685-d7d9-45f9-a74d-a4b3d109653f" providerId="ADAL" clId="{2B4B56B9-C58A-45C2-860B-744AB6F652BE}" dt="2024-08-02T09:59:38.032" v="412" actId="207"/>
          <ac:spMkLst>
            <pc:docMk/>
            <pc:sldMk cId="2699261131" sldId="265"/>
            <ac:spMk id="4" creationId="{A70043BF-AC17-0292-003A-A14AC1C0A31D}"/>
          </ac:spMkLst>
        </pc:spChg>
        <pc:graphicFrameChg chg="mod modGraphic">
          <ac:chgData name="Tore Ausland" userId="aba57685-d7d9-45f9-a74d-a4b3d109653f" providerId="ADAL" clId="{2B4B56B9-C58A-45C2-860B-744AB6F652BE}" dt="2024-08-02T09:59:15.922" v="409"/>
          <ac:graphicFrameMkLst>
            <pc:docMk/>
            <pc:sldMk cId="2699261131" sldId="265"/>
            <ac:graphicFrameMk id="5" creationId="{45BCCFCA-DE5E-66B4-D1F3-3177EF6D4B92}"/>
          </ac:graphicFrameMkLst>
        </pc:graphicFrameChg>
      </pc:sldChg>
      <pc:sldChg chg="modSp mod">
        <pc:chgData name="Tore Ausland" userId="aba57685-d7d9-45f9-a74d-a4b3d109653f" providerId="ADAL" clId="{2B4B56B9-C58A-45C2-860B-744AB6F652BE}" dt="2024-08-02T08:59:54.336" v="231" actId="20577"/>
        <pc:sldMkLst>
          <pc:docMk/>
          <pc:sldMk cId="1808753200" sldId="266"/>
        </pc:sldMkLst>
        <pc:spChg chg="mod">
          <ac:chgData name="Tore Ausland" userId="aba57685-d7d9-45f9-a74d-a4b3d109653f" providerId="ADAL" clId="{2B4B56B9-C58A-45C2-860B-744AB6F652BE}" dt="2024-08-02T08:59:54.336" v="231" actId="20577"/>
          <ac:spMkLst>
            <pc:docMk/>
            <pc:sldMk cId="1808753200" sldId="266"/>
            <ac:spMk id="4" creationId="{7AE0090D-9605-1ED6-A730-D7064BA6F4A5}"/>
          </ac:spMkLst>
        </pc:spChg>
      </pc:sldChg>
      <pc:sldChg chg="modSp">
        <pc:chgData name="Tore Ausland" userId="aba57685-d7d9-45f9-a74d-a4b3d109653f" providerId="ADAL" clId="{2B4B56B9-C58A-45C2-860B-744AB6F652BE}" dt="2024-08-01T17:33:44.730" v="61" actId="20577"/>
        <pc:sldMkLst>
          <pc:docMk/>
          <pc:sldMk cId="799612815" sldId="268"/>
        </pc:sldMkLst>
        <pc:graphicFrameChg chg="mod">
          <ac:chgData name="Tore Ausland" userId="aba57685-d7d9-45f9-a74d-a4b3d109653f" providerId="ADAL" clId="{2B4B56B9-C58A-45C2-860B-744AB6F652BE}" dt="2024-08-01T17:33:44.730" v="61" actId="20577"/>
          <ac:graphicFrameMkLst>
            <pc:docMk/>
            <pc:sldMk cId="799612815" sldId="268"/>
            <ac:graphicFrameMk id="24" creationId="{841A9EBF-A694-9FA4-7C9C-1F8A91883EF9}"/>
          </ac:graphicFrameMkLst>
        </pc:graphicFrameChg>
      </pc:sldChg>
      <pc:sldChg chg="modSp">
        <pc:chgData name="Tore Ausland" userId="aba57685-d7d9-45f9-a74d-a4b3d109653f" providerId="ADAL" clId="{2B4B56B9-C58A-45C2-860B-744AB6F652BE}" dt="2024-08-02T09:02:10.913" v="272" actId="20577"/>
        <pc:sldMkLst>
          <pc:docMk/>
          <pc:sldMk cId="4011975418" sldId="269"/>
        </pc:sldMkLst>
        <pc:graphicFrameChg chg="mod">
          <ac:chgData name="Tore Ausland" userId="aba57685-d7d9-45f9-a74d-a4b3d109653f" providerId="ADAL" clId="{2B4B56B9-C58A-45C2-860B-744AB6F652BE}" dt="2024-08-02T09:02:10.913" v="272" actId="20577"/>
          <ac:graphicFrameMkLst>
            <pc:docMk/>
            <pc:sldMk cId="4011975418" sldId="269"/>
            <ac:graphicFrameMk id="16" creationId="{A83BE3DD-E16B-BB7D-2A94-AEB04C625491}"/>
          </ac:graphicFrameMkLst>
        </pc:graphicFrameChg>
      </pc:sldChg>
      <pc:sldChg chg="modSp mod">
        <pc:chgData name="Tore Ausland" userId="aba57685-d7d9-45f9-a74d-a4b3d109653f" providerId="ADAL" clId="{2B4B56B9-C58A-45C2-860B-744AB6F652BE}" dt="2024-08-01T17:36:13.089" v="153" actId="6549"/>
        <pc:sldMkLst>
          <pc:docMk/>
          <pc:sldMk cId="1366365572" sldId="270"/>
        </pc:sldMkLst>
        <pc:spChg chg="mod">
          <ac:chgData name="Tore Ausland" userId="aba57685-d7d9-45f9-a74d-a4b3d109653f" providerId="ADAL" clId="{2B4B56B9-C58A-45C2-860B-744AB6F652BE}" dt="2024-08-01T17:36:13.089" v="153" actId="6549"/>
          <ac:spMkLst>
            <pc:docMk/>
            <pc:sldMk cId="1366365572" sldId="270"/>
            <ac:spMk id="3" creationId="{93523F7B-DC99-782F-D6DC-C49BC5B1C85D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E33548-4A04-492F-8408-FC41F462D6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36031DA-F80B-4846-B96F-D1C489B2200C}">
      <dgm:prSet/>
      <dgm:spPr/>
      <dgm:t>
        <a:bodyPr/>
        <a:lstStyle/>
        <a:p>
          <a:pPr>
            <a:lnSpc>
              <a:spcPct val="100000"/>
            </a:lnSpc>
          </a:pPr>
          <a:r>
            <a:rPr lang="nb-NO"/>
            <a:t>Det mangler noe info fra daglig leder og styret, inne ila uken.</a:t>
          </a:r>
          <a:endParaRPr lang="en-US"/>
        </a:p>
      </dgm:t>
    </dgm:pt>
    <dgm:pt modelId="{8FEC9FC3-D085-45FC-BC83-ED5A64DAF7D1}" type="parTrans" cxnId="{3A41C151-1CAA-4CDC-9D92-3954135300CE}">
      <dgm:prSet/>
      <dgm:spPr/>
      <dgm:t>
        <a:bodyPr/>
        <a:lstStyle/>
        <a:p>
          <a:endParaRPr lang="en-US"/>
        </a:p>
      </dgm:t>
    </dgm:pt>
    <dgm:pt modelId="{A769326F-9A94-4B44-ACA9-191CBBC29683}" type="sibTrans" cxnId="{3A41C151-1CAA-4CDC-9D92-3954135300CE}">
      <dgm:prSet/>
      <dgm:spPr/>
      <dgm:t>
        <a:bodyPr/>
        <a:lstStyle/>
        <a:p>
          <a:endParaRPr lang="en-US"/>
        </a:p>
      </dgm:t>
    </dgm:pt>
    <dgm:pt modelId="{1CCC009C-632D-4595-9642-2E66A5A47F26}">
      <dgm:prSet/>
      <dgm:spPr/>
      <dgm:t>
        <a:bodyPr/>
        <a:lstStyle/>
        <a:p>
          <a:pPr>
            <a:lnSpc>
              <a:spcPct val="100000"/>
            </a:lnSpc>
          </a:pPr>
          <a:r>
            <a:rPr lang="nb-NO" dirty="0" err="1"/>
            <a:t>Certificate</a:t>
          </a:r>
          <a:r>
            <a:rPr lang="nb-NO" dirty="0"/>
            <a:t> </a:t>
          </a:r>
          <a:r>
            <a:rPr lang="nb-NO" dirty="0" err="1"/>
            <a:t>of</a:t>
          </a:r>
          <a:r>
            <a:rPr lang="nb-NO" dirty="0"/>
            <a:t> </a:t>
          </a:r>
          <a:r>
            <a:rPr lang="nb-NO" dirty="0" err="1"/>
            <a:t>good</a:t>
          </a:r>
          <a:r>
            <a:rPr lang="nb-NO" dirty="0"/>
            <a:t> </a:t>
          </a:r>
          <a:r>
            <a:rPr lang="nb-NO" dirty="0" err="1"/>
            <a:t>standing</a:t>
          </a:r>
          <a:r>
            <a:rPr lang="nb-NO" dirty="0"/>
            <a:t> må bestilles på nytt etter at regnskap er godkjent fra revisor og innlevert foretaksregisteret.</a:t>
          </a:r>
          <a:endParaRPr lang="en-US" dirty="0"/>
        </a:p>
      </dgm:t>
    </dgm:pt>
    <dgm:pt modelId="{6D910276-325D-4B62-88E4-16E7A0CC8957}" type="parTrans" cxnId="{1522EAD9-461B-417D-85C4-ADC5AAF688DD}">
      <dgm:prSet/>
      <dgm:spPr/>
      <dgm:t>
        <a:bodyPr/>
        <a:lstStyle/>
        <a:p>
          <a:endParaRPr lang="en-US"/>
        </a:p>
      </dgm:t>
    </dgm:pt>
    <dgm:pt modelId="{594792B5-9217-4BCF-98E9-B8D081DD2F79}" type="sibTrans" cxnId="{1522EAD9-461B-417D-85C4-ADC5AAF688DD}">
      <dgm:prSet/>
      <dgm:spPr/>
      <dgm:t>
        <a:bodyPr/>
        <a:lstStyle/>
        <a:p>
          <a:endParaRPr lang="en-US"/>
        </a:p>
      </dgm:t>
    </dgm:pt>
    <dgm:pt modelId="{1DA481FC-8A73-4B07-B14B-1F0AD6C2DF4D}">
      <dgm:prSet/>
      <dgm:spPr/>
      <dgm:t>
        <a:bodyPr/>
        <a:lstStyle/>
        <a:p>
          <a:pPr>
            <a:lnSpc>
              <a:spcPct val="100000"/>
            </a:lnSpc>
          </a:pPr>
          <a:r>
            <a:rPr lang="nb-NO" dirty="0"/>
            <a:t>AGA må enten betales eller vi må få en utsatt betalingsfrist.</a:t>
          </a:r>
          <a:endParaRPr lang="en-US" dirty="0"/>
        </a:p>
      </dgm:t>
    </dgm:pt>
    <dgm:pt modelId="{9C0D2269-89FD-423B-B5DB-8DD835F5B64C}" type="parTrans" cxnId="{821B7637-A697-4DE4-B5D8-36A2D9B28A60}">
      <dgm:prSet/>
      <dgm:spPr/>
      <dgm:t>
        <a:bodyPr/>
        <a:lstStyle/>
        <a:p>
          <a:endParaRPr lang="en-US"/>
        </a:p>
      </dgm:t>
    </dgm:pt>
    <dgm:pt modelId="{AA617F0E-BE92-4C77-AEBE-9DA992A1D4DC}" type="sibTrans" cxnId="{821B7637-A697-4DE4-B5D8-36A2D9B28A60}">
      <dgm:prSet/>
      <dgm:spPr/>
      <dgm:t>
        <a:bodyPr/>
        <a:lstStyle/>
        <a:p>
          <a:endParaRPr lang="en-US"/>
        </a:p>
      </dgm:t>
    </dgm:pt>
    <dgm:pt modelId="{545BD14E-E4D2-4EC8-8A97-C87461A99913}" type="pres">
      <dgm:prSet presAssocID="{3AE33548-4A04-492F-8408-FC41F462D62B}" presName="root" presStyleCnt="0">
        <dgm:presLayoutVars>
          <dgm:dir/>
          <dgm:resizeHandles val="exact"/>
        </dgm:presLayoutVars>
      </dgm:prSet>
      <dgm:spPr/>
    </dgm:pt>
    <dgm:pt modelId="{E44B43BD-6082-4ACF-93BC-1435450CCB2A}" type="pres">
      <dgm:prSet presAssocID="{036031DA-F80B-4846-B96F-D1C489B2200C}" presName="compNode" presStyleCnt="0"/>
      <dgm:spPr/>
    </dgm:pt>
    <dgm:pt modelId="{F129F3F6-CFCC-45CC-B0B1-D278BA56A997}" type="pres">
      <dgm:prSet presAssocID="{036031DA-F80B-4846-B96F-D1C489B2200C}" presName="bgRect" presStyleLbl="bgShp" presStyleIdx="0" presStyleCnt="3" custScaleY="83605" custLinFactNeighborX="54" custLinFactNeighborY="-22725"/>
      <dgm:spPr/>
    </dgm:pt>
    <dgm:pt modelId="{51B1319C-6E93-4725-A2EF-E75C977A6F56}" type="pres">
      <dgm:prSet presAssocID="{036031DA-F80B-4846-B96F-D1C489B2200C}" presName="iconRect" presStyleLbl="node1" presStyleIdx="0" presStyleCnt="3" custLinFactNeighborY="-1228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ørsmål"/>
        </a:ext>
      </dgm:extLst>
    </dgm:pt>
    <dgm:pt modelId="{00BE89F9-3671-4B9F-9E40-3B3EE05BEA47}" type="pres">
      <dgm:prSet presAssocID="{036031DA-F80B-4846-B96F-D1C489B2200C}" presName="spaceRect" presStyleCnt="0"/>
      <dgm:spPr/>
    </dgm:pt>
    <dgm:pt modelId="{2D646B35-2281-438F-9D88-F327E4093134}" type="pres">
      <dgm:prSet presAssocID="{036031DA-F80B-4846-B96F-D1C489B2200C}" presName="parTx" presStyleLbl="revTx" presStyleIdx="0" presStyleCnt="3">
        <dgm:presLayoutVars>
          <dgm:chMax val="0"/>
          <dgm:chPref val="0"/>
        </dgm:presLayoutVars>
      </dgm:prSet>
      <dgm:spPr/>
    </dgm:pt>
    <dgm:pt modelId="{8E1A2322-C264-4D8F-93A9-33E30D571940}" type="pres">
      <dgm:prSet presAssocID="{A769326F-9A94-4B44-ACA9-191CBBC29683}" presName="sibTrans" presStyleCnt="0"/>
      <dgm:spPr/>
    </dgm:pt>
    <dgm:pt modelId="{F2B87241-0A70-4C85-A2EA-FA6E56B4DEF4}" type="pres">
      <dgm:prSet presAssocID="{1CCC009C-632D-4595-9642-2E66A5A47F26}" presName="compNode" presStyleCnt="0"/>
      <dgm:spPr/>
    </dgm:pt>
    <dgm:pt modelId="{88652508-B256-4F13-AC36-2DC30905770F}" type="pres">
      <dgm:prSet presAssocID="{1CCC009C-632D-4595-9642-2E66A5A47F26}" presName="bgRect" presStyleLbl="bgShp" presStyleIdx="1" presStyleCnt="3" custScaleY="65764" custLinFactNeighborX="54" custLinFactNeighborY="-39135"/>
      <dgm:spPr/>
    </dgm:pt>
    <dgm:pt modelId="{1F83C0A7-D788-41C7-AB6F-E9E8060D5A65}" type="pres">
      <dgm:prSet presAssocID="{1CCC009C-632D-4595-9642-2E66A5A47F26}" presName="iconRect" presStyleLbl="node1" presStyleIdx="1" presStyleCnt="3" custLinFactNeighborX="-1117" custLinFactNeighborY="-7089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36E9B016-6320-4EE9-9FDE-0D312FD2F660}" type="pres">
      <dgm:prSet presAssocID="{1CCC009C-632D-4595-9642-2E66A5A47F26}" presName="spaceRect" presStyleCnt="0"/>
      <dgm:spPr/>
    </dgm:pt>
    <dgm:pt modelId="{87D3FF0A-8571-439F-A376-787EAEE11BCA}" type="pres">
      <dgm:prSet presAssocID="{1CCC009C-632D-4595-9642-2E66A5A47F26}" presName="parTx" presStyleLbl="revTx" presStyleIdx="1" presStyleCnt="3" custLinFactNeighborX="-4169" custLinFactNeighborY="-39162">
        <dgm:presLayoutVars>
          <dgm:chMax val="0"/>
          <dgm:chPref val="0"/>
        </dgm:presLayoutVars>
      </dgm:prSet>
      <dgm:spPr/>
    </dgm:pt>
    <dgm:pt modelId="{0FD04B53-4483-42A6-B011-D8C4BFF4646A}" type="pres">
      <dgm:prSet presAssocID="{594792B5-9217-4BCF-98E9-B8D081DD2F79}" presName="sibTrans" presStyleCnt="0"/>
      <dgm:spPr/>
    </dgm:pt>
    <dgm:pt modelId="{071AFE64-8559-4859-B977-A695400A4219}" type="pres">
      <dgm:prSet presAssocID="{1DA481FC-8A73-4B07-B14B-1F0AD6C2DF4D}" presName="compNode" presStyleCnt="0"/>
      <dgm:spPr/>
    </dgm:pt>
    <dgm:pt modelId="{C119A74B-5640-4DDF-86F0-EFEE9DB1D179}" type="pres">
      <dgm:prSet presAssocID="{1DA481FC-8A73-4B07-B14B-1F0AD6C2DF4D}" presName="bgRect" presStyleLbl="bgShp" presStyleIdx="2" presStyleCnt="3" custScaleY="55293" custLinFactNeighborX="54" custLinFactNeighborY="-86515"/>
      <dgm:spPr/>
    </dgm:pt>
    <dgm:pt modelId="{32757D7F-75A1-485A-B53B-60CB7E00985A}" type="pres">
      <dgm:prSet presAssocID="{1DA481FC-8A73-4B07-B14B-1F0AD6C2DF4D}" presName="iconRect" presStyleLbl="node1" presStyleIdx="2" presStyleCnt="3" custLinFactY="-58526" custLinFactNeighborX="2233" custLinFactNeighborY="-10000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sk"/>
        </a:ext>
      </dgm:extLst>
    </dgm:pt>
    <dgm:pt modelId="{E6D1C1DD-DEF7-4940-AC0E-35BED420E4AB}" type="pres">
      <dgm:prSet presAssocID="{1DA481FC-8A73-4B07-B14B-1F0AD6C2DF4D}" presName="spaceRect" presStyleCnt="0"/>
      <dgm:spPr/>
    </dgm:pt>
    <dgm:pt modelId="{15EC052C-EC49-46DB-8E58-048B26CF9C33}" type="pres">
      <dgm:prSet presAssocID="{1DA481FC-8A73-4B07-B14B-1F0AD6C2DF4D}" presName="parTx" presStyleLbl="revTx" presStyleIdx="2" presStyleCnt="3" custLinFactNeighborX="0" custLinFactNeighborY="-81253">
        <dgm:presLayoutVars>
          <dgm:chMax val="0"/>
          <dgm:chPref val="0"/>
        </dgm:presLayoutVars>
      </dgm:prSet>
      <dgm:spPr/>
    </dgm:pt>
  </dgm:ptLst>
  <dgm:cxnLst>
    <dgm:cxn modelId="{821B7637-A697-4DE4-B5D8-36A2D9B28A60}" srcId="{3AE33548-4A04-492F-8408-FC41F462D62B}" destId="{1DA481FC-8A73-4B07-B14B-1F0AD6C2DF4D}" srcOrd="2" destOrd="0" parTransId="{9C0D2269-89FD-423B-B5DB-8DD835F5B64C}" sibTransId="{AA617F0E-BE92-4C77-AEBE-9DA992A1D4DC}"/>
    <dgm:cxn modelId="{EF18574E-94F2-475E-B39B-7E924EE3F64D}" type="presOf" srcId="{1CCC009C-632D-4595-9642-2E66A5A47F26}" destId="{87D3FF0A-8571-439F-A376-787EAEE11BCA}" srcOrd="0" destOrd="0" presId="urn:microsoft.com/office/officeart/2018/2/layout/IconVerticalSolidList"/>
    <dgm:cxn modelId="{3A41C151-1CAA-4CDC-9D92-3954135300CE}" srcId="{3AE33548-4A04-492F-8408-FC41F462D62B}" destId="{036031DA-F80B-4846-B96F-D1C489B2200C}" srcOrd="0" destOrd="0" parTransId="{8FEC9FC3-D085-45FC-BC83-ED5A64DAF7D1}" sibTransId="{A769326F-9A94-4B44-ACA9-191CBBC29683}"/>
    <dgm:cxn modelId="{A6EA2D84-9BB1-4B1A-96A2-7267421083F0}" type="presOf" srcId="{3AE33548-4A04-492F-8408-FC41F462D62B}" destId="{545BD14E-E4D2-4EC8-8A97-C87461A99913}" srcOrd="0" destOrd="0" presId="urn:microsoft.com/office/officeart/2018/2/layout/IconVerticalSolidList"/>
    <dgm:cxn modelId="{1522EAD9-461B-417D-85C4-ADC5AAF688DD}" srcId="{3AE33548-4A04-492F-8408-FC41F462D62B}" destId="{1CCC009C-632D-4595-9642-2E66A5A47F26}" srcOrd="1" destOrd="0" parTransId="{6D910276-325D-4B62-88E4-16E7A0CC8957}" sibTransId="{594792B5-9217-4BCF-98E9-B8D081DD2F79}"/>
    <dgm:cxn modelId="{21EC99EA-028D-42E0-AF5E-009086084264}" type="presOf" srcId="{1DA481FC-8A73-4B07-B14B-1F0AD6C2DF4D}" destId="{15EC052C-EC49-46DB-8E58-048B26CF9C33}" srcOrd="0" destOrd="0" presId="urn:microsoft.com/office/officeart/2018/2/layout/IconVerticalSolidList"/>
    <dgm:cxn modelId="{D595CFF0-2CB2-4A8A-8C84-C667E0B15F6E}" type="presOf" srcId="{036031DA-F80B-4846-B96F-D1C489B2200C}" destId="{2D646B35-2281-438F-9D88-F327E4093134}" srcOrd="0" destOrd="0" presId="urn:microsoft.com/office/officeart/2018/2/layout/IconVerticalSolidList"/>
    <dgm:cxn modelId="{B594C121-2AC7-41C0-BEF0-A8D1365A8A25}" type="presParOf" srcId="{545BD14E-E4D2-4EC8-8A97-C87461A99913}" destId="{E44B43BD-6082-4ACF-93BC-1435450CCB2A}" srcOrd="0" destOrd="0" presId="urn:microsoft.com/office/officeart/2018/2/layout/IconVerticalSolidList"/>
    <dgm:cxn modelId="{9294BE19-E116-4008-A850-523752B9525C}" type="presParOf" srcId="{E44B43BD-6082-4ACF-93BC-1435450CCB2A}" destId="{F129F3F6-CFCC-45CC-B0B1-D278BA56A997}" srcOrd="0" destOrd="0" presId="urn:microsoft.com/office/officeart/2018/2/layout/IconVerticalSolidList"/>
    <dgm:cxn modelId="{AFDDCF34-8550-4F70-AFA8-C22D9C65DA80}" type="presParOf" srcId="{E44B43BD-6082-4ACF-93BC-1435450CCB2A}" destId="{51B1319C-6E93-4725-A2EF-E75C977A6F56}" srcOrd="1" destOrd="0" presId="urn:microsoft.com/office/officeart/2018/2/layout/IconVerticalSolidList"/>
    <dgm:cxn modelId="{A4749179-30B0-4FF8-AC9E-431D0F8DDC5F}" type="presParOf" srcId="{E44B43BD-6082-4ACF-93BC-1435450CCB2A}" destId="{00BE89F9-3671-4B9F-9E40-3B3EE05BEA47}" srcOrd="2" destOrd="0" presId="urn:microsoft.com/office/officeart/2018/2/layout/IconVerticalSolidList"/>
    <dgm:cxn modelId="{FB8CEAC9-C6ED-4D68-BCAA-F7DC5E1C8362}" type="presParOf" srcId="{E44B43BD-6082-4ACF-93BC-1435450CCB2A}" destId="{2D646B35-2281-438F-9D88-F327E4093134}" srcOrd="3" destOrd="0" presId="urn:microsoft.com/office/officeart/2018/2/layout/IconVerticalSolidList"/>
    <dgm:cxn modelId="{B2F9F3E8-F126-461E-B86C-06651BCE8F8E}" type="presParOf" srcId="{545BD14E-E4D2-4EC8-8A97-C87461A99913}" destId="{8E1A2322-C264-4D8F-93A9-33E30D571940}" srcOrd="1" destOrd="0" presId="urn:microsoft.com/office/officeart/2018/2/layout/IconVerticalSolidList"/>
    <dgm:cxn modelId="{7CDF763D-D8D8-4C6B-A184-A1E9F503980B}" type="presParOf" srcId="{545BD14E-E4D2-4EC8-8A97-C87461A99913}" destId="{F2B87241-0A70-4C85-A2EA-FA6E56B4DEF4}" srcOrd="2" destOrd="0" presId="urn:microsoft.com/office/officeart/2018/2/layout/IconVerticalSolidList"/>
    <dgm:cxn modelId="{D8648C38-AEB1-42A2-A1E1-B19A2EF884A9}" type="presParOf" srcId="{F2B87241-0A70-4C85-A2EA-FA6E56B4DEF4}" destId="{88652508-B256-4F13-AC36-2DC30905770F}" srcOrd="0" destOrd="0" presId="urn:microsoft.com/office/officeart/2018/2/layout/IconVerticalSolidList"/>
    <dgm:cxn modelId="{229E3EAD-944B-4CE0-8A3B-F6BE4AC63699}" type="presParOf" srcId="{F2B87241-0A70-4C85-A2EA-FA6E56B4DEF4}" destId="{1F83C0A7-D788-41C7-AB6F-E9E8060D5A65}" srcOrd="1" destOrd="0" presId="urn:microsoft.com/office/officeart/2018/2/layout/IconVerticalSolidList"/>
    <dgm:cxn modelId="{9D589A93-1E25-4A58-AF02-2CEACA843A8D}" type="presParOf" srcId="{F2B87241-0A70-4C85-A2EA-FA6E56B4DEF4}" destId="{36E9B016-6320-4EE9-9FDE-0D312FD2F660}" srcOrd="2" destOrd="0" presId="urn:microsoft.com/office/officeart/2018/2/layout/IconVerticalSolidList"/>
    <dgm:cxn modelId="{34139BFD-A5E0-4B4F-B503-3AA2149FDBC7}" type="presParOf" srcId="{F2B87241-0A70-4C85-A2EA-FA6E56B4DEF4}" destId="{87D3FF0A-8571-439F-A376-787EAEE11BCA}" srcOrd="3" destOrd="0" presId="urn:microsoft.com/office/officeart/2018/2/layout/IconVerticalSolidList"/>
    <dgm:cxn modelId="{CB9CEF31-7AD2-4783-A6A4-E1AA0444EAB4}" type="presParOf" srcId="{545BD14E-E4D2-4EC8-8A97-C87461A99913}" destId="{0FD04B53-4483-42A6-B011-D8C4BFF4646A}" srcOrd="3" destOrd="0" presId="urn:microsoft.com/office/officeart/2018/2/layout/IconVerticalSolidList"/>
    <dgm:cxn modelId="{9EAD44F5-1869-4195-A26B-78ECA36126A1}" type="presParOf" srcId="{545BD14E-E4D2-4EC8-8A97-C87461A99913}" destId="{071AFE64-8559-4859-B977-A695400A4219}" srcOrd="4" destOrd="0" presId="urn:microsoft.com/office/officeart/2018/2/layout/IconVerticalSolidList"/>
    <dgm:cxn modelId="{076A2372-6E6C-44F9-94B4-22B3A00099B2}" type="presParOf" srcId="{071AFE64-8559-4859-B977-A695400A4219}" destId="{C119A74B-5640-4DDF-86F0-EFEE9DB1D179}" srcOrd="0" destOrd="0" presId="urn:microsoft.com/office/officeart/2018/2/layout/IconVerticalSolidList"/>
    <dgm:cxn modelId="{4664913A-54D6-4074-A7E6-0CE07DFF456F}" type="presParOf" srcId="{071AFE64-8559-4859-B977-A695400A4219}" destId="{32757D7F-75A1-485A-B53B-60CB7E00985A}" srcOrd="1" destOrd="0" presId="urn:microsoft.com/office/officeart/2018/2/layout/IconVerticalSolidList"/>
    <dgm:cxn modelId="{0C22504E-33AB-4B42-B4F9-0BD4BD134EF1}" type="presParOf" srcId="{071AFE64-8559-4859-B977-A695400A4219}" destId="{E6D1C1DD-DEF7-4940-AC0E-35BED420E4AB}" srcOrd="2" destOrd="0" presId="urn:microsoft.com/office/officeart/2018/2/layout/IconVerticalSolidList"/>
    <dgm:cxn modelId="{F8D204FB-3D3D-4D8D-A536-38B4F9E86DB6}" type="presParOf" srcId="{071AFE64-8559-4859-B977-A695400A4219}" destId="{15EC052C-EC49-46DB-8E58-048B26CF9C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F3C59A-67FA-4C2D-A941-6A5794022BE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D210204-6179-4853-8BC1-36004080F64A}">
      <dgm:prSet/>
      <dgm:spPr/>
      <dgm:t>
        <a:bodyPr/>
        <a:lstStyle/>
        <a:p>
          <a:r>
            <a:rPr lang="nb-NO"/>
            <a:t>Etter samtale med revisor i dag 31.072024 etterlyses det innsending av regnskap til BDO som er vår revisor. </a:t>
          </a:r>
          <a:endParaRPr lang="en-US"/>
        </a:p>
      </dgm:t>
    </dgm:pt>
    <dgm:pt modelId="{4037D734-80B5-45C3-B2AF-C553681999F6}" type="parTrans" cxnId="{AC22AFF6-16AE-49BE-B3A0-25CAE90500A3}">
      <dgm:prSet/>
      <dgm:spPr/>
      <dgm:t>
        <a:bodyPr/>
        <a:lstStyle/>
        <a:p>
          <a:endParaRPr lang="en-US"/>
        </a:p>
      </dgm:t>
    </dgm:pt>
    <dgm:pt modelId="{CAA673FA-CBC7-4C3D-B287-B8848C2AFCC0}" type="sibTrans" cxnId="{AC22AFF6-16AE-49BE-B3A0-25CAE90500A3}">
      <dgm:prSet/>
      <dgm:spPr/>
      <dgm:t>
        <a:bodyPr/>
        <a:lstStyle/>
        <a:p>
          <a:endParaRPr lang="en-US"/>
        </a:p>
      </dgm:t>
    </dgm:pt>
    <dgm:pt modelId="{D03783A2-BFF6-4428-BE21-44515B15A235}">
      <dgm:prSet/>
      <dgm:spPr/>
      <dgm:t>
        <a:bodyPr/>
        <a:lstStyle/>
        <a:p>
          <a:r>
            <a:rPr lang="nb-NO" dirty="0"/>
            <a:t>FOS regnskap har dokumentasjon på at BDO fikk dette oversendt fra regnskap og det ble dokumentene ble åpnet den 15.07.2024, regnskapet ble på nytt oversendt til regnskap den 31.07.2024.</a:t>
          </a:r>
          <a:endParaRPr lang="en-US" dirty="0"/>
        </a:p>
      </dgm:t>
    </dgm:pt>
    <dgm:pt modelId="{91F0B23D-1EB4-44E2-9489-0BB49836B91A}" type="parTrans" cxnId="{C77BC75A-CB8C-4CC9-985B-98FE00B4567B}">
      <dgm:prSet/>
      <dgm:spPr/>
      <dgm:t>
        <a:bodyPr/>
        <a:lstStyle/>
        <a:p>
          <a:endParaRPr lang="en-US"/>
        </a:p>
      </dgm:t>
    </dgm:pt>
    <dgm:pt modelId="{1EF897EA-531C-4787-BD50-6B4061A4603F}" type="sibTrans" cxnId="{C77BC75A-CB8C-4CC9-985B-98FE00B4567B}">
      <dgm:prSet/>
      <dgm:spPr/>
      <dgm:t>
        <a:bodyPr/>
        <a:lstStyle/>
        <a:p>
          <a:endParaRPr lang="en-US"/>
        </a:p>
      </dgm:t>
    </dgm:pt>
    <dgm:pt modelId="{C90DE5BD-1F2F-4BC6-AAB1-A3CB20C180CB}">
      <dgm:prSet/>
      <dgm:spPr/>
      <dgm:t>
        <a:bodyPr/>
        <a:lstStyle/>
        <a:p>
          <a:r>
            <a:rPr lang="nb-NO" dirty="0"/>
            <a:t>Det er pr. 31.07.2024 ikke forventet iht. samtale med revisor i dag at de skal ha noen penger up front for å ferdigstille regnskapet i følge Stig Andre. </a:t>
          </a:r>
          <a:endParaRPr lang="en-US" dirty="0"/>
        </a:p>
      </dgm:t>
    </dgm:pt>
    <dgm:pt modelId="{EC136FF4-BA8B-4412-91AC-C1A66C128954}" type="parTrans" cxnId="{DAC245FB-F35D-40FD-9DFE-0A99D0FC6D6A}">
      <dgm:prSet/>
      <dgm:spPr/>
      <dgm:t>
        <a:bodyPr/>
        <a:lstStyle/>
        <a:p>
          <a:endParaRPr lang="en-US"/>
        </a:p>
      </dgm:t>
    </dgm:pt>
    <dgm:pt modelId="{4E32001F-D962-4A84-92D4-0E36A58B65FA}" type="sibTrans" cxnId="{DAC245FB-F35D-40FD-9DFE-0A99D0FC6D6A}">
      <dgm:prSet/>
      <dgm:spPr/>
      <dgm:t>
        <a:bodyPr/>
        <a:lstStyle/>
        <a:p>
          <a:endParaRPr lang="en-US"/>
        </a:p>
      </dgm:t>
    </dgm:pt>
    <dgm:pt modelId="{C600794A-E4B2-4A2A-96F5-7D94CFDCFE49}">
      <dgm:prSet/>
      <dgm:spPr/>
      <dgm:t>
        <a:bodyPr/>
        <a:lstStyle/>
        <a:p>
          <a:r>
            <a:rPr lang="nb-NO" b="1" dirty="0"/>
            <a:t>Grønt lys i forhold til </a:t>
          </a:r>
          <a:r>
            <a:rPr lang="nb-NO" b="1" dirty="0" err="1"/>
            <a:t>Certificate</a:t>
          </a:r>
          <a:r>
            <a:rPr lang="nb-NO" b="1" dirty="0"/>
            <a:t> </a:t>
          </a:r>
          <a:r>
            <a:rPr lang="nb-NO" b="1" dirty="0" err="1"/>
            <a:t>of</a:t>
          </a:r>
          <a:r>
            <a:rPr lang="nb-NO" b="1" dirty="0"/>
            <a:t> Good </a:t>
          </a:r>
          <a:r>
            <a:rPr lang="nb-NO" b="1" dirty="0" err="1"/>
            <a:t>Standing</a:t>
          </a:r>
          <a:r>
            <a:rPr lang="nb-NO" b="1" dirty="0"/>
            <a:t> er </a:t>
          </a:r>
          <a:r>
            <a:rPr lang="nb-NO" b="1" dirty="0" err="1"/>
            <a:t>pending</a:t>
          </a:r>
          <a:r>
            <a:rPr lang="nb-NO" b="1" dirty="0"/>
            <a:t> </a:t>
          </a:r>
          <a:r>
            <a:rPr lang="nb-NO" b="1" dirty="0" err="1"/>
            <a:t>godkjendt</a:t>
          </a:r>
          <a:r>
            <a:rPr lang="nb-NO" b="1" dirty="0"/>
            <a:t> og innlevert regnskap.</a:t>
          </a:r>
          <a:endParaRPr lang="en-US" dirty="0"/>
        </a:p>
      </dgm:t>
    </dgm:pt>
    <dgm:pt modelId="{7528D1B4-8D09-4E60-A824-89A59B53F464}" type="parTrans" cxnId="{9717512C-544A-4096-A31B-D5834FF2876F}">
      <dgm:prSet/>
      <dgm:spPr/>
      <dgm:t>
        <a:bodyPr/>
        <a:lstStyle/>
        <a:p>
          <a:endParaRPr lang="en-US"/>
        </a:p>
      </dgm:t>
    </dgm:pt>
    <dgm:pt modelId="{5339DE02-7779-4BC0-A586-9394B3870664}" type="sibTrans" cxnId="{9717512C-544A-4096-A31B-D5834FF2876F}">
      <dgm:prSet/>
      <dgm:spPr/>
      <dgm:t>
        <a:bodyPr/>
        <a:lstStyle/>
        <a:p>
          <a:endParaRPr lang="en-US"/>
        </a:p>
      </dgm:t>
    </dgm:pt>
    <dgm:pt modelId="{8C1BA87D-DE27-4834-8BAB-21D56EE3A013}" type="pres">
      <dgm:prSet presAssocID="{F2F3C59A-67FA-4C2D-A941-6A5794022BE7}" presName="root" presStyleCnt="0">
        <dgm:presLayoutVars>
          <dgm:dir/>
          <dgm:resizeHandles val="exact"/>
        </dgm:presLayoutVars>
      </dgm:prSet>
      <dgm:spPr/>
    </dgm:pt>
    <dgm:pt modelId="{A3E4F775-F7FD-4CF0-9290-069D2D0B3E86}" type="pres">
      <dgm:prSet presAssocID="{ED210204-6179-4853-8BC1-36004080F64A}" presName="compNode" presStyleCnt="0"/>
      <dgm:spPr/>
    </dgm:pt>
    <dgm:pt modelId="{0822DE60-6F2F-49F4-BF7B-D645EE608D70}" type="pres">
      <dgm:prSet presAssocID="{ED210204-6179-4853-8BC1-36004080F64A}" presName="bgRect" presStyleLbl="bgShp" presStyleIdx="0" presStyleCnt="4" custScaleY="68933" custLinFactNeighborX="54" custLinFactNeighborY="-12676"/>
      <dgm:spPr/>
    </dgm:pt>
    <dgm:pt modelId="{1F39BE50-08B3-4A1B-AE90-0E0130D5FBB5}" type="pres">
      <dgm:prSet presAssocID="{ED210204-6179-4853-8BC1-36004080F64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5FCEB267-BAC1-42EA-87B5-617535236173}" type="pres">
      <dgm:prSet presAssocID="{ED210204-6179-4853-8BC1-36004080F64A}" presName="spaceRect" presStyleCnt="0"/>
      <dgm:spPr/>
    </dgm:pt>
    <dgm:pt modelId="{DABCFF32-0A5F-40AA-849A-FC74D8879197}" type="pres">
      <dgm:prSet presAssocID="{ED210204-6179-4853-8BC1-36004080F64A}" presName="parTx" presStyleLbl="revTx" presStyleIdx="0" presStyleCnt="4">
        <dgm:presLayoutVars>
          <dgm:chMax val="0"/>
          <dgm:chPref val="0"/>
        </dgm:presLayoutVars>
      </dgm:prSet>
      <dgm:spPr/>
    </dgm:pt>
    <dgm:pt modelId="{DA01FA8C-765B-40C7-9565-41ED23BCDDA2}" type="pres">
      <dgm:prSet presAssocID="{CAA673FA-CBC7-4C3D-B287-B8848C2AFCC0}" presName="sibTrans" presStyleCnt="0"/>
      <dgm:spPr/>
    </dgm:pt>
    <dgm:pt modelId="{7EE0C53C-6283-4C33-BCB3-9692C2845765}" type="pres">
      <dgm:prSet presAssocID="{D03783A2-BFF6-4428-BE21-44515B15A235}" presName="compNode" presStyleCnt="0"/>
      <dgm:spPr/>
    </dgm:pt>
    <dgm:pt modelId="{82343045-D5C3-4E6D-9669-F21F86E728C9}" type="pres">
      <dgm:prSet presAssocID="{D03783A2-BFF6-4428-BE21-44515B15A235}" presName="bgRect" presStyleLbl="bgShp" presStyleIdx="1" presStyleCnt="4" custLinFactNeighborX="54" custLinFactNeighborY="-41757"/>
      <dgm:spPr/>
    </dgm:pt>
    <dgm:pt modelId="{65ED6D92-8AE9-4003-940B-5B5BCF35A417}" type="pres">
      <dgm:prSet presAssocID="{D03783A2-BFF6-4428-BE21-44515B15A23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2EDFB68D-F919-45C8-AEB3-157BFAF56F90}" type="pres">
      <dgm:prSet presAssocID="{D03783A2-BFF6-4428-BE21-44515B15A235}" presName="spaceRect" presStyleCnt="0"/>
      <dgm:spPr/>
    </dgm:pt>
    <dgm:pt modelId="{D8456CC2-99A4-4B14-9C6C-048F44A02647}" type="pres">
      <dgm:prSet presAssocID="{D03783A2-BFF6-4428-BE21-44515B15A235}" presName="parTx" presStyleLbl="revTx" presStyleIdx="1" presStyleCnt="4" custLinFactNeighborX="0" custLinFactNeighborY="-39260">
        <dgm:presLayoutVars>
          <dgm:chMax val="0"/>
          <dgm:chPref val="0"/>
        </dgm:presLayoutVars>
      </dgm:prSet>
      <dgm:spPr/>
    </dgm:pt>
    <dgm:pt modelId="{773AB75C-232C-40FE-B9BF-AF0FF1DCFB46}" type="pres">
      <dgm:prSet presAssocID="{1EF897EA-531C-4787-BD50-6B4061A4603F}" presName="sibTrans" presStyleCnt="0"/>
      <dgm:spPr/>
    </dgm:pt>
    <dgm:pt modelId="{DE91A130-F608-4EA5-859A-DC6CCF7CCD39}" type="pres">
      <dgm:prSet presAssocID="{C90DE5BD-1F2F-4BC6-AAB1-A3CB20C180CB}" presName="compNode" presStyleCnt="0"/>
      <dgm:spPr/>
    </dgm:pt>
    <dgm:pt modelId="{7C1CA2E4-873A-4A23-B834-40A4C531C614}" type="pres">
      <dgm:prSet presAssocID="{C90DE5BD-1F2F-4BC6-AAB1-A3CB20C180CB}" presName="bgRect" presStyleLbl="bgShp" presStyleIdx="2" presStyleCnt="4" custScaleY="82457" custLinFactNeighborX="54" custLinFactNeighborY="-67076"/>
      <dgm:spPr>
        <a:solidFill>
          <a:srgbClr val="92D050"/>
        </a:solidFill>
      </dgm:spPr>
    </dgm:pt>
    <dgm:pt modelId="{76DABECB-6C52-4A58-9F1A-524CE2A787C4}" type="pres">
      <dgm:prSet presAssocID="{C90DE5BD-1F2F-4BC6-AAB1-A3CB20C180CB}" presName="iconRect" presStyleLbl="node1" presStyleIdx="2" presStyleCnt="4" custLinFactY="-23221" custLinFactNeighborX="1356" custLinFactNeighborY="-10000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stache Face with Solid Fill"/>
        </a:ext>
      </dgm:extLst>
    </dgm:pt>
    <dgm:pt modelId="{597CC2C6-1F29-46FB-A06E-D7DF6DBD68F7}" type="pres">
      <dgm:prSet presAssocID="{C90DE5BD-1F2F-4BC6-AAB1-A3CB20C180CB}" presName="spaceRect" presStyleCnt="0"/>
      <dgm:spPr/>
    </dgm:pt>
    <dgm:pt modelId="{EA440130-37FF-4450-B224-E72D3E2C46B9}" type="pres">
      <dgm:prSet presAssocID="{C90DE5BD-1F2F-4BC6-AAB1-A3CB20C180CB}" presName="parTx" presStyleLbl="revTx" presStyleIdx="2" presStyleCnt="4" custLinFactNeighborX="-885" custLinFactNeighborY="-65585">
        <dgm:presLayoutVars>
          <dgm:chMax val="0"/>
          <dgm:chPref val="0"/>
        </dgm:presLayoutVars>
      </dgm:prSet>
      <dgm:spPr/>
    </dgm:pt>
    <dgm:pt modelId="{FA99FDC5-5660-4EA6-85AE-CCB8138ADD8F}" type="pres">
      <dgm:prSet presAssocID="{4E32001F-D962-4A84-92D4-0E36A58B65FA}" presName="sibTrans" presStyleCnt="0"/>
      <dgm:spPr/>
    </dgm:pt>
    <dgm:pt modelId="{2F593EBC-9791-4A51-A6F9-B7722F04E5A0}" type="pres">
      <dgm:prSet presAssocID="{C600794A-E4B2-4A2A-96F5-7D94CFDCFE49}" presName="compNode" presStyleCnt="0"/>
      <dgm:spPr/>
    </dgm:pt>
    <dgm:pt modelId="{36DB5CD2-9360-4E80-8409-F8A5EF297C10}" type="pres">
      <dgm:prSet presAssocID="{C600794A-E4B2-4A2A-96F5-7D94CFDCFE49}" presName="bgRect" presStyleLbl="bgShp" presStyleIdx="3" presStyleCnt="4" custLinFactNeighborX="54" custLinFactNeighborY="70434"/>
      <dgm:spPr>
        <a:solidFill>
          <a:srgbClr val="FF0000"/>
        </a:solidFill>
      </dgm:spPr>
    </dgm:pt>
    <dgm:pt modelId="{EFFE7CA2-8A22-49BF-AAD2-1D319805DE26}" type="pres">
      <dgm:prSet presAssocID="{C600794A-E4B2-4A2A-96F5-7D94CFDCFE4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C754C18C-F8CC-40B8-A4F5-A1EB6BD05414}" type="pres">
      <dgm:prSet presAssocID="{C600794A-E4B2-4A2A-96F5-7D94CFDCFE49}" presName="spaceRect" presStyleCnt="0"/>
      <dgm:spPr/>
    </dgm:pt>
    <dgm:pt modelId="{A9367224-F1ED-481F-8DD6-DC8FED9DE940}" type="pres">
      <dgm:prSet presAssocID="{C600794A-E4B2-4A2A-96F5-7D94CFDCFE49}" presName="parTx" presStyleLbl="revTx" presStyleIdx="3" presStyleCnt="4" custLinFactNeighborX="66" custLinFactNeighborY="70434">
        <dgm:presLayoutVars>
          <dgm:chMax val="0"/>
          <dgm:chPref val="0"/>
        </dgm:presLayoutVars>
      </dgm:prSet>
      <dgm:spPr/>
    </dgm:pt>
  </dgm:ptLst>
  <dgm:cxnLst>
    <dgm:cxn modelId="{76A2CB2B-238B-4809-B05A-5F9DF10E6044}" type="presOf" srcId="{C600794A-E4B2-4A2A-96F5-7D94CFDCFE49}" destId="{A9367224-F1ED-481F-8DD6-DC8FED9DE940}" srcOrd="0" destOrd="0" presId="urn:microsoft.com/office/officeart/2018/2/layout/IconVerticalSolidList"/>
    <dgm:cxn modelId="{9717512C-544A-4096-A31B-D5834FF2876F}" srcId="{F2F3C59A-67FA-4C2D-A941-6A5794022BE7}" destId="{C600794A-E4B2-4A2A-96F5-7D94CFDCFE49}" srcOrd="3" destOrd="0" parTransId="{7528D1B4-8D09-4E60-A824-89A59B53F464}" sibTransId="{5339DE02-7779-4BC0-A586-9394B3870664}"/>
    <dgm:cxn modelId="{5FBB2D3B-6371-43B4-A617-4D98912A426C}" type="presOf" srcId="{C90DE5BD-1F2F-4BC6-AAB1-A3CB20C180CB}" destId="{EA440130-37FF-4450-B224-E72D3E2C46B9}" srcOrd="0" destOrd="0" presId="urn:microsoft.com/office/officeart/2018/2/layout/IconVerticalSolidList"/>
    <dgm:cxn modelId="{C77BC75A-CB8C-4CC9-985B-98FE00B4567B}" srcId="{F2F3C59A-67FA-4C2D-A941-6A5794022BE7}" destId="{D03783A2-BFF6-4428-BE21-44515B15A235}" srcOrd="1" destOrd="0" parTransId="{91F0B23D-1EB4-44E2-9489-0BB49836B91A}" sibTransId="{1EF897EA-531C-4787-BD50-6B4061A4603F}"/>
    <dgm:cxn modelId="{54E88897-99D9-4475-A5EE-9F2FAA27FA29}" type="presOf" srcId="{F2F3C59A-67FA-4C2D-A941-6A5794022BE7}" destId="{8C1BA87D-DE27-4834-8BAB-21D56EE3A013}" srcOrd="0" destOrd="0" presId="urn:microsoft.com/office/officeart/2018/2/layout/IconVerticalSolidList"/>
    <dgm:cxn modelId="{E5AF41A1-CE0E-4576-80AB-26EA81A9E5E8}" type="presOf" srcId="{ED210204-6179-4853-8BC1-36004080F64A}" destId="{DABCFF32-0A5F-40AA-849A-FC74D8879197}" srcOrd="0" destOrd="0" presId="urn:microsoft.com/office/officeart/2018/2/layout/IconVerticalSolidList"/>
    <dgm:cxn modelId="{652F00E6-77CB-4203-850E-42072B949675}" type="presOf" srcId="{D03783A2-BFF6-4428-BE21-44515B15A235}" destId="{D8456CC2-99A4-4B14-9C6C-048F44A02647}" srcOrd="0" destOrd="0" presId="urn:microsoft.com/office/officeart/2018/2/layout/IconVerticalSolidList"/>
    <dgm:cxn modelId="{AC22AFF6-16AE-49BE-B3A0-25CAE90500A3}" srcId="{F2F3C59A-67FA-4C2D-A941-6A5794022BE7}" destId="{ED210204-6179-4853-8BC1-36004080F64A}" srcOrd="0" destOrd="0" parTransId="{4037D734-80B5-45C3-B2AF-C553681999F6}" sibTransId="{CAA673FA-CBC7-4C3D-B287-B8848C2AFCC0}"/>
    <dgm:cxn modelId="{DAC245FB-F35D-40FD-9DFE-0A99D0FC6D6A}" srcId="{F2F3C59A-67FA-4C2D-A941-6A5794022BE7}" destId="{C90DE5BD-1F2F-4BC6-AAB1-A3CB20C180CB}" srcOrd="2" destOrd="0" parTransId="{EC136FF4-BA8B-4412-91AC-C1A66C128954}" sibTransId="{4E32001F-D962-4A84-92D4-0E36A58B65FA}"/>
    <dgm:cxn modelId="{0D823F9E-5397-4BA1-8FBB-9B297C8E1787}" type="presParOf" srcId="{8C1BA87D-DE27-4834-8BAB-21D56EE3A013}" destId="{A3E4F775-F7FD-4CF0-9290-069D2D0B3E86}" srcOrd="0" destOrd="0" presId="urn:microsoft.com/office/officeart/2018/2/layout/IconVerticalSolidList"/>
    <dgm:cxn modelId="{BC055CC3-E7B8-4B99-8EB7-82285A2B7ED3}" type="presParOf" srcId="{A3E4F775-F7FD-4CF0-9290-069D2D0B3E86}" destId="{0822DE60-6F2F-49F4-BF7B-D645EE608D70}" srcOrd="0" destOrd="0" presId="urn:microsoft.com/office/officeart/2018/2/layout/IconVerticalSolidList"/>
    <dgm:cxn modelId="{F4A1ED14-FC5A-4D63-9816-1B53DC995CB5}" type="presParOf" srcId="{A3E4F775-F7FD-4CF0-9290-069D2D0B3E86}" destId="{1F39BE50-08B3-4A1B-AE90-0E0130D5FBB5}" srcOrd="1" destOrd="0" presId="urn:microsoft.com/office/officeart/2018/2/layout/IconVerticalSolidList"/>
    <dgm:cxn modelId="{45106917-CC67-4C98-8409-EA9AEC8E8430}" type="presParOf" srcId="{A3E4F775-F7FD-4CF0-9290-069D2D0B3E86}" destId="{5FCEB267-BAC1-42EA-87B5-617535236173}" srcOrd="2" destOrd="0" presId="urn:microsoft.com/office/officeart/2018/2/layout/IconVerticalSolidList"/>
    <dgm:cxn modelId="{9D58DF16-1450-4E8F-98A6-0AF9C17B04E5}" type="presParOf" srcId="{A3E4F775-F7FD-4CF0-9290-069D2D0B3E86}" destId="{DABCFF32-0A5F-40AA-849A-FC74D8879197}" srcOrd="3" destOrd="0" presId="urn:microsoft.com/office/officeart/2018/2/layout/IconVerticalSolidList"/>
    <dgm:cxn modelId="{6477444E-858C-4168-8F79-05829177AA12}" type="presParOf" srcId="{8C1BA87D-DE27-4834-8BAB-21D56EE3A013}" destId="{DA01FA8C-765B-40C7-9565-41ED23BCDDA2}" srcOrd="1" destOrd="0" presId="urn:microsoft.com/office/officeart/2018/2/layout/IconVerticalSolidList"/>
    <dgm:cxn modelId="{91169BB6-67C4-4C7A-85CB-99D0A0BB1935}" type="presParOf" srcId="{8C1BA87D-DE27-4834-8BAB-21D56EE3A013}" destId="{7EE0C53C-6283-4C33-BCB3-9692C2845765}" srcOrd="2" destOrd="0" presId="urn:microsoft.com/office/officeart/2018/2/layout/IconVerticalSolidList"/>
    <dgm:cxn modelId="{6E77710C-F27C-4843-84DC-C4274AF55F37}" type="presParOf" srcId="{7EE0C53C-6283-4C33-BCB3-9692C2845765}" destId="{82343045-D5C3-4E6D-9669-F21F86E728C9}" srcOrd="0" destOrd="0" presId="urn:microsoft.com/office/officeart/2018/2/layout/IconVerticalSolidList"/>
    <dgm:cxn modelId="{9C130F85-A03A-4CDA-A537-3267E83140B5}" type="presParOf" srcId="{7EE0C53C-6283-4C33-BCB3-9692C2845765}" destId="{65ED6D92-8AE9-4003-940B-5B5BCF35A417}" srcOrd="1" destOrd="0" presId="urn:microsoft.com/office/officeart/2018/2/layout/IconVerticalSolidList"/>
    <dgm:cxn modelId="{14E032AB-842D-442A-8832-437BADB369E9}" type="presParOf" srcId="{7EE0C53C-6283-4C33-BCB3-9692C2845765}" destId="{2EDFB68D-F919-45C8-AEB3-157BFAF56F90}" srcOrd="2" destOrd="0" presId="urn:microsoft.com/office/officeart/2018/2/layout/IconVerticalSolidList"/>
    <dgm:cxn modelId="{AFB30DAC-8EA8-411B-881B-3D7FA651CB42}" type="presParOf" srcId="{7EE0C53C-6283-4C33-BCB3-9692C2845765}" destId="{D8456CC2-99A4-4B14-9C6C-048F44A02647}" srcOrd="3" destOrd="0" presId="urn:microsoft.com/office/officeart/2018/2/layout/IconVerticalSolidList"/>
    <dgm:cxn modelId="{1593FAA7-2379-46B9-8E96-95F1867B62EB}" type="presParOf" srcId="{8C1BA87D-DE27-4834-8BAB-21D56EE3A013}" destId="{773AB75C-232C-40FE-B9BF-AF0FF1DCFB46}" srcOrd="3" destOrd="0" presId="urn:microsoft.com/office/officeart/2018/2/layout/IconVerticalSolidList"/>
    <dgm:cxn modelId="{862D1E6D-2D82-4121-B497-58AC5AD43F29}" type="presParOf" srcId="{8C1BA87D-DE27-4834-8BAB-21D56EE3A013}" destId="{DE91A130-F608-4EA5-859A-DC6CCF7CCD39}" srcOrd="4" destOrd="0" presId="urn:microsoft.com/office/officeart/2018/2/layout/IconVerticalSolidList"/>
    <dgm:cxn modelId="{209F9A2A-0300-4C41-88C8-8ACED6F6F2D4}" type="presParOf" srcId="{DE91A130-F608-4EA5-859A-DC6CCF7CCD39}" destId="{7C1CA2E4-873A-4A23-B834-40A4C531C614}" srcOrd="0" destOrd="0" presId="urn:microsoft.com/office/officeart/2018/2/layout/IconVerticalSolidList"/>
    <dgm:cxn modelId="{ED080F3A-4EC3-4289-9CCC-5C35D1C0FC4F}" type="presParOf" srcId="{DE91A130-F608-4EA5-859A-DC6CCF7CCD39}" destId="{76DABECB-6C52-4A58-9F1A-524CE2A787C4}" srcOrd="1" destOrd="0" presId="urn:microsoft.com/office/officeart/2018/2/layout/IconVerticalSolidList"/>
    <dgm:cxn modelId="{FD091C2E-CE13-4A26-84CC-5B2715009427}" type="presParOf" srcId="{DE91A130-F608-4EA5-859A-DC6CCF7CCD39}" destId="{597CC2C6-1F29-46FB-A06E-D7DF6DBD68F7}" srcOrd="2" destOrd="0" presId="urn:microsoft.com/office/officeart/2018/2/layout/IconVerticalSolidList"/>
    <dgm:cxn modelId="{515DAD53-98D1-4C1A-984B-0F65BD5E6A8A}" type="presParOf" srcId="{DE91A130-F608-4EA5-859A-DC6CCF7CCD39}" destId="{EA440130-37FF-4450-B224-E72D3E2C46B9}" srcOrd="3" destOrd="0" presId="urn:microsoft.com/office/officeart/2018/2/layout/IconVerticalSolidList"/>
    <dgm:cxn modelId="{C7B858F4-EDDA-48F1-93D4-B9E48D6CF1C2}" type="presParOf" srcId="{8C1BA87D-DE27-4834-8BAB-21D56EE3A013}" destId="{FA99FDC5-5660-4EA6-85AE-CCB8138ADD8F}" srcOrd="5" destOrd="0" presId="urn:microsoft.com/office/officeart/2018/2/layout/IconVerticalSolidList"/>
    <dgm:cxn modelId="{DD3134A2-0A7B-47BF-B30B-2C2252D4BCE1}" type="presParOf" srcId="{8C1BA87D-DE27-4834-8BAB-21D56EE3A013}" destId="{2F593EBC-9791-4A51-A6F9-B7722F04E5A0}" srcOrd="6" destOrd="0" presId="urn:microsoft.com/office/officeart/2018/2/layout/IconVerticalSolidList"/>
    <dgm:cxn modelId="{9B814069-BBF5-4A20-9DFD-0F83B1A424CD}" type="presParOf" srcId="{2F593EBC-9791-4A51-A6F9-B7722F04E5A0}" destId="{36DB5CD2-9360-4E80-8409-F8A5EF297C10}" srcOrd="0" destOrd="0" presId="urn:microsoft.com/office/officeart/2018/2/layout/IconVerticalSolidList"/>
    <dgm:cxn modelId="{47D86A6D-4FAF-4E96-8E06-BBD22E997024}" type="presParOf" srcId="{2F593EBC-9791-4A51-A6F9-B7722F04E5A0}" destId="{EFFE7CA2-8A22-49BF-AAD2-1D319805DE26}" srcOrd="1" destOrd="0" presId="urn:microsoft.com/office/officeart/2018/2/layout/IconVerticalSolidList"/>
    <dgm:cxn modelId="{53203BCE-F08D-45D6-8B5D-A26C9BE2B447}" type="presParOf" srcId="{2F593EBC-9791-4A51-A6F9-B7722F04E5A0}" destId="{C754C18C-F8CC-40B8-A4F5-A1EB6BD05414}" srcOrd="2" destOrd="0" presId="urn:microsoft.com/office/officeart/2018/2/layout/IconVerticalSolidList"/>
    <dgm:cxn modelId="{0C590164-3362-4CDD-8EAD-6ED7234EE409}" type="presParOf" srcId="{2F593EBC-9791-4A51-A6F9-B7722F04E5A0}" destId="{A9367224-F1ED-481F-8DD6-DC8FED9DE94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8CD54B-05B6-4BD8-83BC-F1B0D12583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7954CC-754A-4D7A-A194-8E8DB927628E}">
      <dgm:prSet/>
      <dgm:spPr/>
      <dgm:t>
        <a:bodyPr/>
        <a:lstStyle/>
        <a:p>
          <a:r>
            <a:rPr lang="nb-NO" dirty="0"/>
            <a:t>Skattevesenet har pr. 31.07.2024 utestående fordringer hos FOS i forhold til AGA på NOK 59900,-, dette kan forhindre </a:t>
          </a:r>
          <a:r>
            <a:rPr lang="nb-NO" dirty="0" err="1"/>
            <a:t>Certificate</a:t>
          </a:r>
          <a:r>
            <a:rPr lang="nb-NO" dirty="0"/>
            <a:t> </a:t>
          </a:r>
          <a:r>
            <a:rPr lang="nb-NO" dirty="0" err="1"/>
            <a:t>of</a:t>
          </a:r>
          <a:r>
            <a:rPr lang="nb-NO" dirty="0"/>
            <a:t> </a:t>
          </a:r>
          <a:r>
            <a:rPr lang="nb-NO" dirty="0" err="1"/>
            <a:t>good</a:t>
          </a:r>
          <a:r>
            <a:rPr lang="nb-NO" dirty="0"/>
            <a:t> </a:t>
          </a:r>
          <a:r>
            <a:rPr lang="nb-NO" dirty="0" err="1"/>
            <a:t>standing</a:t>
          </a:r>
          <a:r>
            <a:rPr lang="nb-NO" dirty="0"/>
            <a:t>.  Løsnings alternativer:</a:t>
          </a:r>
          <a:endParaRPr lang="en-US" dirty="0"/>
        </a:p>
      </dgm:t>
    </dgm:pt>
    <dgm:pt modelId="{B58D0A76-CDC2-4A0C-9F0A-5ECB87AD76AC}" type="parTrans" cxnId="{B05755E7-A2D5-4614-923F-DD03CF60A5A9}">
      <dgm:prSet/>
      <dgm:spPr/>
      <dgm:t>
        <a:bodyPr/>
        <a:lstStyle/>
        <a:p>
          <a:endParaRPr lang="en-US"/>
        </a:p>
      </dgm:t>
    </dgm:pt>
    <dgm:pt modelId="{A141CB05-A2FD-437F-93DF-87F53FE62CD0}" type="sibTrans" cxnId="{B05755E7-A2D5-4614-923F-DD03CF60A5A9}">
      <dgm:prSet/>
      <dgm:spPr/>
      <dgm:t>
        <a:bodyPr/>
        <a:lstStyle/>
        <a:p>
          <a:endParaRPr lang="en-US"/>
        </a:p>
      </dgm:t>
    </dgm:pt>
    <dgm:pt modelId="{427F5149-8575-4D68-A71E-C23C9E3E3950}">
      <dgm:prSet/>
      <dgm:spPr/>
      <dgm:t>
        <a:bodyPr/>
        <a:lstStyle/>
        <a:p>
          <a:r>
            <a:rPr lang="nb-NO"/>
            <a:t>Alt 1: Snakke med skattevesenet og få utsatt betalingsdato. </a:t>
          </a:r>
          <a:endParaRPr lang="en-US"/>
        </a:p>
      </dgm:t>
    </dgm:pt>
    <dgm:pt modelId="{CF1B9520-3A10-49E7-9450-40B9D70291C5}" type="parTrans" cxnId="{03CB064D-5696-4C58-9033-51B87140824A}">
      <dgm:prSet/>
      <dgm:spPr/>
      <dgm:t>
        <a:bodyPr/>
        <a:lstStyle/>
        <a:p>
          <a:endParaRPr lang="en-US"/>
        </a:p>
      </dgm:t>
    </dgm:pt>
    <dgm:pt modelId="{956528DB-9620-4B5D-B49C-5D4F26D6D419}" type="sibTrans" cxnId="{03CB064D-5696-4C58-9033-51B87140824A}">
      <dgm:prSet/>
      <dgm:spPr/>
      <dgm:t>
        <a:bodyPr/>
        <a:lstStyle/>
        <a:p>
          <a:endParaRPr lang="en-US"/>
        </a:p>
      </dgm:t>
    </dgm:pt>
    <dgm:pt modelId="{3D6AE8F1-19D1-46DF-9352-7E3F70A13E2D}">
      <dgm:prSet/>
      <dgm:spPr/>
      <dgm:t>
        <a:bodyPr/>
        <a:lstStyle/>
        <a:p>
          <a:r>
            <a:rPr lang="nb-NO"/>
            <a:t>Alt 2: Betale beløpet. Pr 31.07.2024 er det ikke kapital i selskapet til å betale dette.</a:t>
          </a:r>
          <a:endParaRPr lang="en-US"/>
        </a:p>
      </dgm:t>
    </dgm:pt>
    <dgm:pt modelId="{3B450F72-24C8-4A78-9B79-7707D74D6A1A}" type="parTrans" cxnId="{6C022A9D-8648-4678-A4D0-51E425AD6974}">
      <dgm:prSet/>
      <dgm:spPr/>
      <dgm:t>
        <a:bodyPr/>
        <a:lstStyle/>
        <a:p>
          <a:endParaRPr lang="en-US"/>
        </a:p>
      </dgm:t>
    </dgm:pt>
    <dgm:pt modelId="{097E942F-0684-4FF5-A963-7F89EB17D8A3}" type="sibTrans" cxnId="{6C022A9D-8648-4678-A4D0-51E425AD6974}">
      <dgm:prSet/>
      <dgm:spPr/>
      <dgm:t>
        <a:bodyPr/>
        <a:lstStyle/>
        <a:p>
          <a:endParaRPr lang="en-US"/>
        </a:p>
      </dgm:t>
    </dgm:pt>
    <dgm:pt modelId="{7245432A-BD65-48F5-A494-45A3E92EB819}">
      <dgm:prSet/>
      <dgm:spPr/>
      <dgm:t>
        <a:bodyPr/>
        <a:lstStyle/>
        <a:p>
          <a:r>
            <a:rPr lang="nb-NO" b="1" dirty="0">
              <a:solidFill>
                <a:srgbClr val="FF0000"/>
              </a:solidFill>
            </a:rPr>
            <a:t>Grønt lys i forhold til </a:t>
          </a:r>
          <a:r>
            <a:rPr lang="nb-NO" b="1" dirty="0" err="1">
              <a:solidFill>
                <a:srgbClr val="FF0000"/>
              </a:solidFill>
            </a:rPr>
            <a:t>Certificate</a:t>
          </a:r>
          <a:r>
            <a:rPr lang="nb-NO" b="1" dirty="0">
              <a:solidFill>
                <a:srgbClr val="FF0000"/>
              </a:solidFill>
            </a:rPr>
            <a:t> </a:t>
          </a:r>
          <a:r>
            <a:rPr lang="nb-NO" b="1" dirty="0" err="1">
              <a:solidFill>
                <a:srgbClr val="FF0000"/>
              </a:solidFill>
            </a:rPr>
            <a:t>of</a:t>
          </a:r>
          <a:r>
            <a:rPr lang="nb-NO" b="1" dirty="0">
              <a:solidFill>
                <a:srgbClr val="FF0000"/>
              </a:solidFill>
            </a:rPr>
            <a:t> Good </a:t>
          </a:r>
          <a:r>
            <a:rPr lang="nb-NO" b="1" dirty="0" err="1">
              <a:solidFill>
                <a:srgbClr val="FF0000"/>
              </a:solidFill>
            </a:rPr>
            <a:t>Standing</a:t>
          </a:r>
          <a:r>
            <a:rPr lang="nb-NO" b="1" dirty="0">
              <a:solidFill>
                <a:srgbClr val="FF0000"/>
              </a:solidFill>
            </a:rPr>
            <a:t> er </a:t>
          </a:r>
          <a:r>
            <a:rPr lang="nb-NO" b="1" dirty="0" err="1">
              <a:solidFill>
                <a:srgbClr val="FF0000"/>
              </a:solidFill>
            </a:rPr>
            <a:t>pending</a:t>
          </a:r>
          <a:r>
            <a:rPr lang="nb-NO" b="1" dirty="0">
              <a:solidFill>
                <a:srgbClr val="FF0000"/>
              </a:solidFill>
            </a:rPr>
            <a:t> en løsning på utestående.</a:t>
          </a:r>
          <a:endParaRPr lang="en-US" dirty="0">
            <a:solidFill>
              <a:srgbClr val="FF0000"/>
            </a:solidFill>
          </a:endParaRPr>
        </a:p>
      </dgm:t>
    </dgm:pt>
    <dgm:pt modelId="{F462414E-DA8C-4FDC-B29F-613DA9897F64}" type="parTrans" cxnId="{FBFD757C-6027-44C3-9301-862F6B9D081E}">
      <dgm:prSet/>
      <dgm:spPr/>
      <dgm:t>
        <a:bodyPr/>
        <a:lstStyle/>
        <a:p>
          <a:endParaRPr lang="en-US"/>
        </a:p>
      </dgm:t>
    </dgm:pt>
    <dgm:pt modelId="{5D7BC350-DE0D-41C1-A05C-E27EE653EFA1}" type="sibTrans" cxnId="{FBFD757C-6027-44C3-9301-862F6B9D081E}">
      <dgm:prSet/>
      <dgm:spPr/>
      <dgm:t>
        <a:bodyPr/>
        <a:lstStyle/>
        <a:p>
          <a:endParaRPr lang="en-US"/>
        </a:p>
      </dgm:t>
    </dgm:pt>
    <dgm:pt modelId="{645BA798-A30B-4C45-B55A-D80088B9E839}" type="pres">
      <dgm:prSet presAssocID="{C38CD54B-05B6-4BD8-83BC-F1B0D12583CC}" presName="linear" presStyleCnt="0">
        <dgm:presLayoutVars>
          <dgm:animLvl val="lvl"/>
          <dgm:resizeHandles val="exact"/>
        </dgm:presLayoutVars>
      </dgm:prSet>
      <dgm:spPr/>
    </dgm:pt>
    <dgm:pt modelId="{489FD323-2950-4DF3-802C-0457ED84C1FE}" type="pres">
      <dgm:prSet presAssocID="{EC7954CC-754A-4D7A-A194-8E8DB927628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B5C0F03-9358-45DF-9DDE-68ECE1D65AB5}" type="pres">
      <dgm:prSet presAssocID="{A141CB05-A2FD-437F-93DF-87F53FE62CD0}" presName="spacer" presStyleCnt="0"/>
      <dgm:spPr/>
    </dgm:pt>
    <dgm:pt modelId="{FD89BD76-B8FA-4CFE-9136-15C81C3E7A93}" type="pres">
      <dgm:prSet presAssocID="{427F5149-8575-4D68-A71E-C23C9E3E395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0B225FB-8FFA-4FF6-A4D7-79A243A51FBC}" type="pres">
      <dgm:prSet presAssocID="{956528DB-9620-4B5D-B49C-5D4F26D6D419}" presName="spacer" presStyleCnt="0"/>
      <dgm:spPr/>
    </dgm:pt>
    <dgm:pt modelId="{ACC9E8E1-361B-490B-AB89-892A57C59AE9}" type="pres">
      <dgm:prSet presAssocID="{3D6AE8F1-19D1-46DF-9352-7E3F70A13E2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185876D-7A1D-4E6A-A5AA-B4F8A34FD2E8}" type="pres">
      <dgm:prSet presAssocID="{097E942F-0684-4FF5-A963-7F89EB17D8A3}" presName="spacer" presStyleCnt="0"/>
      <dgm:spPr/>
    </dgm:pt>
    <dgm:pt modelId="{9D041688-2DB6-4E84-8BB5-EE1BD3F0E2FF}" type="pres">
      <dgm:prSet presAssocID="{7245432A-BD65-48F5-A494-45A3E92EB81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FBC2209-F059-4F84-B87B-30548BA34C7B}" type="presOf" srcId="{3D6AE8F1-19D1-46DF-9352-7E3F70A13E2D}" destId="{ACC9E8E1-361B-490B-AB89-892A57C59AE9}" srcOrd="0" destOrd="0" presId="urn:microsoft.com/office/officeart/2005/8/layout/vList2"/>
    <dgm:cxn modelId="{B8570E10-4B80-4971-B822-4E9B492FB670}" type="presOf" srcId="{EC7954CC-754A-4D7A-A194-8E8DB927628E}" destId="{489FD323-2950-4DF3-802C-0457ED84C1FE}" srcOrd="0" destOrd="0" presId="urn:microsoft.com/office/officeart/2005/8/layout/vList2"/>
    <dgm:cxn modelId="{03CB064D-5696-4C58-9033-51B87140824A}" srcId="{C38CD54B-05B6-4BD8-83BC-F1B0D12583CC}" destId="{427F5149-8575-4D68-A71E-C23C9E3E3950}" srcOrd="1" destOrd="0" parTransId="{CF1B9520-3A10-49E7-9450-40B9D70291C5}" sibTransId="{956528DB-9620-4B5D-B49C-5D4F26D6D419}"/>
    <dgm:cxn modelId="{E192024F-D7B8-4B15-B70B-C6E18AFD86B9}" type="presOf" srcId="{427F5149-8575-4D68-A71E-C23C9E3E3950}" destId="{FD89BD76-B8FA-4CFE-9136-15C81C3E7A93}" srcOrd="0" destOrd="0" presId="urn:microsoft.com/office/officeart/2005/8/layout/vList2"/>
    <dgm:cxn modelId="{FBFD757C-6027-44C3-9301-862F6B9D081E}" srcId="{C38CD54B-05B6-4BD8-83BC-F1B0D12583CC}" destId="{7245432A-BD65-48F5-A494-45A3E92EB819}" srcOrd="3" destOrd="0" parTransId="{F462414E-DA8C-4FDC-B29F-613DA9897F64}" sibTransId="{5D7BC350-DE0D-41C1-A05C-E27EE653EFA1}"/>
    <dgm:cxn modelId="{6C022A9D-8648-4678-A4D0-51E425AD6974}" srcId="{C38CD54B-05B6-4BD8-83BC-F1B0D12583CC}" destId="{3D6AE8F1-19D1-46DF-9352-7E3F70A13E2D}" srcOrd="2" destOrd="0" parTransId="{3B450F72-24C8-4A78-9B79-7707D74D6A1A}" sibTransId="{097E942F-0684-4FF5-A963-7F89EB17D8A3}"/>
    <dgm:cxn modelId="{B05755E7-A2D5-4614-923F-DD03CF60A5A9}" srcId="{C38CD54B-05B6-4BD8-83BC-F1B0D12583CC}" destId="{EC7954CC-754A-4D7A-A194-8E8DB927628E}" srcOrd="0" destOrd="0" parTransId="{B58D0A76-CDC2-4A0C-9F0A-5ECB87AD76AC}" sibTransId="{A141CB05-A2FD-437F-93DF-87F53FE62CD0}"/>
    <dgm:cxn modelId="{DDE3DFEE-6E35-462F-B95D-D1A2105CC5BF}" type="presOf" srcId="{C38CD54B-05B6-4BD8-83BC-F1B0D12583CC}" destId="{645BA798-A30B-4C45-B55A-D80088B9E839}" srcOrd="0" destOrd="0" presId="urn:microsoft.com/office/officeart/2005/8/layout/vList2"/>
    <dgm:cxn modelId="{581036F1-0C40-4918-8BB1-580CBB0411E0}" type="presOf" srcId="{7245432A-BD65-48F5-A494-45A3E92EB819}" destId="{9D041688-2DB6-4E84-8BB5-EE1BD3F0E2FF}" srcOrd="0" destOrd="0" presId="urn:microsoft.com/office/officeart/2005/8/layout/vList2"/>
    <dgm:cxn modelId="{6C588B71-FAD6-4BE4-B9C0-32AB359FEB6E}" type="presParOf" srcId="{645BA798-A30B-4C45-B55A-D80088B9E839}" destId="{489FD323-2950-4DF3-802C-0457ED84C1FE}" srcOrd="0" destOrd="0" presId="urn:microsoft.com/office/officeart/2005/8/layout/vList2"/>
    <dgm:cxn modelId="{3E08FD7B-74B6-4A48-B2FD-1B3AA09C7F5A}" type="presParOf" srcId="{645BA798-A30B-4C45-B55A-D80088B9E839}" destId="{3B5C0F03-9358-45DF-9DDE-68ECE1D65AB5}" srcOrd="1" destOrd="0" presId="urn:microsoft.com/office/officeart/2005/8/layout/vList2"/>
    <dgm:cxn modelId="{D71BFC63-4EF0-48AE-B5BB-FD59B2C00E25}" type="presParOf" srcId="{645BA798-A30B-4C45-B55A-D80088B9E839}" destId="{FD89BD76-B8FA-4CFE-9136-15C81C3E7A93}" srcOrd="2" destOrd="0" presId="urn:microsoft.com/office/officeart/2005/8/layout/vList2"/>
    <dgm:cxn modelId="{23CB0A9D-ED4C-4DC5-9229-9C917D419818}" type="presParOf" srcId="{645BA798-A30B-4C45-B55A-D80088B9E839}" destId="{40B225FB-8FFA-4FF6-A4D7-79A243A51FBC}" srcOrd="3" destOrd="0" presId="urn:microsoft.com/office/officeart/2005/8/layout/vList2"/>
    <dgm:cxn modelId="{63E43C8E-EFFC-432E-B2E9-14ACA877E71A}" type="presParOf" srcId="{645BA798-A30B-4C45-B55A-D80088B9E839}" destId="{ACC9E8E1-361B-490B-AB89-892A57C59AE9}" srcOrd="4" destOrd="0" presId="urn:microsoft.com/office/officeart/2005/8/layout/vList2"/>
    <dgm:cxn modelId="{07F4884C-D8D7-4C23-8173-7355FEA00D89}" type="presParOf" srcId="{645BA798-A30B-4C45-B55A-D80088B9E839}" destId="{E185876D-7A1D-4E6A-A5AA-B4F8A34FD2E8}" srcOrd="5" destOrd="0" presId="urn:microsoft.com/office/officeart/2005/8/layout/vList2"/>
    <dgm:cxn modelId="{E50F80A6-8BA0-4FFD-8396-B3EC119E184C}" type="presParOf" srcId="{645BA798-A30B-4C45-B55A-D80088B9E839}" destId="{9D041688-2DB6-4E84-8BB5-EE1BD3F0E2F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F9041E3-D6EC-461C-A154-A67AF9D5FECC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DAEFA3B-62F4-49E0-A50E-0C763CEFAC45}">
      <dgm:prSet custT="1"/>
      <dgm:spPr/>
      <dgm:t>
        <a:bodyPr/>
        <a:lstStyle/>
        <a:p>
          <a:r>
            <a:rPr lang="nb-NO" sz="2400" dirty="0"/>
            <a:t>Utestående AGA på NOK 59000,-. Løsnings forslag foreligger.</a:t>
          </a:r>
          <a:endParaRPr lang="en-US" sz="2400" dirty="0"/>
        </a:p>
      </dgm:t>
    </dgm:pt>
    <dgm:pt modelId="{77416175-3982-48E2-B237-0E1E9FD442B3}" type="parTrans" cxnId="{7B8AB975-1202-423F-A2D1-7FADE628EFD9}">
      <dgm:prSet/>
      <dgm:spPr/>
      <dgm:t>
        <a:bodyPr/>
        <a:lstStyle/>
        <a:p>
          <a:endParaRPr lang="en-US"/>
        </a:p>
      </dgm:t>
    </dgm:pt>
    <dgm:pt modelId="{B6E91C0A-9925-4388-9744-F21233A16914}" type="sibTrans" cxnId="{7B8AB975-1202-423F-A2D1-7FADE628EFD9}">
      <dgm:prSet/>
      <dgm:spPr/>
      <dgm:t>
        <a:bodyPr/>
        <a:lstStyle/>
        <a:p>
          <a:endParaRPr lang="en-US"/>
        </a:p>
      </dgm:t>
    </dgm:pt>
    <dgm:pt modelId="{AFAA2363-5923-46BB-8BEA-9F1D7F717B1A}">
      <dgm:prSet custT="1"/>
      <dgm:spPr/>
      <dgm:t>
        <a:bodyPr/>
        <a:lstStyle/>
        <a:p>
          <a:r>
            <a:rPr lang="nb-NO" sz="2400" dirty="0"/>
            <a:t>Ikke godkjent og levert regnskap for 2023. Utestående fakturaer 149 498,-. Foreslår betaling av 49 708,-Løsning pågår</a:t>
          </a:r>
          <a:endParaRPr lang="en-US" sz="2400" dirty="0"/>
        </a:p>
      </dgm:t>
    </dgm:pt>
    <dgm:pt modelId="{663611FC-5DDA-4C46-851E-0A3C5CF95DD8}" type="parTrans" cxnId="{B4E451A3-0B07-41AD-A1FC-19A6386B552D}">
      <dgm:prSet/>
      <dgm:spPr/>
      <dgm:t>
        <a:bodyPr/>
        <a:lstStyle/>
        <a:p>
          <a:endParaRPr lang="en-US"/>
        </a:p>
      </dgm:t>
    </dgm:pt>
    <dgm:pt modelId="{5BACA9E1-3C77-42BF-97B0-F21E0CF026A5}" type="sibTrans" cxnId="{B4E451A3-0B07-41AD-A1FC-19A6386B552D}">
      <dgm:prSet/>
      <dgm:spPr/>
      <dgm:t>
        <a:bodyPr/>
        <a:lstStyle/>
        <a:p>
          <a:endParaRPr lang="en-US"/>
        </a:p>
      </dgm:t>
    </dgm:pt>
    <dgm:pt modelId="{491E1A6F-3894-4312-9521-4C2B6669A410}" type="pres">
      <dgm:prSet presAssocID="{7F9041E3-D6EC-461C-A154-A67AF9D5FEC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2FCCF47-F5AF-4A70-817A-8D8DFA65D2EB}" type="pres">
      <dgm:prSet presAssocID="{4DAEFA3B-62F4-49E0-A50E-0C763CEFAC45}" presName="hierRoot1" presStyleCnt="0"/>
      <dgm:spPr/>
    </dgm:pt>
    <dgm:pt modelId="{030ECE63-8707-4E31-9AEA-135453E7C412}" type="pres">
      <dgm:prSet presAssocID="{4DAEFA3B-62F4-49E0-A50E-0C763CEFAC45}" presName="composite" presStyleCnt="0"/>
      <dgm:spPr/>
    </dgm:pt>
    <dgm:pt modelId="{57AABFC0-5E9C-43A4-BD5D-1B069F9FB92E}" type="pres">
      <dgm:prSet presAssocID="{4DAEFA3B-62F4-49E0-A50E-0C763CEFAC45}" presName="background" presStyleLbl="node0" presStyleIdx="0" presStyleCnt="2"/>
      <dgm:spPr/>
    </dgm:pt>
    <dgm:pt modelId="{CBB6A221-DB24-4BC9-99F0-74FC68D16290}" type="pres">
      <dgm:prSet presAssocID="{4DAEFA3B-62F4-49E0-A50E-0C763CEFAC45}" presName="text" presStyleLbl="fgAcc0" presStyleIdx="0" presStyleCnt="2">
        <dgm:presLayoutVars>
          <dgm:chPref val="3"/>
        </dgm:presLayoutVars>
      </dgm:prSet>
      <dgm:spPr/>
    </dgm:pt>
    <dgm:pt modelId="{7EBA8343-7FB1-4019-954D-647F74D1D827}" type="pres">
      <dgm:prSet presAssocID="{4DAEFA3B-62F4-49E0-A50E-0C763CEFAC45}" presName="hierChild2" presStyleCnt="0"/>
      <dgm:spPr/>
    </dgm:pt>
    <dgm:pt modelId="{9F34C0B3-B0F4-4CD9-9573-577C3E0E6B30}" type="pres">
      <dgm:prSet presAssocID="{AFAA2363-5923-46BB-8BEA-9F1D7F717B1A}" presName="hierRoot1" presStyleCnt="0"/>
      <dgm:spPr/>
    </dgm:pt>
    <dgm:pt modelId="{99E714DF-B7A3-4914-B5BD-C3A8789ECD44}" type="pres">
      <dgm:prSet presAssocID="{AFAA2363-5923-46BB-8BEA-9F1D7F717B1A}" presName="composite" presStyleCnt="0"/>
      <dgm:spPr/>
    </dgm:pt>
    <dgm:pt modelId="{F2189650-1BCD-4068-9B32-F508C05CF1A0}" type="pres">
      <dgm:prSet presAssocID="{AFAA2363-5923-46BB-8BEA-9F1D7F717B1A}" presName="background" presStyleLbl="node0" presStyleIdx="1" presStyleCnt="2"/>
      <dgm:spPr/>
    </dgm:pt>
    <dgm:pt modelId="{1C3675F9-67B5-4E73-B096-25F89CF4441B}" type="pres">
      <dgm:prSet presAssocID="{AFAA2363-5923-46BB-8BEA-9F1D7F717B1A}" presName="text" presStyleLbl="fgAcc0" presStyleIdx="1" presStyleCnt="2" custLinFactNeighborY="45980">
        <dgm:presLayoutVars>
          <dgm:chPref val="3"/>
        </dgm:presLayoutVars>
      </dgm:prSet>
      <dgm:spPr/>
    </dgm:pt>
    <dgm:pt modelId="{BBEDF5DF-C80E-4CEC-B6DC-E227060945EE}" type="pres">
      <dgm:prSet presAssocID="{AFAA2363-5923-46BB-8BEA-9F1D7F717B1A}" presName="hierChild2" presStyleCnt="0"/>
      <dgm:spPr/>
    </dgm:pt>
  </dgm:ptLst>
  <dgm:cxnLst>
    <dgm:cxn modelId="{1E7CFF3D-4867-4847-851E-DB3182CDD7AD}" type="presOf" srcId="{AFAA2363-5923-46BB-8BEA-9F1D7F717B1A}" destId="{1C3675F9-67B5-4E73-B096-25F89CF4441B}" srcOrd="0" destOrd="0" presId="urn:microsoft.com/office/officeart/2005/8/layout/hierarchy1"/>
    <dgm:cxn modelId="{7B8AB975-1202-423F-A2D1-7FADE628EFD9}" srcId="{7F9041E3-D6EC-461C-A154-A67AF9D5FECC}" destId="{4DAEFA3B-62F4-49E0-A50E-0C763CEFAC45}" srcOrd="0" destOrd="0" parTransId="{77416175-3982-48E2-B237-0E1E9FD442B3}" sibTransId="{B6E91C0A-9925-4388-9744-F21233A16914}"/>
    <dgm:cxn modelId="{DEE6655A-ABE2-4753-A036-AA1B7AEA2DC7}" type="presOf" srcId="{7F9041E3-D6EC-461C-A154-A67AF9D5FECC}" destId="{491E1A6F-3894-4312-9521-4C2B6669A410}" srcOrd="0" destOrd="0" presId="urn:microsoft.com/office/officeart/2005/8/layout/hierarchy1"/>
    <dgm:cxn modelId="{B4E451A3-0B07-41AD-A1FC-19A6386B552D}" srcId="{7F9041E3-D6EC-461C-A154-A67AF9D5FECC}" destId="{AFAA2363-5923-46BB-8BEA-9F1D7F717B1A}" srcOrd="1" destOrd="0" parTransId="{663611FC-5DDA-4C46-851E-0A3C5CF95DD8}" sibTransId="{5BACA9E1-3C77-42BF-97B0-F21E0CF026A5}"/>
    <dgm:cxn modelId="{0857C5C0-9E7E-47BF-84CD-C05FF2524FEA}" type="presOf" srcId="{4DAEFA3B-62F4-49E0-A50E-0C763CEFAC45}" destId="{CBB6A221-DB24-4BC9-99F0-74FC68D16290}" srcOrd="0" destOrd="0" presId="urn:microsoft.com/office/officeart/2005/8/layout/hierarchy1"/>
    <dgm:cxn modelId="{F0675736-B662-4E9A-988A-F8371A41899C}" type="presParOf" srcId="{491E1A6F-3894-4312-9521-4C2B6669A410}" destId="{F2FCCF47-F5AF-4A70-817A-8D8DFA65D2EB}" srcOrd="0" destOrd="0" presId="urn:microsoft.com/office/officeart/2005/8/layout/hierarchy1"/>
    <dgm:cxn modelId="{1AFAB736-8CC1-4514-872B-CC64940C7F73}" type="presParOf" srcId="{F2FCCF47-F5AF-4A70-817A-8D8DFA65D2EB}" destId="{030ECE63-8707-4E31-9AEA-135453E7C412}" srcOrd="0" destOrd="0" presId="urn:microsoft.com/office/officeart/2005/8/layout/hierarchy1"/>
    <dgm:cxn modelId="{AC7AABC7-7915-4B8F-9234-1AA886099AD0}" type="presParOf" srcId="{030ECE63-8707-4E31-9AEA-135453E7C412}" destId="{57AABFC0-5E9C-43A4-BD5D-1B069F9FB92E}" srcOrd="0" destOrd="0" presId="urn:microsoft.com/office/officeart/2005/8/layout/hierarchy1"/>
    <dgm:cxn modelId="{336DDD0E-0B9B-4437-A7CD-6512F846A57C}" type="presParOf" srcId="{030ECE63-8707-4E31-9AEA-135453E7C412}" destId="{CBB6A221-DB24-4BC9-99F0-74FC68D16290}" srcOrd="1" destOrd="0" presId="urn:microsoft.com/office/officeart/2005/8/layout/hierarchy1"/>
    <dgm:cxn modelId="{17495B2F-8EEA-4D17-9EE4-6118B4098EA1}" type="presParOf" srcId="{F2FCCF47-F5AF-4A70-817A-8D8DFA65D2EB}" destId="{7EBA8343-7FB1-4019-954D-647F74D1D827}" srcOrd="1" destOrd="0" presId="urn:microsoft.com/office/officeart/2005/8/layout/hierarchy1"/>
    <dgm:cxn modelId="{0A5B7704-F540-4014-87D0-BEBFDDC6D2D3}" type="presParOf" srcId="{491E1A6F-3894-4312-9521-4C2B6669A410}" destId="{9F34C0B3-B0F4-4CD9-9573-577C3E0E6B30}" srcOrd="1" destOrd="0" presId="urn:microsoft.com/office/officeart/2005/8/layout/hierarchy1"/>
    <dgm:cxn modelId="{48A319B3-8A60-4512-9E81-811EA7B15BA5}" type="presParOf" srcId="{9F34C0B3-B0F4-4CD9-9573-577C3E0E6B30}" destId="{99E714DF-B7A3-4914-B5BD-C3A8789ECD44}" srcOrd="0" destOrd="0" presId="urn:microsoft.com/office/officeart/2005/8/layout/hierarchy1"/>
    <dgm:cxn modelId="{0E1D8F5E-DA99-47B5-9DDC-88C467DEED3C}" type="presParOf" srcId="{99E714DF-B7A3-4914-B5BD-C3A8789ECD44}" destId="{F2189650-1BCD-4068-9B32-F508C05CF1A0}" srcOrd="0" destOrd="0" presId="urn:microsoft.com/office/officeart/2005/8/layout/hierarchy1"/>
    <dgm:cxn modelId="{EA752699-2CC4-4CD7-AFFD-F6156B3F5BBD}" type="presParOf" srcId="{99E714DF-B7A3-4914-B5BD-C3A8789ECD44}" destId="{1C3675F9-67B5-4E73-B096-25F89CF4441B}" srcOrd="1" destOrd="0" presId="urn:microsoft.com/office/officeart/2005/8/layout/hierarchy1"/>
    <dgm:cxn modelId="{CF7133D8-0830-45CF-A842-205BFF59E3E2}" type="presParOf" srcId="{9F34C0B3-B0F4-4CD9-9573-577C3E0E6B30}" destId="{BBEDF5DF-C80E-4CEC-B6DC-E227060945E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29F3F6-CFCC-45CC-B0B1-D278BA56A997}">
      <dsp:nvSpPr>
        <dsp:cNvPr id="0" name=""/>
        <dsp:cNvSpPr/>
      </dsp:nvSpPr>
      <dsp:spPr>
        <a:xfrm>
          <a:off x="0" y="0"/>
          <a:ext cx="6832212" cy="12572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B1319C-6E93-4725-A2EF-E75C977A6F56}">
      <dsp:nvSpPr>
        <dsp:cNvPr id="0" name=""/>
        <dsp:cNvSpPr/>
      </dsp:nvSpPr>
      <dsp:spPr>
        <a:xfrm>
          <a:off x="454916" y="237406"/>
          <a:ext cx="827120" cy="8271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646B35-2281-438F-9D88-F327E4093134}">
      <dsp:nvSpPr>
        <dsp:cNvPr id="0" name=""/>
        <dsp:cNvSpPr/>
      </dsp:nvSpPr>
      <dsp:spPr>
        <a:xfrm>
          <a:off x="1736952" y="642"/>
          <a:ext cx="5095259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900" kern="1200"/>
            <a:t>Det mangler noe info fra daglig leder og styret, inne ila uken.</a:t>
          </a:r>
          <a:endParaRPr lang="en-US" sz="1900" kern="1200"/>
        </a:p>
      </dsp:txBody>
      <dsp:txXfrm>
        <a:off x="1736952" y="642"/>
        <a:ext cx="5095259" cy="1503855"/>
      </dsp:txXfrm>
    </dsp:sp>
    <dsp:sp modelId="{88652508-B256-4F13-AC36-2DC30905770F}">
      <dsp:nvSpPr>
        <dsp:cNvPr id="0" name=""/>
        <dsp:cNvSpPr/>
      </dsp:nvSpPr>
      <dsp:spPr>
        <a:xfrm>
          <a:off x="0" y="1549358"/>
          <a:ext cx="6832212" cy="9889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83C0A7-D788-41C7-AB6F-E9E8060D5A65}">
      <dsp:nvSpPr>
        <dsp:cNvPr id="0" name=""/>
        <dsp:cNvSpPr/>
      </dsp:nvSpPr>
      <dsp:spPr>
        <a:xfrm>
          <a:off x="445677" y="1632425"/>
          <a:ext cx="827120" cy="8271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D3FF0A-8571-439F-A376-787EAEE11BCA}">
      <dsp:nvSpPr>
        <dsp:cNvPr id="0" name=""/>
        <dsp:cNvSpPr/>
      </dsp:nvSpPr>
      <dsp:spPr>
        <a:xfrm>
          <a:off x="1524531" y="1291522"/>
          <a:ext cx="5095259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900" kern="1200" dirty="0" err="1"/>
            <a:t>Certificate</a:t>
          </a:r>
          <a:r>
            <a:rPr lang="nb-NO" sz="1900" kern="1200" dirty="0"/>
            <a:t> </a:t>
          </a:r>
          <a:r>
            <a:rPr lang="nb-NO" sz="1900" kern="1200" dirty="0" err="1"/>
            <a:t>of</a:t>
          </a:r>
          <a:r>
            <a:rPr lang="nb-NO" sz="1900" kern="1200" dirty="0"/>
            <a:t> </a:t>
          </a:r>
          <a:r>
            <a:rPr lang="nb-NO" sz="1900" kern="1200" dirty="0" err="1"/>
            <a:t>good</a:t>
          </a:r>
          <a:r>
            <a:rPr lang="nb-NO" sz="1900" kern="1200" dirty="0"/>
            <a:t> </a:t>
          </a:r>
          <a:r>
            <a:rPr lang="nb-NO" sz="1900" kern="1200" dirty="0" err="1"/>
            <a:t>standing</a:t>
          </a:r>
          <a:r>
            <a:rPr lang="nb-NO" sz="1900" kern="1200" dirty="0"/>
            <a:t> må bestilles på nytt etter at regnskap er godkjent fra revisor og innlevert foretaksregisteret.</a:t>
          </a:r>
          <a:endParaRPr lang="en-US" sz="1900" kern="1200" dirty="0"/>
        </a:p>
      </dsp:txBody>
      <dsp:txXfrm>
        <a:off x="1524531" y="1291522"/>
        <a:ext cx="5095259" cy="1503855"/>
      </dsp:txXfrm>
    </dsp:sp>
    <dsp:sp modelId="{C119A74B-5640-4DDF-86F0-EFEE9DB1D179}">
      <dsp:nvSpPr>
        <dsp:cNvPr id="0" name=""/>
        <dsp:cNvSpPr/>
      </dsp:nvSpPr>
      <dsp:spPr>
        <a:xfrm>
          <a:off x="0" y="2795384"/>
          <a:ext cx="6832212" cy="831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757D7F-75A1-485A-B53B-60CB7E00985A}">
      <dsp:nvSpPr>
        <dsp:cNvPr id="0" name=""/>
        <dsp:cNvSpPr/>
      </dsp:nvSpPr>
      <dsp:spPr>
        <a:xfrm>
          <a:off x="473385" y="2787447"/>
          <a:ext cx="827120" cy="8271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C052C-EC49-46DB-8E58-048B26CF9C33}">
      <dsp:nvSpPr>
        <dsp:cNvPr id="0" name=""/>
        <dsp:cNvSpPr/>
      </dsp:nvSpPr>
      <dsp:spPr>
        <a:xfrm>
          <a:off x="1736952" y="2538353"/>
          <a:ext cx="5095259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900" kern="1200" dirty="0"/>
            <a:t>AGA må enten betales eller vi må få en utsatt betalingsfrist.</a:t>
          </a:r>
          <a:endParaRPr lang="en-US" sz="1900" kern="1200" dirty="0"/>
        </a:p>
      </dsp:txBody>
      <dsp:txXfrm>
        <a:off x="1736952" y="2538353"/>
        <a:ext cx="5095259" cy="15038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22DE60-6F2F-49F4-BF7B-D645EE608D70}">
      <dsp:nvSpPr>
        <dsp:cNvPr id="0" name=""/>
        <dsp:cNvSpPr/>
      </dsp:nvSpPr>
      <dsp:spPr>
        <a:xfrm>
          <a:off x="0" y="37838"/>
          <a:ext cx="6832212" cy="85385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39BE50-08B3-4A1B-AE90-0E0130D5FBB5}">
      <dsp:nvSpPr>
        <dsp:cNvPr id="0" name=""/>
        <dsp:cNvSpPr/>
      </dsp:nvSpPr>
      <dsp:spPr>
        <a:xfrm>
          <a:off x="374696" y="281144"/>
          <a:ext cx="681267" cy="6812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BCFF32-0A5F-40AA-849A-FC74D8879197}">
      <dsp:nvSpPr>
        <dsp:cNvPr id="0" name=""/>
        <dsp:cNvSpPr/>
      </dsp:nvSpPr>
      <dsp:spPr>
        <a:xfrm>
          <a:off x="1430660" y="2443"/>
          <a:ext cx="5401551" cy="1238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92" tIns="131092" rIns="131092" bIns="13109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500" kern="1200"/>
            <a:t>Etter samtale med revisor i dag 31.072024 etterlyses det innsending av regnskap til BDO som er vår revisor. </a:t>
          </a:r>
          <a:endParaRPr lang="en-US" sz="1500" kern="1200"/>
        </a:p>
      </dsp:txBody>
      <dsp:txXfrm>
        <a:off x="1430660" y="2443"/>
        <a:ext cx="5401551" cy="1238667"/>
      </dsp:txXfrm>
    </dsp:sp>
    <dsp:sp modelId="{82343045-D5C3-4E6D-9669-F21F86E728C9}">
      <dsp:nvSpPr>
        <dsp:cNvPr id="0" name=""/>
        <dsp:cNvSpPr/>
      </dsp:nvSpPr>
      <dsp:spPr>
        <a:xfrm>
          <a:off x="0" y="1033547"/>
          <a:ext cx="6832212" cy="123866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ED6D92-8AE9-4003-940B-5B5BCF35A417}">
      <dsp:nvSpPr>
        <dsp:cNvPr id="0" name=""/>
        <dsp:cNvSpPr/>
      </dsp:nvSpPr>
      <dsp:spPr>
        <a:xfrm>
          <a:off x="374696" y="1829478"/>
          <a:ext cx="681267" cy="6812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456CC2-99A4-4B14-9C6C-048F44A02647}">
      <dsp:nvSpPr>
        <dsp:cNvPr id="0" name=""/>
        <dsp:cNvSpPr/>
      </dsp:nvSpPr>
      <dsp:spPr>
        <a:xfrm>
          <a:off x="1430660" y="1064477"/>
          <a:ext cx="5401551" cy="1238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92" tIns="131092" rIns="131092" bIns="13109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500" kern="1200" dirty="0"/>
            <a:t>FOS regnskap har dokumentasjon på at BDO fikk dette oversendt fra regnskap og det ble dokumentene ble åpnet den 15.07.2024, regnskapet ble på nytt oversendt til regnskap den 31.07.2024.</a:t>
          </a:r>
          <a:endParaRPr lang="en-US" sz="1500" kern="1200" dirty="0"/>
        </a:p>
      </dsp:txBody>
      <dsp:txXfrm>
        <a:off x="1430660" y="1064477"/>
        <a:ext cx="5401551" cy="1238667"/>
      </dsp:txXfrm>
    </dsp:sp>
    <dsp:sp modelId="{7C1CA2E4-873A-4A23-B834-40A4C531C614}">
      <dsp:nvSpPr>
        <dsp:cNvPr id="0" name=""/>
        <dsp:cNvSpPr/>
      </dsp:nvSpPr>
      <dsp:spPr>
        <a:xfrm>
          <a:off x="0" y="2376913"/>
          <a:ext cx="6832212" cy="1021367"/>
        </a:xfrm>
        <a:prstGeom prst="roundRect">
          <a:avLst>
            <a:gd name="adj" fmla="val 10000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DABECB-6C52-4A58-9F1A-524CE2A787C4}">
      <dsp:nvSpPr>
        <dsp:cNvPr id="0" name=""/>
        <dsp:cNvSpPr/>
      </dsp:nvSpPr>
      <dsp:spPr>
        <a:xfrm>
          <a:off x="383934" y="2538348"/>
          <a:ext cx="681267" cy="6812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440130-37FF-4450-B224-E72D3E2C46B9}">
      <dsp:nvSpPr>
        <dsp:cNvPr id="0" name=""/>
        <dsp:cNvSpPr/>
      </dsp:nvSpPr>
      <dsp:spPr>
        <a:xfrm>
          <a:off x="1382857" y="2286732"/>
          <a:ext cx="5401551" cy="1238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92" tIns="131092" rIns="131092" bIns="13109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500" kern="1200" dirty="0"/>
            <a:t>Det er pr. 31.07.2024 ikke forventet iht. samtale med revisor i dag at de skal ha noen penger up front for å ferdigstille regnskapet i følge Stig Andre. </a:t>
          </a:r>
          <a:endParaRPr lang="en-US" sz="1500" kern="1200" dirty="0"/>
        </a:p>
      </dsp:txBody>
      <dsp:txXfrm>
        <a:off x="1382857" y="2286732"/>
        <a:ext cx="5401551" cy="1238667"/>
      </dsp:txXfrm>
    </dsp:sp>
    <dsp:sp modelId="{36DB5CD2-9360-4E80-8409-F8A5EF297C10}">
      <dsp:nvSpPr>
        <dsp:cNvPr id="0" name=""/>
        <dsp:cNvSpPr/>
      </dsp:nvSpPr>
      <dsp:spPr>
        <a:xfrm>
          <a:off x="0" y="4649890"/>
          <a:ext cx="6832212" cy="1238667"/>
        </a:xfrm>
        <a:prstGeom prst="roundRect">
          <a:avLst>
            <a:gd name="adj" fmla="val 10000"/>
          </a:avLst>
        </a:prstGeom>
        <a:solidFill>
          <a:srgbClr val="FF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FE7CA2-8A22-49BF-AAD2-1D319805DE26}">
      <dsp:nvSpPr>
        <dsp:cNvPr id="0" name=""/>
        <dsp:cNvSpPr/>
      </dsp:nvSpPr>
      <dsp:spPr>
        <a:xfrm>
          <a:off x="374696" y="4926146"/>
          <a:ext cx="681267" cy="6812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67224-F1ED-481F-8DD6-DC8FED9DE940}">
      <dsp:nvSpPr>
        <dsp:cNvPr id="0" name=""/>
        <dsp:cNvSpPr/>
      </dsp:nvSpPr>
      <dsp:spPr>
        <a:xfrm>
          <a:off x="1430660" y="4649890"/>
          <a:ext cx="5401551" cy="1238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92" tIns="131092" rIns="131092" bIns="13109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500" b="1" kern="1200" dirty="0"/>
            <a:t>Grønt lys i forhold til </a:t>
          </a:r>
          <a:r>
            <a:rPr lang="nb-NO" sz="1500" b="1" kern="1200" dirty="0" err="1"/>
            <a:t>Certificate</a:t>
          </a:r>
          <a:r>
            <a:rPr lang="nb-NO" sz="1500" b="1" kern="1200" dirty="0"/>
            <a:t> </a:t>
          </a:r>
          <a:r>
            <a:rPr lang="nb-NO" sz="1500" b="1" kern="1200" dirty="0" err="1"/>
            <a:t>of</a:t>
          </a:r>
          <a:r>
            <a:rPr lang="nb-NO" sz="1500" b="1" kern="1200" dirty="0"/>
            <a:t> Good </a:t>
          </a:r>
          <a:r>
            <a:rPr lang="nb-NO" sz="1500" b="1" kern="1200" dirty="0" err="1"/>
            <a:t>Standing</a:t>
          </a:r>
          <a:r>
            <a:rPr lang="nb-NO" sz="1500" b="1" kern="1200" dirty="0"/>
            <a:t> er </a:t>
          </a:r>
          <a:r>
            <a:rPr lang="nb-NO" sz="1500" b="1" kern="1200" dirty="0" err="1"/>
            <a:t>pending</a:t>
          </a:r>
          <a:r>
            <a:rPr lang="nb-NO" sz="1500" b="1" kern="1200" dirty="0"/>
            <a:t> </a:t>
          </a:r>
          <a:r>
            <a:rPr lang="nb-NO" sz="1500" b="1" kern="1200" dirty="0" err="1"/>
            <a:t>godkjendt</a:t>
          </a:r>
          <a:r>
            <a:rPr lang="nb-NO" sz="1500" b="1" kern="1200" dirty="0"/>
            <a:t> og innlevert regnskap.</a:t>
          </a:r>
          <a:endParaRPr lang="en-US" sz="1500" kern="1200" dirty="0"/>
        </a:p>
      </dsp:txBody>
      <dsp:txXfrm>
        <a:off x="1430660" y="4649890"/>
        <a:ext cx="5401551" cy="12386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9FD323-2950-4DF3-802C-0457ED84C1FE}">
      <dsp:nvSpPr>
        <dsp:cNvPr id="0" name=""/>
        <dsp:cNvSpPr/>
      </dsp:nvSpPr>
      <dsp:spPr>
        <a:xfrm>
          <a:off x="0" y="73370"/>
          <a:ext cx="7145867" cy="89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600" kern="1200" dirty="0"/>
            <a:t>Skattevesenet har pr. 31.07.2024 utestående fordringer hos FOS i forhold til AGA på NOK 59900,-, dette kan forhindre </a:t>
          </a:r>
          <a:r>
            <a:rPr lang="nb-NO" sz="1600" kern="1200" dirty="0" err="1"/>
            <a:t>Certificate</a:t>
          </a:r>
          <a:r>
            <a:rPr lang="nb-NO" sz="1600" kern="1200" dirty="0"/>
            <a:t> </a:t>
          </a:r>
          <a:r>
            <a:rPr lang="nb-NO" sz="1600" kern="1200" dirty="0" err="1"/>
            <a:t>of</a:t>
          </a:r>
          <a:r>
            <a:rPr lang="nb-NO" sz="1600" kern="1200" dirty="0"/>
            <a:t> </a:t>
          </a:r>
          <a:r>
            <a:rPr lang="nb-NO" sz="1600" kern="1200" dirty="0" err="1"/>
            <a:t>good</a:t>
          </a:r>
          <a:r>
            <a:rPr lang="nb-NO" sz="1600" kern="1200" dirty="0"/>
            <a:t> </a:t>
          </a:r>
          <a:r>
            <a:rPr lang="nb-NO" sz="1600" kern="1200" dirty="0" err="1"/>
            <a:t>standing</a:t>
          </a:r>
          <a:r>
            <a:rPr lang="nb-NO" sz="1600" kern="1200" dirty="0"/>
            <a:t>.  Løsnings alternativer:</a:t>
          </a:r>
          <a:endParaRPr lang="en-US" sz="1600" kern="1200" dirty="0"/>
        </a:p>
      </dsp:txBody>
      <dsp:txXfrm>
        <a:off x="43864" y="117234"/>
        <a:ext cx="7058139" cy="810832"/>
      </dsp:txXfrm>
    </dsp:sp>
    <dsp:sp modelId="{FD89BD76-B8FA-4CFE-9136-15C81C3E7A93}">
      <dsp:nvSpPr>
        <dsp:cNvPr id="0" name=""/>
        <dsp:cNvSpPr/>
      </dsp:nvSpPr>
      <dsp:spPr>
        <a:xfrm>
          <a:off x="0" y="1018011"/>
          <a:ext cx="7145867" cy="89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600" kern="1200"/>
            <a:t>Alt 1: Snakke med skattevesenet og få utsatt betalingsdato. </a:t>
          </a:r>
          <a:endParaRPr lang="en-US" sz="1600" kern="1200"/>
        </a:p>
      </dsp:txBody>
      <dsp:txXfrm>
        <a:off x="43864" y="1061875"/>
        <a:ext cx="7058139" cy="810832"/>
      </dsp:txXfrm>
    </dsp:sp>
    <dsp:sp modelId="{ACC9E8E1-361B-490B-AB89-892A57C59AE9}">
      <dsp:nvSpPr>
        <dsp:cNvPr id="0" name=""/>
        <dsp:cNvSpPr/>
      </dsp:nvSpPr>
      <dsp:spPr>
        <a:xfrm>
          <a:off x="0" y="1962651"/>
          <a:ext cx="7145867" cy="89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600" kern="1200"/>
            <a:t>Alt 2: Betale beløpet. Pr 31.07.2024 er det ikke kapital i selskapet til å betale dette.</a:t>
          </a:r>
          <a:endParaRPr lang="en-US" sz="1600" kern="1200"/>
        </a:p>
      </dsp:txBody>
      <dsp:txXfrm>
        <a:off x="43864" y="2006515"/>
        <a:ext cx="7058139" cy="810832"/>
      </dsp:txXfrm>
    </dsp:sp>
    <dsp:sp modelId="{9D041688-2DB6-4E84-8BB5-EE1BD3F0E2FF}">
      <dsp:nvSpPr>
        <dsp:cNvPr id="0" name=""/>
        <dsp:cNvSpPr/>
      </dsp:nvSpPr>
      <dsp:spPr>
        <a:xfrm>
          <a:off x="0" y="2907291"/>
          <a:ext cx="7145867" cy="89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600" b="1" kern="1200" dirty="0">
              <a:solidFill>
                <a:srgbClr val="FF0000"/>
              </a:solidFill>
            </a:rPr>
            <a:t>Grønt lys i forhold til </a:t>
          </a:r>
          <a:r>
            <a:rPr lang="nb-NO" sz="1600" b="1" kern="1200" dirty="0" err="1">
              <a:solidFill>
                <a:srgbClr val="FF0000"/>
              </a:solidFill>
            </a:rPr>
            <a:t>Certificate</a:t>
          </a:r>
          <a:r>
            <a:rPr lang="nb-NO" sz="1600" b="1" kern="1200" dirty="0">
              <a:solidFill>
                <a:srgbClr val="FF0000"/>
              </a:solidFill>
            </a:rPr>
            <a:t> </a:t>
          </a:r>
          <a:r>
            <a:rPr lang="nb-NO" sz="1600" b="1" kern="1200" dirty="0" err="1">
              <a:solidFill>
                <a:srgbClr val="FF0000"/>
              </a:solidFill>
            </a:rPr>
            <a:t>of</a:t>
          </a:r>
          <a:r>
            <a:rPr lang="nb-NO" sz="1600" b="1" kern="1200" dirty="0">
              <a:solidFill>
                <a:srgbClr val="FF0000"/>
              </a:solidFill>
            </a:rPr>
            <a:t> Good </a:t>
          </a:r>
          <a:r>
            <a:rPr lang="nb-NO" sz="1600" b="1" kern="1200" dirty="0" err="1">
              <a:solidFill>
                <a:srgbClr val="FF0000"/>
              </a:solidFill>
            </a:rPr>
            <a:t>Standing</a:t>
          </a:r>
          <a:r>
            <a:rPr lang="nb-NO" sz="1600" b="1" kern="1200" dirty="0">
              <a:solidFill>
                <a:srgbClr val="FF0000"/>
              </a:solidFill>
            </a:rPr>
            <a:t> er </a:t>
          </a:r>
          <a:r>
            <a:rPr lang="nb-NO" sz="1600" b="1" kern="1200" dirty="0" err="1">
              <a:solidFill>
                <a:srgbClr val="FF0000"/>
              </a:solidFill>
            </a:rPr>
            <a:t>pending</a:t>
          </a:r>
          <a:r>
            <a:rPr lang="nb-NO" sz="1600" b="1" kern="1200" dirty="0">
              <a:solidFill>
                <a:srgbClr val="FF0000"/>
              </a:solidFill>
            </a:rPr>
            <a:t> en løsning på utestående.</a:t>
          </a:r>
          <a:endParaRPr lang="en-US" sz="1600" kern="1200" dirty="0">
            <a:solidFill>
              <a:srgbClr val="FF0000"/>
            </a:solidFill>
          </a:endParaRPr>
        </a:p>
      </dsp:txBody>
      <dsp:txXfrm>
        <a:off x="43864" y="2951155"/>
        <a:ext cx="7058139" cy="8108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AABFC0-5E9C-43A4-BD5D-1B069F9FB92E}">
      <dsp:nvSpPr>
        <dsp:cNvPr id="0" name=""/>
        <dsp:cNvSpPr/>
      </dsp:nvSpPr>
      <dsp:spPr>
        <a:xfrm>
          <a:off x="469679" y="982"/>
          <a:ext cx="3997039" cy="25381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BB6A221-DB24-4BC9-99F0-74FC68D16290}">
      <dsp:nvSpPr>
        <dsp:cNvPr id="0" name=""/>
        <dsp:cNvSpPr/>
      </dsp:nvSpPr>
      <dsp:spPr>
        <a:xfrm>
          <a:off x="913795" y="422892"/>
          <a:ext cx="3997039" cy="25381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400" kern="1200" dirty="0"/>
            <a:t>Utestående AGA på NOK 59000,-. Løsnings forslag foreligger.</a:t>
          </a:r>
          <a:endParaRPr lang="en-US" sz="2400" kern="1200" dirty="0"/>
        </a:p>
      </dsp:txBody>
      <dsp:txXfrm>
        <a:off x="988134" y="497231"/>
        <a:ext cx="3848361" cy="2389442"/>
      </dsp:txXfrm>
    </dsp:sp>
    <dsp:sp modelId="{F2189650-1BCD-4068-9B32-F508C05CF1A0}">
      <dsp:nvSpPr>
        <dsp:cNvPr id="0" name=""/>
        <dsp:cNvSpPr/>
      </dsp:nvSpPr>
      <dsp:spPr>
        <a:xfrm>
          <a:off x="5354950" y="1965"/>
          <a:ext cx="3997039" cy="25381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3675F9-67B5-4E73-B096-25F89CF4441B}">
      <dsp:nvSpPr>
        <dsp:cNvPr id="0" name=""/>
        <dsp:cNvSpPr/>
      </dsp:nvSpPr>
      <dsp:spPr>
        <a:xfrm>
          <a:off x="5799066" y="423875"/>
          <a:ext cx="3997039" cy="25381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400" kern="1200" dirty="0"/>
            <a:t>Ikke godkjent og levert regnskap for 2023. Utestående fakturaer 149 498,-. Foreslår betaling av 49 708,-Løsning pågår</a:t>
          </a:r>
          <a:endParaRPr lang="en-US" sz="2400" kern="1200" dirty="0"/>
        </a:p>
      </dsp:txBody>
      <dsp:txXfrm>
        <a:off x="5873405" y="498214"/>
        <a:ext cx="3848361" cy="23894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02.08.2024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4665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02.08.2024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3349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02.08.2024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2241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02.08.2024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1867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02.08.2024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3892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02.08.2024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0734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02.08.2024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30731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02.08.2024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53629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02.08.2024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0530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02.08.2024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96003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tat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02.08.2024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8282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02.08.2024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61281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 med s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02.08.2024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7435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n eller Usa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02.08.2024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11125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02.08.2024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2943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02.08.2024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4428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19461-F96B-489D-ADBE-B52B06B3DC50}" type="datetimeFigureOut">
              <a:rPr lang="nb-NO" smtClean="0"/>
              <a:t>02.08.2024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407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4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1819F9-8CAC-4A6C-8F06-0482027F9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7DC468D8-0E82-B54D-B804-21F849388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3062" y="4127644"/>
            <a:ext cx="8131550" cy="1126283"/>
          </a:xfrm>
        </p:spPr>
        <p:txBody>
          <a:bodyPr>
            <a:normAutofit/>
          </a:bodyPr>
          <a:lstStyle/>
          <a:p>
            <a:r>
              <a:rPr lang="nb-NO" dirty="0"/>
              <a:t>02.08.2024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6D1AE01-C709-9B46-4466-EE6D2C2A3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3062" y="1864865"/>
            <a:ext cx="8131550" cy="2262781"/>
          </a:xfrm>
        </p:spPr>
        <p:txBody>
          <a:bodyPr>
            <a:normAutofit/>
          </a:bodyPr>
          <a:lstStyle/>
          <a:p>
            <a:r>
              <a:rPr lang="nb-NO"/>
              <a:t>Shareholder meeting FOS</a:t>
            </a:r>
            <a:endParaRPr lang="nb-NO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98CC08-AEC2-4E8F-8F52-0F5C6372D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D1545E6-EB3C-4478-A661-A2CA963F1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B2E5B960-0C5D-4F77-8E9F-9F3D883D8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258E44FC-92AD-43A0-BB05-DB268C82D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C63D3083-A56C-4199-8DE0-63C8BE9ED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C7CD3581-635D-438F-A64F-68404E7AE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D6904C0-211C-41A2-BDB8-3B07C90B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B0837DA6-CAF9-4E78-A39E-6358EDE2B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0A99DD7D-3AB3-471E-842F-8AFEA09D0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9C70B0D4-92FE-478F-86BD-93BA2C4DF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C9156BE6-11D4-4696-9E3F-C325BFAC8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4E667226-1D20-4A9D-BBE3-AC17EA436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2F87E3B6-5202-4434-9B26-42B46774F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AEA5E85F-F1F4-40E4-A62C-95324F674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0A75861-F6C5-44A9-B161-B03701CBD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2EE642D-4F69-47C0-99BA-CE4350357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26178CE4-DA2D-46EA-AB8D-341C5AC56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98E9F53-8381-4FA5-A510-846925D24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B13CE284-F21E-411B-BB8E-9C03B853C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23DF4578-4703-437C-A797-2A2D0CEE5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F878F330-AF64-4F8F-88FD-A4A408D6D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AC9B00BF-4FB7-42FA-BBBD-7DB54ED3F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BD3D64CA-2AAD-4609-8DAA-3EAD4609A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C669E05A-8550-4E91-B29E-E1912228E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8C1FD53-1E8F-46CA-BC2D-FCEC4DAE0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CC97A31F-CFDE-4EA3-98F1-13FDD1670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9E1540E7-E6C3-4907-B70A-B17568365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1310EFE2-B91D-47E7-B117-C2A80280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04791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CD864AE-D826-6024-610A-657AFE58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Agenda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A6CE576-10CE-20F5-CC7D-502EAD186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836" y="1905000"/>
            <a:ext cx="3793300" cy="3777622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Oppdatert likviditets oversikt.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Kapital behov nødvendig for at FOS ikke skal være på kreditors regning i påvente av Sveits finansiering.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Status på bekreftet kapital under låneavtale.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Status Sveits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Årsregnskap FOS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</a:t>
            </a: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standing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hos foretaksregisteret.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</a:t>
            </a: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standing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hos skattevesenet.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standing </a:t>
            </a:r>
            <a:r>
              <a:rPr lang="en-US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forhold </a:t>
            </a:r>
            <a:r>
              <a:rPr lang="en-US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til</a:t>
            </a: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«Certificate of good standing”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Styreleder</a:t>
            </a: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rollen</a:t>
            </a: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formelt.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AOB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698F2387-816B-135D-2785-B20EE9EE7DAF}"/>
              </a:ext>
            </a:extLst>
          </p:cNvPr>
          <p:cNvSpPr txBox="1">
            <a:spLocks/>
          </p:cNvSpPr>
          <p:nvPr/>
        </p:nvSpPr>
        <p:spPr>
          <a:xfrm>
            <a:off x="6531866" y="1905000"/>
            <a:ext cx="3793300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dirty="0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089E5420-7310-3BA2-DC1C-4F177A3D8326}"/>
              </a:ext>
            </a:extLst>
          </p:cNvPr>
          <p:cNvSpPr txBox="1"/>
          <p:nvPr/>
        </p:nvSpPr>
        <p:spPr>
          <a:xfrm>
            <a:off x="6531866" y="1905000"/>
            <a:ext cx="3793300" cy="3572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Updated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liquidity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overview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Capital requirements necessary for FOS to avoid creditor dependency while awaiting Swiss financing.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Status of confirmed capital under the loan agreement.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Status </a:t>
            </a: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of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Swiss </a:t>
            </a: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financing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</a:t>
            </a: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annual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financial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statements.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standing with the business register.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standing with the tax authorities.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standing concerning the "Certificate of Good Standing."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The formal role of the Chairman of the Board.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Any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other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business (AOB).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19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4E9F44E-02E7-4A97-B7DB-1DB0F1F4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154F2546-BFC4-4B9A-B22A-40C22269F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4BB2355B-3CC7-4F78-AEE5-42361DBF4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031B8A19-2FD3-4302-91CF-C8B6F93B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73162A24-700C-424E-96EC-86CB156D0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1F0C1D92-E435-4491-B392-AB951E055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0212CAD4-9EC5-41A6-B23D-EBA052710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EFDEEEF-07D4-42EA-BAF2-B6FB6442D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2F4FA7A2-4814-4283-AED6-51BE57860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3A80AF23-BF8E-4209-B9DE-1D2A637B4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19128847-0CCA-451D-A00A-2855A4D6D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5007ABF4-C6D7-4D5A-B621-E22A6CDE2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C626D9E0-6E9C-49D1-9350-E85A88DD3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22DE9C-F188-48E2-A82C-4434A8EEE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02013AA2-1F55-4C5D-AA37-2F66C2056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1FB61D00-6151-464C-A1C0-2F19F6413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A5ED6B64-D948-4BCE-9D88-5BB2FDD8F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F89D4BEB-9156-4620-A774-3B780CC75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B4A8D726-AC9C-413C-BA61-279C42A85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F17D811C-C413-4847-8A99-0C428A583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75BC74C6-A8D3-43B7-88D6-D36F1C038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57EEDAFB-AA1B-4B29-B0D8-E3F097A30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2037E8F3-503E-4F56-81D4-C0058A855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B3B14D57-F75A-402A-B35D-98E84AD68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4AFB6E2F-5AF1-4DB0-851C-8F7492A9E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6725B281-5E62-47B4-873A-9B126142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6A10670B-6568-4038-91D8-392C78C0C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62163DB6-3EE7-474C-8726-1A05F7DE4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F81819F9-8CAC-4A6C-8F06-0482027F9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062" y="4127644"/>
            <a:ext cx="8131550" cy="11262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Runar/Hans Erik informerer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062" y="1864865"/>
            <a:ext cx="8131550" cy="22627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sz="5400" b="1">
                <a:effectLst/>
              </a:rPr>
              <a:t>Oppdatert likviditets oversikt.</a:t>
            </a:r>
            <a:endParaRPr lang="en-US" sz="5400">
              <a:effectLst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98CC08-AEC2-4E8F-8F52-0F5C6372D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D1545E6-EB3C-4478-A661-A2CA963F1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B2E5B960-0C5D-4F77-8E9F-9F3D883D8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258E44FC-92AD-43A0-BB05-DB268C82D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C63D3083-A56C-4199-8DE0-63C8BE9ED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C7CD3581-635D-438F-A64F-68404E7AE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AD6904C0-211C-41A2-BDB8-3B07C90B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B0837DA6-CAF9-4E78-A39E-6358EDE2B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0A99DD7D-3AB3-471E-842F-8AFEA09D0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9C70B0D4-92FE-478F-86BD-93BA2C4DF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C9156BE6-11D4-4696-9E3F-C325BFAC8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4E667226-1D20-4A9D-BBE3-AC17EA436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2F87E3B6-5202-4434-9B26-42B46774F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A5E85F-F1F4-40E4-A62C-95324F674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0A75861-F6C5-44A9-B161-B03701CBD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72EE642D-4F69-47C0-99BA-CE4350357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26178CE4-DA2D-46EA-AB8D-341C5AC56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698E9F53-8381-4FA5-A510-846925D24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2" name="Freeform 30">
              <a:extLst>
                <a:ext uri="{FF2B5EF4-FFF2-40B4-BE49-F238E27FC236}">
                  <a16:creationId xmlns:a16="http://schemas.microsoft.com/office/drawing/2014/main" id="{B13CE284-F21E-411B-BB8E-9C03B853C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3" name="Freeform 31">
              <a:extLst>
                <a:ext uri="{FF2B5EF4-FFF2-40B4-BE49-F238E27FC236}">
                  <a16:creationId xmlns:a16="http://schemas.microsoft.com/office/drawing/2014/main" id="{23DF4578-4703-437C-A797-2A2D0CEE5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4" name="Freeform 32">
              <a:extLst>
                <a:ext uri="{FF2B5EF4-FFF2-40B4-BE49-F238E27FC236}">
                  <a16:creationId xmlns:a16="http://schemas.microsoft.com/office/drawing/2014/main" id="{F878F330-AF64-4F8F-88FD-A4A408D6D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5" name="Freeform 33">
              <a:extLst>
                <a:ext uri="{FF2B5EF4-FFF2-40B4-BE49-F238E27FC236}">
                  <a16:creationId xmlns:a16="http://schemas.microsoft.com/office/drawing/2014/main" id="{AC9B00BF-4FB7-42FA-BBBD-7DB54ED3F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6" name="Freeform 34">
              <a:extLst>
                <a:ext uri="{FF2B5EF4-FFF2-40B4-BE49-F238E27FC236}">
                  <a16:creationId xmlns:a16="http://schemas.microsoft.com/office/drawing/2014/main" id="{BD3D64CA-2AAD-4609-8DAA-3EAD4609A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7" name="Freeform 35">
              <a:extLst>
                <a:ext uri="{FF2B5EF4-FFF2-40B4-BE49-F238E27FC236}">
                  <a16:creationId xmlns:a16="http://schemas.microsoft.com/office/drawing/2014/main" id="{C669E05A-8550-4E91-B29E-E1912228E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8" name="Freeform 36">
              <a:extLst>
                <a:ext uri="{FF2B5EF4-FFF2-40B4-BE49-F238E27FC236}">
                  <a16:creationId xmlns:a16="http://schemas.microsoft.com/office/drawing/2014/main" id="{F8C1FD53-1E8F-46CA-BC2D-FCEC4DAE0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9" name="Freeform 37">
              <a:extLst>
                <a:ext uri="{FF2B5EF4-FFF2-40B4-BE49-F238E27FC236}">
                  <a16:creationId xmlns:a16="http://schemas.microsoft.com/office/drawing/2014/main" id="{CC97A31F-CFDE-4EA3-98F1-13FDD1670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0" name="Freeform 38">
              <a:extLst>
                <a:ext uri="{FF2B5EF4-FFF2-40B4-BE49-F238E27FC236}">
                  <a16:creationId xmlns:a16="http://schemas.microsoft.com/office/drawing/2014/main" id="{9E1540E7-E6C3-4907-B70A-B17568365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72" name="Freeform 11">
            <a:extLst>
              <a:ext uri="{FF2B5EF4-FFF2-40B4-BE49-F238E27FC236}">
                <a16:creationId xmlns:a16="http://schemas.microsoft.com/office/drawing/2014/main" id="{1310EFE2-B91D-47E7-B117-C2A80280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8054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4E9F44E-02E7-4A97-B7DB-1DB0F1F4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154F2546-BFC4-4B9A-B22A-40C22269F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4BB2355B-3CC7-4F78-AEE5-42361DBF4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031B8A19-2FD3-4302-91CF-C8B6F93B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73162A24-700C-424E-96EC-86CB156D0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1F0C1D92-E435-4491-B392-AB951E055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0212CAD4-9EC5-41A6-B23D-EBA052710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EFDEEEF-07D4-42EA-BAF2-B6FB6442D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2F4FA7A2-4814-4283-AED6-51BE57860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3A80AF23-BF8E-4209-B9DE-1D2A637B4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19128847-0CCA-451D-A00A-2855A4D6D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5007ABF4-C6D7-4D5A-B621-E22A6CDE2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C626D9E0-6E9C-49D1-9350-E85A88DD3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22DE9C-F188-48E2-A82C-4434A8EEE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02013AA2-1F55-4C5D-AA37-2F66C2056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1FB61D00-6151-464C-A1C0-2F19F6413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A5ED6B64-D948-4BCE-9D88-5BB2FDD8F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F89D4BEB-9156-4620-A774-3B780CC75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B4A8D726-AC9C-413C-BA61-279C42A85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F17D811C-C413-4847-8A99-0C428A583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75BC74C6-A8D3-43B7-88D6-D36F1C038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57EEDAFB-AA1B-4B29-B0D8-E3F097A30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2037E8F3-503E-4F56-81D4-C0058A855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B3B14D57-F75A-402A-B35D-98E84AD68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4AFB6E2F-5AF1-4DB0-851C-8F7492A9E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6725B281-5E62-47B4-873A-9B126142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6A10670B-6568-4038-91D8-392C78C0C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62163DB6-3EE7-474C-8726-1A05F7DE4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519" y="804334"/>
            <a:ext cx="3164648" cy="52493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r">
              <a:buNone/>
            </a:pPr>
            <a:r>
              <a:rPr lang="en-US">
                <a:solidFill>
                  <a:schemeClr val="tx2">
                    <a:lumMod val="75000"/>
                  </a:schemeClr>
                </a:solidFill>
              </a:rPr>
              <a:t>Runar/Hans Erik kommer med noen perspektiver som kan påvirke kapital behovet.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71831"/>
            <a:ext cx="0" cy="320040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1">
              <a:alpha val="30000"/>
            </a:schemeClr>
          </a:solidFill>
        </p:grpSpPr>
        <p:sp>
          <p:nvSpPr>
            <p:cNvPr id="47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48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5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6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7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326" y="1318591"/>
            <a:ext cx="5882201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z="5400" b="1">
                <a:solidFill>
                  <a:schemeClr val="tx2">
                    <a:lumMod val="75000"/>
                  </a:schemeClr>
                </a:solidFill>
                <a:effectLst/>
              </a:rPr>
              <a:t>Kapital behov.</a:t>
            </a:r>
            <a:endParaRPr lang="en-US" sz="5400">
              <a:solidFill>
                <a:schemeClr val="tx2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1906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A46F010-D160-4609-8979-FFD8C1EA6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062" y="624110"/>
            <a:ext cx="8131550" cy="1280890"/>
          </a:xfrm>
        </p:spPr>
        <p:txBody>
          <a:bodyPr>
            <a:normAutofit/>
          </a:bodyPr>
          <a:lstStyle/>
          <a:p>
            <a:pPr lvl="0"/>
            <a:r>
              <a:rPr lang="nb-NO" b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Status på bekreftet kapital under låneavtale.</a:t>
            </a:r>
            <a:endParaRPr lang="nb-NO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8C4F6-C3AC-4C94-8EC7-E4F7B7E9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789310-9859-4942-98C8-3D2F12AAA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FE9E5460-2AA9-4786-B69C-23DBEF356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E344A2AF-3860-4427-B13E-98021C17A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DDBDD44E-1DC0-48AB-8FEC-E098D9197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3151FF3E-5E3F-4D82-A684-0003BACEA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C6CBF27E-7F0C-4489-95A7-82DE1C046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233BE304-221E-425E-A484-4B2E5F405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0D5734E-EAEA-4A08-86A9-39BD5563E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4D47FE86-98D1-4E35-86E4-16E9A19A6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F00661F9-B224-4DB1-8EFB-ABF9402BD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679DCB4E-8D36-4B7A-AF0C-8399F113A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4FAD51F6-D24C-4FD6-BEAE-41F0E5A82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87AC773F-6D31-458A-9DD7-76566C8A9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F1CEC7A-E419-4950-AA57-B00546C29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AE7DCD1-5235-45E8-B229-15A3E3962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C82E58C3-65A5-4079-BF94-E675AA410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AABE1FA-6DC8-4A47-AC5C-F05B9C111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17BB7298-8900-4C67-B800-BD241F019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EE3442F8-53C2-490C-94EF-E423ECB95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DBEA916-8B10-493A-8CBF-9B5FA2A4A0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248DB27B-F9EA-4F81-A746-7D57B768E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998E5C90-2A81-4013-AE09-2023B4407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86A8318B-7607-4519-8EEB-C7DD50965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5009FB1B-4865-45DB-8727-F012E3ACA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5B209B64-3A98-4B1A-857A-2368AFED6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EB3B5D03-7AE3-411C-A820-6844E7D0C6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91328346-8BAD-4616-B50B-5CFDA5648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062" y="2133600"/>
            <a:ext cx="8131550" cy="377762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nb-NO" sz="1100"/>
              <a:t>Det er pr. i dag i </a:t>
            </a:r>
            <a:r>
              <a:rPr lang="nb-NO" sz="1100" err="1"/>
              <a:t>lånerunde</a:t>
            </a:r>
            <a:r>
              <a:rPr lang="nb-NO" sz="1100"/>
              <a:t> 3 betalt inn 250 000,- fra Arne </a:t>
            </a:r>
            <a:r>
              <a:rPr lang="nb-NO" sz="1100" err="1"/>
              <a:t>Gåskjenn</a:t>
            </a:r>
            <a:r>
              <a:rPr lang="nb-NO" sz="1100"/>
              <a:t>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/>
              <a:t>Fra andre sittende aksjonærer i FOS har følgende bekreftet kapital under forutsetning at de norske aksjonærene også er med: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/>
              <a:t>Musa Adnin NOK 400 000,-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/>
              <a:t>Rasmus Nordbø NOK 300 000,-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/>
              <a:t>Fra </a:t>
            </a:r>
            <a:r>
              <a:rPr lang="nb-NO" sz="1100" err="1"/>
              <a:t>Ferdocean</a:t>
            </a:r>
            <a:r>
              <a:rPr lang="nb-NO" sz="1100"/>
              <a:t> AS: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/>
              <a:t>Frank Hinrichsen har bekreftet at han låner inn NOK 300 000,- under forutsetning at hele beløpet  på   2 650 000,- er sikret.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/>
              <a:t>Jone Skjæveland har bekreftet at han låner inn NOK 200 000,- under forutsetning at hele beløpet  på 2 650 000,- er sikret.</a:t>
            </a:r>
          </a:p>
          <a:p>
            <a:pPr marL="0" indent="0">
              <a:lnSpc>
                <a:spcPct val="90000"/>
              </a:lnSpc>
              <a:buNone/>
            </a:pPr>
            <a:endParaRPr lang="nb-NO" sz="1100"/>
          </a:p>
          <a:p>
            <a:pPr marL="0" indent="0">
              <a:lnSpc>
                <a:spcPct val="90000"/>
              </a:lnSpc>
              <a:buNone/>
            </a:pPr>
            <a:r>
              <a:rPr lang="nb-NO" sz="1100" b="1"/>
              <a:t>Kapital som er bekreftet totalt: 1 450 000 med ulike forutsetninger.</a:t>
            </a:r>
          </a:p>
          <a:p>
            <a:pPr marL="0" indent="0">
              <a:lnSpc>
                <a:spcPct val="90000"/>
              </a:lnSpc>
              <a:buNone/>
            </a:pPr>
            <a:endParaRPr lang="nb-NO" sz="1100"/>
          </a:p>
          <a:p>
            <a:pPr marL="0" indent="0">
              <a:lnSpc>
                <a:spcPct val="90000"/>
              </a:lnSpc>
              <a:buNone/>
            </a:pPr>
            <a:r>
              <a:rPr lang="nb-NO" sz="1100"/>
              <a:t>Resterende kapital som kan lånes opp </a:t>
            </a:r>
            <a:r>
              <a:rPr lang="nb-NO" sz="1100" err="1"/>
              <a:t>iht</a:t>
            </a:r>
            <a:r>
              <a:rPr lang="nb-NO" sz="1100"/>
              <a:t> avtale er NOK 1 650 000,-</a:t>
            </a:r>
          </a:p>
          <a:p>
            <a:pPr marL="0" indent="0">
              <a:lnSpc>
                <a:spcPct val="90000"/>
              </a:lnSpc>
              <a:buNone/>
            </a:pPr>
            <a:endParaRPr lang="nb-NO" sz="1100"/>
          </a:p>
          <a:p>
            <a:pPr marL="0" indent="0">
              <a:lnSpc>
                <a:spcPct val="90000"/>
              </a:lnSpc>
              <a:buNone/>
            </a:pPr>
            <a:endParaRPr lang="nb-NO" sz="1100"/>
          </a:p>
        </p:txBody>
      </p:sp>
    </p:spTree>
    <p:extLst>
      <p:ext uri="{BB962C8B-B14F-4D97-AF65-F5344CB8AC3E}">
        <p14:creationId xmlns:p14="http://schemas.microsoft.com/office/powerpoint/2010/main" val="79375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BB01FB5-37B9-4EBD-AF40-DE68D3CA4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pPr lvl="0"/>
            <a:r>
              <a:rPr lang="nb-NO" sz="3200" b="1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Status Sveits</a:t>
            </a:r>
            <a:endParaRPr lang="nb-NO" sz="320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6AF6A9A-0638-4916-AD29-9FC8FC07A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9057B2B-0D8C-47F2-836B-2E7DD462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Plassholder for innhold 2">
            <a:extLst>
              <a:ext uri="{FF2B5EF4-FFF2-40B4-BE49-F238E27FC236}">
                <a16:creationId xmlns:a16="http://schemas.microsoft.com/office/drawing/2014/main" id="{45BCCFCA-DE5E-66B4-D1F3-3177EF6D4B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6283421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ktangel: avrundede hjørner 3">
            <a:extLst>
              <a:ext uri="{FF2B5EF4-FFF2-40B4-BE49-F238E27FC236}">
                <a16:creationId xmlns:a16="http://schemas.microsoft.com/office/drawing/2014/main" id="{A70043BF-AC17-0292-003A-A14AC1C0A31D}"/>
              </a:ext>
            </a:extLst>
          </p:cNvPr>
          <p:cNvSpPr/>
          <p:nvPr/>
        </p:nvSpPr>
        <p:spPr>
          <a:xfrm>
            <a:off x="4713144" y="4748984"/>
            <a:ext cx="6832212" cy="831526"/>
          </a:xfrm>
          <a:prstGeom prst="roundRect">
            <a:avLst>
              <a:gd name="adj" fmla="val 10000"/>
            </a:avLst>
          </a:prstGeom>
          <a:solidFill>
            <a:srgbClr val="FF0000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nb-NO"/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A43360FB-A1CC-6138-1932-E3D11CCDD1FE}"/>
              </a:ext>
            </a:extLst>
          </p:cNvPr>
          <p:cNvSpPr txBox="1"/>
          <p:nvPr/>
        </p:nvSpPr>
        <p:spPr>
          <a:xfrm>
            <a:off x="5091399" y="4841581"/>
            <a:ext cx="6075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b="1" dirty="0">
                <a:solidFill>
                  <a:schemeClr val="bg1"/>
                </a:solidFill>
              </a:rPr>
              <a:t>For å sikre </a:t>
            </a:r>
            <a:r>
              <a:rPr lang="nb-NO" b="1" dirty="0" err="1">
                <a:solidFill>
                  <a:schemeClr val="bg1"/>
                </a:solidFill>
              </a:rPr>
              <a:t>Certificate</a:t>
            </a:r>
            <a:r>
              <a:rPr lang="nb-NO" b="1" dirty="0">
                <a:solidFill>
                  <a:schemeClr val="bg1"/>
                </a:solidFill>
              </a:rPr>
              <a:t> </a:t>
            </a:r>
            <a:r>
              <a:rPr lang="nb-NO" b="1" dirty="0" err="1">
                <a:solidFill>
                  <a:schemeClr val="bg1"/>
                </a:solidFill>
              </a:rPr>
              <a:t>of</a:t>
            </a:r>
            <a:r>
              <a:rPr lang="nb-NO" b="1" dirty="0">
                <a:solidFill>
                  <a:schemeClr val="bg1"/>
                </a:solidFill>
              </a:rPr>
              <a:t> Good </a:t>
            </a:r>
            <a:r>
              <a:rPr lang="nb-NO" b="1" dirty="0" err="1">
                <a:solidFill>
                  <a:schemeClr val="bg1"/>
                </a:solidFill>
              </a:rPr>
              <a:t>Standing</a:t>
            </a:r>
            <a:r>
              <a:rPr lang="nb-NO" b="1" dirty="0">
                <a:solidFill>
                  <a:schemeClr val="bg1"/>
                </a:solidFill>
              </a:rPr>
              <a:t> må AGA og </a:t>
            </a:r>
          </a:p>
          <a:p>
            <a:r>
              <a:rPr lang="nb-NO" b="1" dirty="0">
                <a:solidFill>
                  <a:schemeClr val="bg1"/>
                </a:solidFill>
              </a:rPr>
              <a:t>deler av utestående til BDO betales. Nok 109610,-</a:t>
            </a:r>
          </a:p>
        </p:txBody>
      </p:sp>
    </p:spTree>
    <p:extLst>
      <p:ext uri="{BB962C8B-B14F-4D97-AF65-F5344CB8AC3E}">
        <p14:creationId xmlns:p14="http://schemas.microsoft.com/office/powerpoint/2010/main" val="2699261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BB01FB5-37B9-4EBD-AF40-DE68D3CA4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pPr lvl="0"/>
            <a:r>
              <a:rPr lang="nb-NO" sz="30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Årsregnskap FOS</a:t>
            </a:r>
            <a:endParaRPr lang="nb-NO" sz="30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6AF6A9A-0638-4916-AD29-9FC8FC07A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9057B2B-0D8C-47F2-836B-2E7DD462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Plassholder for innhold 2">
            <a:extLst>
              <a:ext uri="{FF2B5EF4-FFF2-40B4-BE49-F238E27FC236}">
                <a16:creationId xmlns:a16="http://schemas.microsoft.com/office/drawing/2014/main" id="{A0A51969-D09B-EEEF-398D-1A64DE2833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2685457"/>
              </p:ext>
            </p:extLst>
          </p:nvPr>
        </p:nvGraphicFramePr>
        <p:xfrm>
          <a:off x="4713144" y="641551"/>
          <a:ext cx="6832212" cy="58885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ktangel: avrundede hjørner 3">
            <a:extLst>
              <a:ext uri="{FF2B5EF4-FFF2-40B4-BE49-F238E27FC236}">
                <a16:creationId xmlns:a16="http://schemas.microsoft.com/office/drawing/2014/main" id="{7AE0090D-9605-1ED6-A730-D7064BA6F4A5}"/>
              </a:ext>
            </a:extLst>
          </p:cNvPr>
          <p:cNvSpPr/>
          <p:nvPr/>
        </p:nvSpPr>
        <p:spPr>
          <a:xfrm>
            <a:off x="4713144" y="4248728"/>
            <a:ext cx="6832212" cy="903243"/>
          </a:xfrm>
          <a:prstGeom prst="roundRect">
            <a:avLst>
              <a:gd name="adj" fmla="val 10000"/>
            </a:avLst>
          </a:prstGeom>
          <a:solidFill>
            <a:srgbClr val="FF0000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r>
              <a:rPr lang="nb-NO" sz="1500" b="1" dirty="0">
                <a:solidFill>
                  <a:schemeClr val="bg1"/>
                </a:solidFill>
              </a:rPr>
              <a:t>I følge Wencke på BDO har ikke regnskapet prioritet og fakturaer på minimum 149498 er utestående, foreslår å betale 2 fakturaer med forfall 19.03.2024 pålydende 49710,-.</a:t>
            </a:r>
          </a:p>
        </p:txBody>
      </p:sp>
    </p:spTree>
    <p:extLst>
      <p:ext uri="{BB962C8B-B14F-4D97-AF65-F5344CB8AC3E}">
        <p14:creationId xmlns:p14="http://schemas.microsoft.com/office/powerpoint/2010/main" val="1808753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879851-1A1D-4246-AAA1-C484E8583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18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o fargede tau knyttet sammen">
            <a:extLst>
              <a:ext uri="{FF2B5EF4-FFF2-40B4-BE49-F238E27FC236}">
                <a16:creationId xmlns:a16="http://schemas.microsoft.com/office/drawing/2014/main" id="{1112C9F9-DF0A-0D3D-AC62-3D701B215A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0965" b="4766"/>
          <a:stretch/>
        </p:blipFill>
        <p:spPr>
          <a:xfrm>
            <a:off x="-8825" y="10"/>
            <a:ext cx="12192000" cy="6857990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513" y="624110"/>
            <a:ext cx="8911687" cy="1280890"/>
          </a:xfrm>
        </p:spPr>
        <p:txBody>
          <a:bodyPr>
            <a:normAutofit/>
          </a:bodyPr>
          <a:lstStyle/>
          <a:p>
            <a:pPr lvl="0"/>
            <a:r>
              <a:rPr lang="nb-NO" b="1">
                <a:solidFill>
                  <a:schemeClr val="tx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standing hos foretaksregisteret.</a:t>
            </a:r>
            <a:endParaRPr lang="nb-NO"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1800" y="2133600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dirty="0"/>
              <a:t>Foretaksregisteret har pr. 31.07.2024 ingen utestående fordringer eller heftelser med FOS.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b="1"/>
              <a:t>Grønt lys i forhold til </a:t>
            </a:r>
            <a:r>
              <a:rPr lang="nb-NO" b="1" err="1"/>
              <a:t>Certificate</a:t>
            </a:r>
            <a:r>
              <a:rPr lang="nb-NO" b="1"/>
              <a:t> </a:t>
            </a:r>
            <a:r>
              <a:rPr lang="nb-NO" b="1" err="1"/>
              <a:t>of</a:t>
            </a:r>
            <a:r>
              <a:rPr lang="nb-NO" b="1"/>
              <a:t> Good </a:t>
            </a:r>
            <a:r>
              <a:rPr lang="nb-NO" b="1" err="1"/>
              <a:t>Standing</a:t>
            </a:r>
            <a:endParaRPr lang="nb-NO" b="1"/>
          </a:p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655665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2FDEACC-D224-4F5B-A0BE-6581493C3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7B8489-9450-4A50-94AF-90283270F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8229600" cy="6858000"/>
          </a:xfrm>
          <a:prstGeom prst="rect">
            <a:avLst/>
          </a:prstGeom>
          <a:solidFill>
            <a:srgbClr val="A8721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9D81556A-CBCA-4ADE-9ACA-F18F2F5E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pPr lvl="0"/>
            <a:r>
              <a:rPr lang="nb-NO" sz="3200" b="1">
                <a:solidFill>
                  <a:srgbClr val="FEFFFF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standing hos skattevesenet.</a:t>
            </a:r>
            <a:endParaRPr lang="nb-NO" sz="3200">
              <a:solidFill>
                <a:srgbClr val="FEFFFF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graphicFrame>
        <p:nvGraphicFramePr>
          <p:cNvPr id="24" name="Plassholder for innhold 2">
            <a:extLst>
              <a:ext uri="{FF2B5EF4-FFF2-40B4-BE49-F238E27FC236}">
                <a16:creationId xmlns:a16="http://schemas.microsoft.com/office/drawing/2014/main" id="{841A9EBF-A694-9FA4-7C9C-1F8A91883E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209618"/>
              </p:ext>
            </p:extLst>
          </p:nvPr>
        </p:nvGraphicFramePr>
        <p:xfrm>
          <a:off x="541866" y="2032000"/>
          <a:ext cx="7145867" cy="3879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Puslespillbiter">
            <a:extLst>
              <a:ext uri="{FF2B5EF4-FFF2-40B4-BE49-F238E27FC236}">
                <a16:creationId xmlns:a16="http://schemas.microsoft.com/office/drawing/2014/main" id="{750ED03A-D484-4791-46E7-06699D3C3A8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793" b="10620"/>
          <a:stretch/>
        </p:blipFill>
        <p:spPr>
          <a:xfrm>
            <a:off x="8713057" y="3118949"/>
            <a:ext cx="3001931" cy="168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612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31DBE429-8660-4D88-BC47-B159B7251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BB7DF222-98CD-4513-8AEA-F83CF2A11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pPr lvl="0"/>
            <a:r>
              <a:rPr lang="en-US" b="1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standing i forhold til «Certificate of good standing”</a:t>
            </a:r>
            <a:endParaRPr lang="nb-NO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92C98781-DD9B-44BA-B873-BD5060A9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graphicFrame>
        <p:nvGraphicFramePr>
          <p:cNvPr id="16" name="Plassholder for innhold 2">
            <a:extLst>
              <a:ext uri="{FF2B5EF4-FFF2-40B4-BE49-F238E27FC236}">
                <a16:creationId xmlns:a16="http://schemas.microsoft.com/office/drawing/2014/main" id="{A83BE3DD-E16B-BB7D-2A94-AEB04C6254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4047461"/>
              </p:ext>
            </p:extLst>
          </p:nvPr>
        </p:nvGraphicFramePr>
        <p:xfrm>
          <a:off x="961012" y="2930805"/>
          <a:ext cx="10265786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1975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2FDEACC-D224-4F5B-A0BE-6581493C3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7B8489-9450-4A50-94AF-90283270F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8229600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D81556A-CBCA-4ADE-9ACA-F18F2F5E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pPr lvl="0"/>
            <a:r>
              <a:rPr lang="en-US" sz="3200" b="1">
                <a:solidFill>
                  <a:srgbClr val="FEFFFF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Styreleder rollen formelt.</a:t>
            </a:r>
            <a:endParaRPr lang="nb-NO" sz="3200">
              <a:solidFill>
                <a:srgbClr val="FEFFFF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6" y="2032000"/>
            <a:ext cx="7145867" cy="38792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dirty="0">
                <a:solidFill>
                  <a:srgbClr val="FEFFFF"/>
                </a:solidFill>
              </a:rPr>
              <a:t>Til orientering er det ikke pr. 31.07.2024 levert noen samordnet register melding om ny styreleder.</a:t>
            </a:r>
          </a:p>
          <a:p>
            <a:pPr marL="0" indent="0">
              <a:buNone/>
            </a:pPr>
            <a:r>
              <a:rPr lang="nb-NO" dirty="0">
                <a:solidFill>
                  <a:srgbClr val="FEFFFF"/>
                </a:solidFill>
              </a:rPr>
              <a:t>I følge foretaksregisteret den 31.07.2024 er det foreløpig ingen fare så lenge styret er intakt. </a:t>
            </a:r>
          </a:p>
          <a:p>
            <a:pPr marL="0" indent="0">
              <a:buNone/>
            </a:pPr>
            <a:r>
              <a:rPr lang="nb-NO" dirty="0">
                <a:solidFill>
                  <a:srgbClr val="FEFFFF"/>
                </a:solidFill>
              </a:rPr>
              <a:t>For at rollene i forhold til Sveits skal være på plass må en samordnet registermelding leveres til foretaksregisteret fortrinnsvis før ny </a:t>
            </a:r>
            <a:r>
              <a:rPr lang="nb-NO" dirty="0" err="1">
                <a:solidFill>
                  <a:srgbClr val="FEFFFF"/>
                </a:solidFill>
              </a:rPr>
              <a:t>Certificate</a:t>
            </a:r>
            <a:r>
              <a:rPr lang="nb-NO" dirty="0">
                <a:solidFill>
                  <a:srgbClr val="FEFFFF"/>
                </a:solidFill>
              </a:rPr>
              <a:t> </a:t>
            </a:r>
            <a:r>
              <a:rPr lang="nb-NO" dirty="0" err="1">
                <a:solidFill>
                  <a:srgbClr val="FEFFFF"/>
                </a:solidFill>
              </a:rPr>
              <a:t>of</a:t>
            </a:r>
            <a:r>
              <a:rPr lang="nb-NO" dirty="0">
                <a:solidFill>
                  <a:srgbClr val="FEFFFF"/>
                </a:solidFill>
              </a:rPr>
              <a:t> Good </a:t>
            </a:r>
            <a:r>
              <a:rPr lang="nb-NO" dirty="0" err="1">
                <a:solidFill>
                  <a:srgbClr val="FEFFFF"/>
                </a:solidFill>
              </a:rPr>
              <a:t>Standing</a:t>
            </a:r>
            <a:r>
              <a:rPr lang="nb-NO" dirty="0">
                <a:solidFill>
                  <a:srgbClr val="FEFFFF"/>
                </a:solidFill>
              </a:rPr>
              <a:t> bestilles.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FB6DB643-CDAF-0566-5FF1-C9FAB866A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057" y="3329090"/>
            <a:ext cx="3001931" cy="126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365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pPr lvl="0"/>
            <a:r>
              <a:rPr lang="en-US" sz="3200" b="1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AOB</a:t>
            </a:r>
            <a:endParaRPr lang="nb-NO" sz="320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578" y="589722"/>
            <a:ext cx="6798033" cy="53215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931101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2A1117-4695-2604-B675-4CEF2355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597" y="2788555"/>
            <a:ext cx="8911687" cy="1280890"/>
          </a:xfrm>
        </p:spPr>
        <p:txBody>
          <a:bodyPr/>
          <a:lstStyle/>
          <a:p>
            <a:pPr algn="ctr"/>
            <a:r>
              <a:rPr lang="nb-NO" dirty="0"/>
              <a:t>Takk for oppmøte</a:t>
            </a:r>
          </a:p>
        </p:txBody>
      </p:sp>
    </p:spTree>
    <p:extLst>
      <p:ext uri="{BB962C8B-B14F-4D97-AF65-F5344CB8AC3E}">
        <p14:creationId xmlns:p14="http://schemas.microsoft.com/office/powerpoint/2010/main" val="4171451193"/>
      </p:ext>
    </p:extLst>
  </p:cSld>
  <p:clrMapOvr>
    <a:masterClrMapping/>
  </p:clrMapOvr>
</p:sld>
</file>

<file path=ppt/theme/theme1.xml><?xml version="1.0" encoding="utf-8"?>
<a:theme xmlns:a="http://schemas.openxmlformats.org/drawingml/2006/main" name="Tryllestav">
  <a:themeElements>
    <a:clrScheme name="Tryllestav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Tryllestav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yllestav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2118</TotalTime>
  <Words>715</Words>
  <Application>Microsoft Office PowerPoint</Application>
  <PresentationFormat>Widescreen</PresentationFormat>
  <Paragraphs>69</Paragraphs>
  <Slides>13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13</vt:i4>
      </vt:variant>
    </vt:vector>
  </HeadingPairs>
  <TitlesOfParts>
    <vt:vector size="19" baseType="lpstr">
      <vt:lpstr>Aptos</vt:lpstr>
      <vt:lpstr>Arial</vt:lpstr>
      <vt:lpstr>Century Gothic</vt:lpstr>
      <vt:lpstr>Segoe UI</vt:lpstr>
      <vt:lpstr>Wingdings 3</vt:lpstr>
      <vt:lpstr>Tryllestav</vt:lpstr>
      <vt:lpstr>Shareholder meeting FOS</vt:lpstr>
      <vt:lpstr>Agenda</vt:lpstr>
      <vt:lpstr>Oppdatert likviditets oversikt.</vt:lpstr>
      <vt:lpstr>Kapital behov.</vt:lpstr>
      <vt:lpstr>Status på bekreftet kapital under låneavtale.</vt:lpstr>
      <vt:lpstr>Status Sveits</vt:lpstr>
      <vt:lpstr>Årsregnskap FOS</vt:lpstr>
      <vt:lpstr>FOS standing hos foretaksregisteret.</vt:lpstr>
      <vt:lpstr>FOS standing hos skattevesenet.</vt:lpstr>
      <vt:lpstr>FOS standing i forhold til «Certificate of good standing”</vt:lpstr>
      <vt:lpstr>Styreleder rollen formelt.</vt:lpstr>
      <vt:lpstr>AOB</vt:lpstr>
      <vt:lpstr>Takk for oppmøte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Tore Ausland</dc:creator>
  <cp:lastModifiedBy>Tore Ausland</cp:lastModifiedBy>
  <cp:revision>11</cp:revision>
  <dcterms:created xsi:type="dcterms:W3CDTF">2024-06-24T07:04:37Z</dcterms:created>
  <dcterms:modified xsi:type="dcterms:W3CDTF">2024-08-02T10:00:24Z</dcterms:modified>
</cp:coreProperties>
</file>