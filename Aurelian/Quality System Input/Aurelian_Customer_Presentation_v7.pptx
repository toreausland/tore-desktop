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1E333-EE58-446E-8767-34F156C8576B}" v="1" dt="2026-02-19T17:27:41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C7003D35-0069-4681-A939-A1D689C68C91}"/>
    <pc:docChg chg="modSld">
      <pc:chgData name="Tore Ausland" userId="aba57685-d7d9-45f9-a74d-a4b3d109653f" providerId="ADAL" clId="{C7003D35-0069-4681-A939-A1D689C68C91}" dt="2026-02-19T17:30:16.481" v="64" actId="1076"/>
      <pc:docMkLst>
        <pc:docMk/>
      </pc:docMkLst>
      <pc:sldChg chg="modSp mod">
        <pc:chgData name="Tore Ausland" userId="aba57685-d7d9-45f9-a74d-a4b3d109653f" providerId="ADAL" clId="{C7003D35-0069-4681-A939-A1D689C68C91}" dt="2026-02-19T17:30:16.481" v="64" actId="1076"/>
        <pc:sldMkLst>
          <pc:docMk/>
          <pc:sldMk cId="0" sldId="256"/>
        </pc:sldMkLst>
        <pc:spChg chg="mod">
          <ac:chgData name="Tore Ausland" userId="aba57685-d7d9-45f9-a74d-a4b3d109653f" providerId="ADAL" clId="{C7003D35-0069-4681-A939-A1D689C68C91}" dt="2026-02-19T17:30:16.481" v="6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30:10.764" v="6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30:10.764" v="63" actId="1076"/>
          <ac:spMkLst>
            <pc:docMk/>
            <pc:sldMk cId="0" sldId="256"/>
            <ac:spMk id="5" creationId="{00000000-0000-0000-0000-000000000000}"/>
          </ac:spMkLst>
        </pc:spChg>
      </pc:sldChg>
      <pc:sldChg chg="addSp modSp mod">
        <pc:chgData name="Tore Ausland" userId="aba57685-d7d9-45f9-a74d-a4b3d109653f" providerId="ADAL" clId="{C7003D35-0069-4681-A939-A1D689C68C91}" dt="2026-02-19T17:28:17.112" v="62" actId="20577"/>
        <pc:sldMkLst>
          <pc:docMk/>
          <pc:sldMk cId="0" sldId="260"/>
        </pc:sldMkLst>
        <pc:spChg chg="mod">
          <ac:chgData name="Tore Ausland" userId="aba57685-d7d9-45f9-a74d-a4b3d109653f" providerId="ADAL" clId="{C7003D35-0069-4681-A939-A1D689C68C91}" dt="2026-02-19T17:25:12.719" v="16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5:54.937" v="22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11.670" v="28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11.670" v="2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5:20.758" v="17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11.670" v="28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11.670" v="28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6:36.184" v="26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6:16.698" v="24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11.670" v="28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6:16.698" v="24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23.877" v="29" actId="1410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30.907" v="30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11.670" v="28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11.670" v="28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11.670" v="28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7:11.670" v="28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6:50.399" v="27" actId="1076"/>
          <ac:spMkLst>
            <pc:docMk/>
            <pc:sldMk cId="0" sldId="260"/>
            <ac:spMk id="24" creationId="{00000000-0000-0000-0000-000000000000}"/>
          </ac:spMkLst>
        </pc:spChg>
        <pc:spChg chg="add mod">
          <ac:chgData name="Tore Ausland" userId="aba57685-d7d9-45f9-a74d-a4b3d109653f" providerId="ADAL" clId="{C7003D35-0069-4681-A939-A1D689C68C91}" dt="2026-02-19T17:27:48.449" v="32" actId="1076"/>
          <ac:spMkLst>
            <pc:docMk/>
            <pc:sldMk cId="0" sldId="260"/>
            <ac:spMk id="27" creationId="{CC3FDD1F-E7AA-6249-1327-56F26646485D}"/>
          </ac:spMkLst>
        </pc:spChg>
        <pc:spChg chg="add mod">
          <ac:chgData name="Tore Ausland" userId="aba57685-d7d9-45f9-a74d-a4b3d109653f" providerId="ADAL" clId="{C7003D35-0069-4681-A939-A1D689C68C91}" dt="2026-02-19T17:27:48.449" v="32" actId="1076"/>
          <ac:spMkLst>
            <pc:docMk/>
            <pc:sldMk cId="0" sldId="260"/>
            <ac:spMk id="28" creationId="{59E55304-4D0A-5EC3-C152-7A70B3432EEF}"/>
          </ac:spMkLst>
        </pc:spChg>
        <pc:spChg chg="add mod">
          <ac:chgData name="Tore Ausland" userId="aba57685-d7d9-45f9-a74d-a4b3d109653f" providerId="ADAL" clId="{C7003D35-0069-4681-A939-A1D689C68C91}" dt="2026-02-19T17:27:48.449" v="32" actId="1076"/>
          <ac:spMkLst>
            <pc:docMk/>
            <pc:sldMk cId="0" sldId="260"/>
            <ac:spMk id="29" creationId="{E8A1AB96-8B45-29AD-3006-4D5DA73B8D22}"/>
          </ac:spMkLst>
        </pc:spChg>
        <pc:spChg chg="add mod">
          <ac:chgData name="Tore Ausland" userId="aba57685-d7d9-45f9-a74d-a4b3d109653f" providerId="ADAL" clId="{C7003D35-0069-4681-A939-A1D689C68C91}" dt="2026-02-19T17:27:48.449" v="32" actId="1076"/>
          <ac:spMkLst>
            <pc:docMk/>
            <pc:sldMk cId="0" sldId="260"/>
            <ac:spMk id="30" creationId="{D531944E-395D-AEC2-1A3E-673E725488D8}"/>
          </ac:spMkLst>
        </pc:spChg>
        <pc:spChg chg="add mod">
          <ac:chgData name="Tore Ausland" userId="aba57685-d7d9-45f9-a74d-a4b3d109653f" providerId="ADAL" clId="{C7003D35-0069-4681-A939-A1D689C68C91}" dt="2026-02-19T17:27:58.583" v="38" actId="20577"/>
          <ac:spMkLst>
            <pc:docMk/>
            <pc:sldMk cId="0" sldId="260"/>
            <ac:spMk id="31" creationId="{90FCFFB1-8155-2B00-81DB-85AEC68F9810}"/>
          </ac:spMkLst>
        </pc:spChg>
        <pc:spChg chg="add mod">
          <ac:chgData name="Tore Ausland" userId="aba57685-d7d9-45f9-a74d-a4b3d109653f" providerId="ADAL" clId="{C7003D35-0069-4681-A939-A1D689C68C91}" dt="2026-02-19T17:28:17.112" v="62" actId="20577"/>
          <ac:spMkLst>
            <pc:docMk/>
            <pc:sldMk cId="0" sldId="260"/>
            <ac:spMk id="32" creationId="{228A68C4-D6C7-85E3-8C54-5A7A8271594C}"/>
          </ac:spMkLst>
        </pc:spChg>
        <pc:spChg chg="add mod">
          <ac:chgData name="Tore Ausland" userId="aba57685-d7d9-45f9-a74d-a4b3d109653f" providerId="ADAL" clId="{C7003D35-0069-4681-A939-A1D689C68C91}" dt="2026-02-19T17:27:48.449" v="32" actId="1076"/>
          <ac:spMkLst>
            <pc:docMk/>
            <pc:sldMk cId="0" sldId="260"/>
            <ac:spMk id="33" creationId="{03553653-30C0-A4F5-7B8E-F089A19729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00000"/>
            <a:ext cx="121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Aurelian
Manufacturing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81600" y="4020235"/>
            <a:ext cx="1828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552" y="4504144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50537"/>
                </a:solidFill>
                <a:latin typeface="Calibri"/>
              </a:rPr>
              <a:t>Production as a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752" y="5054144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6B6B6B"/>
                </a:solidFill>
                <a:latin typeface="Calibri"/>
              </a:rPr>
              <a:t>Autonomous, Data-Driven, and Scalable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0000"/>
            <a:ext cx="7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Aurelian Manufacturing delivers autonomous, high-mix/low-volume (HMLV) CNC machining with unprecedented efficiency and reliability.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Target market is demanding sectors like defense, energy, maritime, and critical industrial sectors with: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00000"/>
            <a:ext cx="65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Turning and milling services in lights-out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80000"/>
            <a:ext cx="65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High machine utilization vs. industry 30-40%.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60000"/>
            <a:ext cx="65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Full digital traceability from order to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40000"/>
            <a:ext cx="65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Customer-aligned value model with shared benefits.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0" y="1100000"/>
            <a:ext cx="3700000" cy="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00000" y="1100000"/>
            <a:ext cx="37000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0000" y="1160000"/>
            <a:ext cx="3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60-65%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0" y="1560000"/>
            <a:ext cx="37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Machine Utilization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0" y="2100000"/>
            <a:ext cx="3700000" cy="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00000" y="2100000"/>
            <a:ext cx="37000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0000" y="2160000"/>
            <a:ext cx="3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Lights-Out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0" y="2560000"/>
            <a:ext cx="37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Autonomous Operation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00000"/>
            <a:ext cx="1127760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60000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A business that scales with the combined value of skilled people and machines.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HMLV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50537"/>
                </a:solidFill>
                <a:latin typeface="Calibri"/>
              </a:rPr>
              <a:t>We understand what drives excellence in High-Mix/Low-Volume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000" y="1200000"/>
            <a:ext cx="2560000" cy="3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6000" y="12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300" y="1337160"/>
            <a:ext cx="233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Linear Operations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300" y="1748640"/>
            <a:ext cx="2331400" cy="251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Manual to semi-automatic processes require significant human intervention. Each setup, adjustment, and quality check depends on operator skill and availability—limiting scalability and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6000" y="1200000"/>
            <a:ext cx="2560000" cy="3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36000" y="12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0300" y="1337160"/>
            <a:ext cx="233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Greenfield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0300" y="1748640"/>
            <a:ext cx="2331400" cy="251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Designing HMLV operations from scratch enables purpose-built automation, integrated digital systems, and optimized workflows—without legacy constraints or retrofit compromises.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000" y="1200000"/>
            <a:ext cx="2560000" cy="3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6000" y="12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0300" y="1337160"/>
            <a:ext cx="233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Skilled Workforce Evolution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0300" y="1748640"/>
            <a:ext cx="2331400" cy="251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Excellence in HMLV requires transitioning from manual operators to automation specialists—engineers who design, monitor, and optimize autonomous systems rather than run individual machines.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6000" y="1200000"/>
            <a:ext cx="2560000" cy="3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56000" y="12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0300" y="1337160"/>
            <a:ext cx="233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Smart Factory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300" y="1748640"/>
            <a:ext cx="2331400" cy="251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True HMLV leadership demands integrated digital infrastructure: automated CAM, real-time monitoring, predictive maintenance, and full traceability—not incremental automation additions.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Aurelian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50000"/>
            <a:ext cx="27432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6740" y="1100000"/>
            <a:ext cx="3429000" cy="24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5340" y="12828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5340" y="14657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Extreme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" y="2014400"/>
            <a:ext cx="2971800" cy="125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Lights-out HMLV operation. High uptime and minimal human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500" y="1100000"/>
            <a:ext cx="3429000" cy="24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10100" y="12828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0100" y="14657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Industry-Leading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2014400"/>
            <a:ext cx="2971800" cy="125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60-65% utilization vs. industry 30-40%, translating to competitive pricing.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6260" y="1100000"/>
            <a:ext cx="3429000" cy="24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04860" y="12828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04860" y="14657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Full Digital 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860" y="2014400"/>
            <a:ext cx="2971800" cy="125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Complete visibility from order to delivery with integrated quality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2B2B2B"/>
                </a:solidFill>
                <a:latin typeface="Calibri"/>
              </a:rPr>
              <a:t>Digital Infrastructure</a:t>
            </a:r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 </a:t>
            </a:r>
            <a:r>
              <a:rPr lang="nb-NO" sz="3600" b="1" i="0" dirty="0" err="1">
                <a:solidFill>
                  <a:srgbClr val="2B2B2B"/>
                </a:solidFill>
                <a:latin typeface="Calibri"/>
              </a:rPr>
              <a:t>designed</a:t>
            </a:r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 </a:t>
            </a:r>
            <a:r>
              <a:rPr lang="nb-NO" sz="3600" b="1" i="0" dirty="0" err="1">
                <a:solidFill>
                  <a:srgbClr val="2B2B2B"/>
                </a:solidFill>
                <a:latin typeface="Calibri"/>
              </a:rPr>
              <a:t>inhouse</a:t>
            </a:r>
            <a:endParaRPr sz="3600" b="1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50537"/>
                </a:solidFill>
                <a:latin typeface="Calibri"/>
              </a:rPr>
              <a:t>What You Get Beyond Machining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09556"/>
            <a:ext cx="11277600" cy="1122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09556"/>
            <a:ext cx="45720" cy="11220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566676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57200" y="1292436"/>
            <a:ext cx="1600000" cy="32004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200" y="1292436"/>
            <a:ext cx="16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0080" y="1292436"/>
            <a:ext cx="6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IT/OT &amp; Value Chain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200" y="1749636"/>
            <a:ext cx="10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Zero-trust architecture protecting your data and ensuring compliance for defense and critical industries.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1296"/>
            <a:ext cx="11277600" cy="1114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421296"/>
            <a:ext cx="45720" cy="11141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2878416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57200" y="2604176"/>
            <a:ext cx="1600000" cy="32004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7200" y="2604176"/>
            <a:ext cx="16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1600" b="1" i="0" dirty="0">
                <a:solidFill>
                  <a:srgbClr val="FFFFFF"/>
                </a:solidFill>
                <a:latin typeface="Calibri"/>
              </a:rPr>
              <a:t>ERP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0080" y="2604176"/>
            <a:ext cx="6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Digital Documentation &amp;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200" y="3061376"/>
            <a:ext cx="10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Full traceability from order → CAM → production → measurement → delivery. Single source of truth for both parties.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18416"/>
            <a:ext cx="112776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18416"/>
            <a:ext cx="45720" cy="1188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4175536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57200" y="3901296"/>
            <a:ext cx="1600000" cy="32004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57200" y="3901296"/>
            <a:ext cx="16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MRB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0080" y="3901296"/>
            <a:ext cx="6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Digital Deviation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200" y="4358496"/>
            <a:ext cx="10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Systematic quality control with traceable decisions, reducing risk and improving first-time-right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  <p:sp>
        <p:nvSpPr>
          <p:cNvPr id="27" name="Rounded Rectangle 17">
            <a:extLst>
              <a:ext uri="{FF2B5EF4-FFF2-40B4-BE49-F238E27FC236}">
                <a16:creationId xmlns:a16="http://schemas.microsoft.com/office/drawing/2014/main" id="{CC3FDD1F-E7AA-6249-1327-56F26646485D}"/>
              </a:ext>
            </a:extLst>
          </p:cNvPr>
          <p:cNvSpPr/>
          <p:nvPr/>
        </p:nvSpPr>
        <p:spPr>
          <a:xfrm>
            <a:off x="457200" y="5074840"/>
            <a:ext cx="11277600" cy="1188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59E55304-4D0A-5EC3-C152-7A70B3432EEF}"/>
              </a:ext>
            </a:extLst>
          </p:cNvPr>
          <p:cNvSpPr/>
          <p:nvPr/>
        </p:nvSpPr>
        <p:spPr>
          <a:xfrm>
            <a:off x="457200" y="5074840"/>
            <a:ext cx="45720" cy="1188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19">
            <a:extLst>
              <a:ext uri="{FF2B5EF4-FFF2-40B4-BE49-F238E27FC236}">
                <a16:creationId xmlns:a16="http://schemas.microsoft.com/office/drawing/2014/main" id="{E8A1AB96-8B45-29AD-3006-4D5DA73B8D22}"/>
              </a:ext>
            </a:extLst>
          </p:cNvPr>
          <p:cNvSpPr/>
          <p:nvPr/>
        </p:nvSpPr>
        <p:spPr>
          <a:xfrm>
            <a:off x="731520" y="553196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Rounded Rectangle 20">
            <a:extLst>
              <a:ext uri="{FF2B5EF4-FFF2-40B4-BE49-F238E27FC236}">
                <a16:creationId xmlns:a16="http://schemas.microsoft.com/office/drawing/2014/main" id="{D531944E-395D-AEC2-1A3E-673E725488D8}"/>
              </a:ext>
            </a:extLst>
          </p:cNvPr>
          <p:cNvSpPr/>
          <p:nvPr/>
        </p:nvSpPr>
        <p:spPr>
          <a:xfrm>
            <a:off x="1257200" y="5257720"/>
            <a:ext cx="1600000" cy="32004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90FCFFB1-8155-2B00-81DB-85AEC68F9810}"/>
              </a:ext>
            </a:extLst>
          </p:cNvPr>
          <p:cNvSpPr txBox="1"/>
          <p:nvPr/>
        </p:nvSpPr>
        <p:spPr>
          <a:xfrm>
            <a:off x="1257200" y="5257720"/>
            <a:ext cx="16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1600" b="1" dirty="0">
                <a:solidFill>
                  <a:srgbClr val="FFFFFF"/>
                </a:solidFill>
                <a:latin typeface="Calibri"/>
              </a:rPr>
              <a:t>OEE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228A68C4-D6C7-85E3-8C54-5A7A8271594C}"/>
              </a:ext>
            </a:extLst>
          </p:cNvPr>
          <p:cNvSpPr txBox="1"/>
          <p:nvPr/>
        </p:nvSpPr>
        <p:spPr>
          <a:xfrm>
            <a:off x="3040080" y="5257720"/>
            <a:ext cx="60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1600" b="1" i="0" dirty="0" err="1">
                <a:solidFill>
                  <a:srgbClr val="2B2B2B"/>
                </a:solidFill>
                <a:latin typeface="Calibri"/>
              </a:rPr>
              <a:t>Operation</a:t>
            </a:r>
            <a:r>
              <a:rPr lang="nb-NO" sz="1600" b="1" i="0" dirty="0">
                <a:solidFill>
                  <a:srgbClr val="2B2B2B"/>
                </a:solidFill>
                <a:latin typeface="Calibri"/>
              </a:rPr>
              <a:t> </a:t>
            </a:r>
            <a:r>
              <a:rPr lang="nb-NO" sz="1600" b="1" i="0" dirty="0" err="1">
                <a:solidFill>
                  <a:srgbClr val="2B2B2B"/>
                </a:solidFill>
                <a:latin typeface="Calibri"/>
              </a:rPr>
              <a:t>monitoring</a:t>
            </a:r>
            <a:endParaRPr sz="1600" b="1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03553653-30C0-A4F5-7B8E-F089A197295D}"/>
              </a:ext>
            </a:extLst>
          </p:cNvPr>
          <p:cNvSpPr txBox="1"/>
          <p:nvPr/>
        </p:nvSpPr>
        <p:spPr>
          <a:xfrm>
            <a:off x="1257200" y="5714920"/>
            <a:ext cx="10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Systematic quality control with traceable decisions, reducing risk and improving first-time-right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Customer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00000"/>
            <a:ext cx="11277600" cy="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Reduced lead times through lights-out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00000"/>
            <a:ext cx="11277600" cy="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Lower supply chain risk with reliable backup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00000"/>
            <a:ext cx="11277600" cy="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5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Full transparency and traceability for regulatory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000"/>
            <a:ext cx="11277600" cy="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2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2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Competitive pricing through extreme automation efficiency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00000"/>
            <a:ext cx="11277600" cy="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9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9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Quality consistency with digital quality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00000"/>
            <a:ext cx="11277600" cy="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6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6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Flexible capacity scaling as your needs grow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Collaboration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50537"/>
                </a:solidFill>
                <a:latin typeface="Calibri"/>
              </a:rPr>
              <a:t>Flexible Engagement Options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00000"/>
            <a:ext cx="5400000" cy="3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00000"/>
            <a:ext cx="540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7160"/>
            <a:ext cx="503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Collaboration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8640"/>
            <a:ext cx="485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Shared performance upside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8680"/>
            <a:ext cx="485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Secured machining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8720"/>
            <a:ext cx="485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Customer-influenced shop scale-up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8760"/>
            <a:ext cx="485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Reporting and quality reviews within Aurelian’s digital platform (MRB’s).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960" y="1100000"/>
            <a:ext cx="5511840" cy="36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22960" y="1100000"/>
            <a:ext cx="551184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5840" y="1237160"/>
            <a:ext cx="514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Built on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2960" y="1740080"/>
            <a:ext cx="551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0537"/>
                </a:solidFill>
                <a:latin typeface="Calibri"/>
              </a:rPr>
              <a:t>Aurelian ⟷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8720" y="2243000"/>
            <a:ext cx="49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•  Long-term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8720" y="2608760"/>
            <a:ext cx="49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•  Mutual 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720" y="2974520"/>
            <a:ext cx="49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•  Transparent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Production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000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0537"/>
                </a:solidFill>
                <a:latin typeface="Calibri"/>
              </a:rPr>
              <a:t>Current Capacity: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000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Location: Våler, Østfold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2432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First phase: 2,635 m² production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9864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Initial: 8 CNC machines, automation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7296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Scalable to 20-25 machines in same facility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000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0537"/>
                </a:solidFill>
                <a:latin typeface="Calibri"/>
              </a:rPr>
              <a:t>Strategic Infrastructure: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0000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Multi-modal logistics (rail, sea, road and air)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7432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30,000 m² total buildable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4864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Partnership with Mazak (tier-1 CNC supplier)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00000" y="1050000"/>
            <a:ext cx="4000000" cy="32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28600" y="1278600"/>
            <a:ext cx="3542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28600" y="1278600"/>
            <a:ext cx="35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600" y="1735800"/>
            <a:ext cx="354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AEC5"/>
                </a:solidFill>
                <a:latin typeface="Calibri"/>
              </a:rPr>
              <a:t>First 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600" y="2193000"/>
            <a:ext cx="3542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28600" y="2193000"/>
            <a:ext cx="35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600" y="2650200"/>
            <a:ext cx="354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AEC5"/>
                </a:solidFill>
                <a:latin typeface="Calibri"/>
              </a:rPr>
              <a:t>From Investment to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600" y="3107400"/>
            <a:ext cx="3542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28600" y="3107400"/>
            <a:ext cx="35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Mazak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600" y="3564600"/>
            <a:ext cx="354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AEC5"/>
                </a:solidFill>
                <a:latin typeface="Calibri"/>
              </a:rPr>
              <a:t>Partnership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Quality &amp; Compliance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000" y="1100000"/>
            <a:ext cx="2560000" cy="2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6000" y="11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160" y="1282880"/>
            <a:ext cx="228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Full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160" y="1831520"/>
            <a:ext cx="2285680" cy="188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Component tracked from raw material to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6000" y="1100000"/>
            <a:ext cx="2560000" cy="2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36000" y="11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73160" y="1282880"/>
            <a:ext cx="228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Digital Quality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160" y="1831520"/>
            <a:ext cx="2285680" cy="188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Automated measurement and documentation (eMRB, eDOC).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000" y="1100000"/>
            <a:ext cx="2560000" cy="2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6000" y="11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3160" y="1282880"/>
            <a:ext cx="228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Regulatory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3160" y="1831520"/>
            <a:ext cx="2285680" cy="188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We build for defense, energy, and critical industry standards. Customer influenced.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6000" y="1100000"/>
            <a:ext cx="2560000" cy="2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56000" y="11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3160" y="1282880"/>
            <a:ext cx="228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Continuous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3160" y="1831520"/>
            <a:ext cx="2285680" cy="188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Data-driven processes, AI optimization and (self)learning.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Why Choose Aurelian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00000"/>
          <a:ext cx="11277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Traditional Shops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Aurelian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Machine 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30-40%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60-65%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HMLV Flexibility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Optimized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Digital 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Manual/Partial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Full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Pricing Model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Standard Markup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Efficiency + Performance upside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Automation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Semi-automated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Lights-Out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Lead Time Predictability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Highly Predictable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Getting Started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5146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9144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Initial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148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Understanding your production requirements and volume forecasts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68680"/>
            <a:ext cx="9000000" cy="13716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640" y="232014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6012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Capability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8016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Review technical specifications and quality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937360"/>
            <a:ext cx="9000000" cy="13716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8640" y="328882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2880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Partnership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4884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Discuss pre-qual, service agreement or strategic partnership 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906040"/>
            <a:ext cx="9000000" cy="13716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48640" y="425750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9748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Pilot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1752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Start with sample parts to demonstrate quality and efficiency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874720"/>
            <a:ext cx="9000000" cy="13716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8640" y="522618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6616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Full Production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8620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Scale to ongoing production with full digital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000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Let’s Build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81904" y="2600000"/>
            <a:ext cx="1828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80000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Aurelian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00000"/>
            <a:ext cx="1219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50537"/>
                </a:solidFill>
                <a:latin typeface="Calibri"/>
              </a:rPr>
              <a:t>Production as a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00000"/>
            <a:ext cx="1219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Contact us to discuss your manufacturing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00000"/>
            <a:ext cx="1219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Våler, Østfold  •  Norway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845</Words>
  <Application>Microsoft Office PowerPoint</Application>
  <PresentationFormat>Widescreen</PresentationFormat>
  <Paragraphs>161</Paragraphs>
  <Slides>12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Tore Ausland</cp:lastModifiedBy>
  <cp:revision>1</cp:revision>
  <dcterms:created xsi:type="dcterms:W3CDTF">2013-01-27T09:14:16Z</dcterms:created>
  <dcterms:modified xsi:type="dcterms:W3CDTF">2026-02-19T17:30:21Z</dcterms:modified>
  <cp:category/>
</cp:coreProperties>
</file>