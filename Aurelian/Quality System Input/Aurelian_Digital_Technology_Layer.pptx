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B6B6B"/>
                </a:solidFill>
                <a:latin typeface="Calibri"/>
              </a:defRPr>
            </a:pPr>
            <a:r>
              <a:t>AURELIAN MANUFACTURING 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Digital Technology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4704" y="23317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1">
                <a:solidFill>
                  <a:srgbClr val="F50537"/>
                </a:solidFill>
                <a:latin typeface="Calibri"/>
              </a:defRPr>
            </a:pPr>
            <a:r>
              <a:t>Integrated Architecture — From Shop Floor to Customer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6B6B"/>
                </a:solidFill>
                <a:latin typeface="Calibri"/>
              </a:defRPr>
            </a:pPr>
            <a:r>
              <a:t>Full digital tech stack designed from the shop floor by the founding team.</a:t>
            </a:r>
            <a:br/>
            <a:r>
              <a:t>ERP  •  MRB Builder  •  OEE Monitoring  •  CNC Integration  •  Cyber Security  •  Redundancy</a:t>
            </a:r>
            <a:br/>
            <a:r>
              <a:t>Defence (AS9100/AQAP) and Oil &amp; Gas (NORSOK/API) manufacturing.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6B6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B6B6B"/>
                </a:solidFill>
                <a:latin typeface="Calibri"/>
              </a:defRPr>
            </a:pPr>
            <a:r>
              <a:t>February 2026 — Partner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B2B2B"/>
                </a:solidFill>
                <a:latin typeface="Calibri"/>
              </a:defRPr>
            </a:pPr>
            <a:r>
              <a:t>Digital Technology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1">
                <a:solidFill>
                  <a:srgbClr val="F50537"/>
                </a:solidFill>
                <a:latin typeface="Calibri"/>
              </a:defRPr>
            </a:pPr>
            <a:r>
              <a:t>4-Layer Architecture — Designed from the Shop Floor, Built In-House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LAYER 1 — EXTERNAL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2B2B2B"/>
                </a:solidFill>
                <a:latin typeface="Calibri"/>
              </a:defRPr>
            </a:pPr>
            <a:r>
              <a:t>Customers</a:t>
            </a:r>
            <a:br/>
            <a:r>
              <a:t>POs • SDRLs • Pre-shipment • MRB Download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916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2B2B2B"/>
                </a:solidFill>
                <a:latin typeface="Calibri"/>
              </a:defRPr>
            </a:pPr>
            <a:r>
              <a:t>Suppliers</a:t>
            </a:r>
            <a:br/>
            <a:r>
              <a:t>Material Certs • Special Process Certs • Declarations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2B2B2B"/>
                </a:solidFill>
                <a:latin typeface="Calibri"/>
              </a:defRPr>
            </a:pPr>
            <a:r>
              <a:t>Third-Party Inspectors</a:t>
            </a:r>
            <a:br/>
            <a:r>
              <a:t>DNV • Lloyd's • GQAR •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69164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2B2B2B"/>
                </a:solidFill>
                <a:latin typeface="Calibri"/>
              </a:defRPr>
            </a:pPr>
            <a:r>
              <a:t>Regulatory &amp; Standards</a:t>
            </a:r>
            <a:br/>
            <a:r>
              <a:t>AS9100 • AQAP • NORSOK • ITAR/EAR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0537"/>
                </a:solidFill>
                <a:latin typeface="Calibri"/>
              </a:defRPr>
            </a:pPr>
            <a:r>
              <a:t>▼   REST API / Webhooks   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LAYER 2 — ERP (BOUGHT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EAEC5"/>
                </a:solidFill>
                <a:latin typeface="Calibri"/>
              </a:defRPr>
            </a:pPr>
            <a:r>
              <a:t>Financial Management  •  Purchasing / SCM  •  Production Orders</a:t>
            </a:r>
            <a:br/>
            <a:r>
              <a:t>Inventory / Lot Tracking  •  CRM / Sales  •  HR / Payroll</a:t>
            </a:r>
            <a:br/>
            <a:r>
              <a:t>Calibration Records  •  Supplier Approvals  •  Compliance  •  NCR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743200"/>
            <a:ext cx="777240" cy="777240"/>
          </a:xfrm>
          <a:prstGeom prst="roundRect">
            <a:avLst>
              <a:gd name="adj" fmla="val 5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  <a:br/>
            <a:r>
              <a:t>Interfaces</a:t>
            </a:r>
            <a:br/>
            <a:r>
              <a:t>AM-IF-001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926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50537"/>
                </a:solidFill>
                <a:latin typeface="Calibri"/>
              </a:defRPr>
            </a:pPr>
            <a:r>
              <a:t>◀▶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606040"/>
            <a:ext cx="4754880" cy="1051560"/>
          </a:xfrm>
          <a:prstGeom prst="roundRect">
            <a:avLst>
              <a:gd name="adj" fmla="val 5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651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LAYER 2 — MRB BUILDER + OEE (AURELIAN-BUILT)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898648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Material Gate (PR-008)  •  SDRL Parser (PR-009)</a:t>
            </a:r>
            <a:br/>
            <a:r>
              <a:t>Document Validator (PR-010)  •  CoC Generator (PR-011)</a:t>
            </a:r>
            <a:br/>
            <a:r>
              <a:t>MRB Assembler (PR-012)  •  Archive Engine (PR-013)</a:t>
            </a:r>
            <a:br/>
            <a:r>
              <a:t>OEE Engine (Availability × Performance × Quality)</a:t>
            </a:r>
            <a:br/>
            <a:r>
              <a:t>Customer Portal  •  Real-time Dashboards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0537"/>
                </a:solidFill>
                <a:latin typeface="Calibri"/>
              </a:defRPr>
            </a:pPr>
            <a:r>
              <a:t>▼   MQTT / OPC-UA / MTConnect   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77639"/>
            <a:ext cx="11277295" cy="868680"/>
          </a:xfrm>
          <a:prstGeom prst="roundRect">
            <a:avLst>
              <a:gd name="adj" fmla="val 5000"/>
            </a:avLst>
          </a:prstGeom>
          <a:solidFill>
            <a:srgbClr val="25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LAYER 3 — SHOP FLOOR (DIRECT INTEGRATION)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97679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MAZAK CNC Machines</a:t>
            </a:r>
            <a:br/>
            <a:r>
              <a:t>5-axis • Multi-tasking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297679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CMM / Inspection</a:t>
            </a:r>
            <a:br/>
            <a:r>
              <a:t>Dimensional • Surface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4297679"/>
            <a:ext cx="201168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Metrology Systems</a:t>
            </a:r>
            <a:br/>
            <a:r>
              <a:t>Temp • Vibration • Env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4297679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OEE Data Sources</a:t>
            </a:r>
            <a:br/>
            <a:r>
              <a:t>Uptime • Cycle • Scrap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4297679"/>
            <a:ext cx="155448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Automated Logistics</a:t>
            </a:r>
            <a:br/>
            <a:r>
              <a:t>AGV • Tool Mgmt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61320" y="4297679"/>
            <a:ext cx="105156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Facility</a:t>
            </a:r>
            <a:br/>
            <a:r>
              <a:t>Access • HVAC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11277295" cy="1051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663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LAYER 4 — CYBER SECURITY &amp; REDUNDANCY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40679"/>
            <a:ext cx="1828800" cy="594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Encryption</a:t>
            </a:r>
            <a:br/>
            <a:r>
              <a:t>AES-256 at rest</a:t>
            </a:r>
            <a:br/>
            <a:r>
              <a:t>TLS 1.3 in transit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06040" y="5440679"/>
            <a:ext cx="1828800" cy="594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Access Control</a:t>
            </a:r>
            <a:br/>
            <a:r>
              <a:t>RBAC • MFA</a:t>
            </a:r>
            <a:br/>
            <a:r>
              <a:t>Audit trail on all 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440679"/>
            <a:ext cx="1828800" cy="594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Data Isolation</a:t>
            </a:r>
            <a:br/>
            <a:r>
              <a:t>Customer data segregation</a:t>
            </a:r>
            <a:br/>
            <a:r>
              <a:t>EEA data sovereignty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5440679"/>
            <a:ext cx="1828800" cy="594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Redundancy</a:t>
            </a:r>
            <a:br/>
            <a:r>
              <a:t>Real-time replication</a:t>
            </a:r>
            <a:br/>
            <a:r>
              <a:t>Off-site encrypted backup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5440679"/>
            <a:ext cx="1828800" cy="594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Integrity</a:t>
            </a:r>
            <a:br/>
            <a:r>
              <a:t>SHA-256 checksums</a:t>
            </a:r>
            <a:br/>
            <a:r>
              <a:t>Annual 10% sample 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5440679"/>
            <a:ext cx="1097280" cy="594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900" b="0">
                <a:solidFill>
                  <a:srgbClr val="8EAEC5"/>
                </a:solidFill>
                <a:latin typeface="Calibri"/>
              </a:defRPr>
            </a:pPr>
            <a:r>
              <a:t>Recovery</a:t>
            </a:r>
            <a:br/>
            <a:r>
              <a:t>RPO &lt; 24h</a:t>
            </a:r>
            <a:br/>
            <a:r>
              <a:t>RTO &lt; 4h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CONFIDENTIAL  •  Aurelian Manufacturing 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Digital Technology Layer —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B2B2B"/>
                </a:solidFill>
                <a:latin typeface="Calibri"/>
              </a:defRPr>
            </a:pPr>
            <a:r>
              <a:t>Cyber Security &amp; Redundancy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1">
                <a:solidFill>
                  <a:srgbClr val="F50537"/>
                </a:solidFill>
                <a:latin typeface="Calibri"/>
              </a:defRPr>
            </a:pPr>
            <a:r>
              <a:t>Defence-Grade Protection for 15–30+ Year Document Retention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CYBER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6537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Encryption at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6654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AES-256 minimum on all stored data — MRBs, certificates, CoCs, archive. Keys managed via HSM or cloud KMS with automatic rotation.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9689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Encryption in Transit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9806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TLS 1.3 for all API communication. Mutual TLS (mTLS) for machine-to-server connections (MQTT/OPC-UA). No unencrypted data leaves the facility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2841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6-level access model: System Admin → Quality Manager → Senior QA → QA Engineer → Production → Read-Only. Every action logged with user, timestamp, and 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5993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Multi-Factor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611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MFA required for all system access. Hardware tokens for Quality Manager and above. Session timeout after 15 minutes of inactivity.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9145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Customer Data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926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Each customer's data logically separated. Defence and Oil &amp; Gas orders cannot cross-reference. ITAR-controlled data physically isolated.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8640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52297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Network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241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Shop floor network (CNC/CMM) isolated from business network. MRB Builder in DMZ. Firewall rules enforced per interface (AM-IF-001).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9535" y="1371600"/>
            <a:ext cx="5394960" cy="3657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REDUNDANCY &amp; DISASTER RECOVERY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9535" y="182880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6695" y="186537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Real-Time Replication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695" y="206654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Continuous replication to secondary on-site server. Zero data loss for primary server failure. Automatic failover within 60 seconds.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9535" y="256032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6695" y="259689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Daily Incremental Backup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6695" y="279806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Every 24 hours to off-site encrypted cloud storage (EEA-based provider, ISO 27001 certified). Integrity verified via SHA-256 checksum comparison.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9535" y="32918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6695" y="332841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Weekly Full Backup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6695" y="35295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Complete system snapshot to geographically separate cloud region. Tested quarterly — 5 random MRBs restored and verified end-to-end.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9535" y="402336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6695" y="405993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Annual Archive Snapshot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6695" y="42611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Full archive frozen to separate cloud region + optional physical media. Insurance against provider failure. 10% sample integrity audit.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39535" y="47548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6695" y="479145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Recovery 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6695" y="49926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RPO (Recovery Point Objective): &lt; 24 hours maximum data loss. RTO (Recovery Time Objective): &lt; 4 business hours to full operational recovery.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39535" y="548640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6695" y="5522976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0537"/>
                </a:solidFill>
                <a:latin typeface="Calibri"/>
              </a:defRPr>
            </a:pPr>
            <a:r>
              <a:t>Technology Migration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6695" y="57241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15–30+ year retention requires format migration. PDF/A-3 as baseline. Migration plan reviewed every 5 years. No vendor lock-in on archive storage.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CONFIDENTIAL  •  Aurelian Manufacturing 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Digital Technology Layer — 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2B2B2B"/>
                </a:solidFill>
                <a:latin typeface="Calibri"/>
              </a:defRPr>
            </a:pPr>
            <a:r>
              <a:t>Standards &amp; Compliance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1">
                <a:solidFill>
                  <a:srgbClr val="F50537"/>
                </a:solidFill>
                <a:latin typeface="Calibri"/>
              </a:defRPr>
            </a:pPr>
            <a:r>
              <a:t>Every Layer Mapped to Industry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F50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B2B2B"/>
                </a:solidFill>
                <a:latin typeface="Calibri"/>
              </a:defRPr>
            </a:pPr>
            <a:r>
              <a:t>The digital technology layer is not a generic IT system. Every component — from the Material Gate certificate check to the archive integrity audit — is designed around specific industry standards. The system enforces compliance in real time, not retroactively.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14884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148840"/>
            <a:ext cx="2468880" cy="320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Defence Standards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148840"/>
            <a:ext cx="2468880" cy="320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Oil &amp; Gas 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148840"/>
            <a:ext cx="2681935" cy="320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Security / Regulatory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External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468880"/>
            <a:ext cx="22860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5420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B2B2B"/>
                </a:solidFill>
                <a:latin typeface="Calibri"/>
              </a:defRPr>
            </a:pPr>
            <a:r>
              <a:t>Customer Interfaces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468880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54203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AS9100D • AQAP 2110</a:t>
            </a:r>
            <a:br/>
            <a:r>
              <a:t>AS9102 FAIR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468880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54203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NORSOK M-650 • M-630</a:t>
            </a:r>
            <a:br/>
            <a:r>
              <a:t>API • ITP (H/W/R)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468880"/>
            <a:ext cx="2681935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542032"/>
            <a:ext cx="2499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ITAR/EAR export control</a:t>
            </a:r>
            <a:br/>
            <a:r>
              <a:t>GDPR (personal data)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18688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3218688"/>
            <a:ext cx="2286000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3291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B2B2B"/>
                </a:solidFill>
                <a:latin typeface="Calibri"/>
              </a:defRPr>
            </a:pPr>
            <a:r>
              <a:t>Business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3218688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291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AQAP quality records</a:t>
            </a:r>
            <a:br/>
            <a:r>
              <a:t>GQAR traceability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3218688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291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NORSOK Z-001 (DFO)</a:t>
            </a:r>
            <a:br/>
            <a:r>
              <a:t>DNV classification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218688"/>
            <a:ext cx="2681935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291840"/>
            <a:ext cx="2499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Bokføringsloven</a:t>
            </a:r>
            <a:br/>
            <a:r>
              <a:t>Arkivlova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68496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4164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MRB Builder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3968496"/>
            <a:ext cx="22860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404164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B2B2B"/>
                </a:solidFill>
                <a:latin typeface="Calibri"/>
              </a:defRPr>
            </a:pPr>
            <a:r>
              <a:t>Quality Documentation</a:t>
            </a:r>
            <a:br/>
            <a:r>
              <a:t>+ OEE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3968496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04164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AS9102 (FAIR 1-2-3)</a:t>
            </a:r>
            <a:br/>
            <a:r>
              <a:t>EN 10204 (3.1/3.2)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968496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04164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NORSOK M-630 (MDS)</a:t>
            </a:r>
            <a:br/>
            <a:r>
              <a:t>ASME Section V (NDT)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3968496"/>
            <a:ext cx="2681935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4041648"/>
            <a:ext cx="2499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ISO 19005-3 (PDF/A)</a:t>
            </a:r>
            <a:br/>
            <a:r>
              <a:t>SHA-256 integrity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718304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9145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Shop Floor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28800" y="4718304"/>
            <a:ext cx="2286000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0240" y="4791456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B2B2B"/>
                </a:solidFill>
                <a:latin typeface="Calibri"/>
              </a:defRPr>
            </a:pPr>
            <a:r>
              <a:t>Machine Integration</a:t>
            </a:r>
            <a:br/>
            <a:r>
              <a:t>+ OEE Data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4718304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0" y="479145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AS9100D process control</a:t>
            </a:r>
            <a:br/>
            <a:r>
              <a:t>NADCAP special process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4718304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79145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NORSOK M-650 mfg qual</a:t>
            </a:r>
            <a:br/>
            <a:r>
              <a:t>ASTM test methods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718304"/>
            <a:ext cx="2681935" cy="71323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4791456"/>
            <a:ext cx="2499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OPC-UA security model</a:t>
            </a:r>
            <a:br/>
            <a:r>
              <a:t>Network segmentation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468112"/>
            <a:ext cx="13716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54126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0537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28800" y="5468112"/>
            <a:ext cx="228600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20240" y="5541264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B2B2B"/>
                </a:solidFill>
                <a:latin typeface="Calibri"/>
              </a:defRPr>
            </a:pPr>
            <a:r>
              <a:t>Cyber &amp; Redundancy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0" y="5468112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55412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AQAP 2110 §4.2</a:t>
            </a:r>
            <a:br/>
            <a:r>
              <a:t>Defence data handling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0" y="5468112"/>
            <a:ext cx="24688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55412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NORSOK Z-001 retention</a:t>
            </a:r>
            <a:br/>
            <a:r>
              <a:t>Operator requirements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60" y="5468112"/>
            <a:ext cx="2681935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5541264"/>
            <a:ext cx="24990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6B"/>
                </a:solidFill>
                <a:latin typeface="Calibri"/>
              </a:defRPr>
            </a:pPr>
            <a:r>
              <a:t>AES-256 • TLS 1.3</a:t>
            </a:r>
            <a:br/>
            <a:r>
              <a:t>RBAC • MFA • ISO 27001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CONFIDENTIAL  •  Aurelian Manufacturing 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Digital Technology Layer —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