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57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modSld">
      <pc:chgData name="Tore Ausland" userId="aba57685-d7d9-45f9-a74d-a4b3d109653f" providerId="ADAL" clId="{C7003D35-0069-4681-A939-A1D689C68C91}" dt="2026-02-19T16:09:02.327" v="0" actId="1076"/>
      <pc:docMkLst>
        <pc:docMk/>
      </pc:docMkLst>
      <pc:sldChg chg="modSp mod">
        <pc:chgData name="Tore Ausland" userId="aba57685-d7d9-45f9-a74d-a4b3d109653f" providerId="ADAL" clId="{C7003D35-0069-4681-A939-A1D689C68C91}" dt="2026-02-19T16:09:02.327" v="0" actId="1076"/>
        <pc:sldMkLst>
          <pc:docMk/>
          <pc:sldMk cId="0" sldId="257"/>
        </pc:sldMkLst>
        <pc:spChg chg="mod">
          <ac:chgData name="Tore Ausland" userId="aba57685-d7d9-45f9-a74d-a4b3d109653f" providerId="ADAL" clId="{C7003D35-0069-4681-A939-A1D689C68C91}" dt="2026-02-19T16:09:02.327" v="0" actId="1076"/>
          <ac:spMkLst>
            <pc:docMk/>
            <pc:sldMk cId="0" sldId="257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000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904" y="3100000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35000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0537"/>
                </a:solidFill>
                <a:latin typeface="Calibri"/>
              </a:rPr>
              <a:t>Aurelian Smart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000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CNC Machine Shop  •  In-House Digital Technology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200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B6B6B"/>
                </a:solidFill>
                <a:latin typeface="Calibri"/>
              </a:defRPr>
            </a:pPr>
            <a:r>
              <a:t>AURELIAN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Your Product. Our Digital Thread.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904" y="1691640"/>
            <a:ext cx="1828800" cy="36576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B6B6B"/>
                </a:solidFill>
                <a:latin typeface="Calibri"/>
              </a:defRPr>
            </a:pPr>
            <a:r>
              <a:t>Every part ships with a complete, digitally assembled Manufacturing Record Book —</a:t>
            </a:r>
            <a:br/>
            <a:r>
              <a:t>from raw material certificate to final inspection. Defence and Energy grade.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65860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180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Material → Process → Inspection → Shipment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Real-time document assembly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Customer-specific SDRL compliance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AS9102 FAIR, EN 10204, NORSOK M-630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5052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5-LAYER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9372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47872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Existence → Format → Completeness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→ Compliance → Traceability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Automated Material Gate (5-point cert check)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Zero manual transcription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4243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3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CYBER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8563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7063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Encryption at rest and in transit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 data isolation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Role-based access (6 levels + MFA)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ITAR/EAR physical data separation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4815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03436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30+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5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7755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06255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Defence-grade document archival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RPO &lt; 24h  •  RTO &lt; 4h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Annual integrity audit (SHA-256)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Technology migration plan built 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77840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</p:spPr>
        <p:txBody>
          <a:bodyPr wrap="square" tIns="101600" bIns="1016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DEFENCE  </a:t>
            </a:r>
            <a:r>
              <a:rPr sz="1100" b="0">
                <a:solidFill>
                  <a:srgbClr val="FFFFFF"/>
                </a:solidFill>
                <a:latin typeface="Calibri"/>
              </a:rPr>
              <a:t>AS9100 • AQAP 2110 • NADCAP • AS9102</a:t>
            </a:r>
            <a:r>
              <a:rPr sz="1300" b="0">
                <a:solidFill>
                  <a:srgbClr val="FFFFFF"/>
                </a:solidFill>
                <a:latin typeface="Calibri"/>
              </a:rPr>
              <a:t>      │      </a:t>
            </a:r>
            <a:r>
              <a:rPr sz="1300" b="1">
                <a:solidFill>
                  <a:srgbClr val="FFFFFF"/>
                </a:solidFill>
                <a:latin typeface="Calibri"/>
              </a:rPr>
              <a:t>ENERGY &amp; MARITIME  </a:t>
            </a:r>
            <a:r>
              <a:rPr sz="1100" b="0">
                <a:solidFill>
                  <a:srgbClr val="FFFFFF"/>
                </a:solidFill>
                <a:latin typeface="Calibri"/>
              </a:rPr>
              <a:t>NORSOK M-630 • M-650 • API • DNV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aurelian.no  •  Valer, Norway  •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Scaling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CNC Fleet &amp; Annual Capacity at 65% Utilization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50000"/>
            <a:ext cx="19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7432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200" y="1404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200" y="1404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 CNC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7200" y="137743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28,470 hrs/yr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080" y="1404864"/>
            <a:ext cx="32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B6B6B"/>
                </a:solidFill>
                <a:latin typeface="Calibri"/>
              </a:rPr>
              <a:t>Production starts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00000"/>
            <a:ext cx="38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27432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Q4 2028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200" y="2254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200" y="2254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 CNC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7200" y="222743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56,940 hrs/yr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0080" y="2254864"/>
            <a:ext cx="32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Serie A Tranche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50000"/>
            <a:ext cx="57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077432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Q3 2029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200" y="3104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200" y="3104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 CNC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7200" y="307743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85,410 hrs/yr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0080" y="3104864"/>
            <a:ext cx="32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Tranche 2 operational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00000"/>
            <a:ext cx="76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27432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Q3 2030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200" y="3954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57200" y="3954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20 CNC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7200" y="392743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113,880 hrs/yr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080" y="3954864"/>
            <a:ext cx="32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Full base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0000"/>
            <a:ext cx="95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777432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2033+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200" y="4804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57200" y="4804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25 CNC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7200" y="477743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142,350 hrs/yr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080" y="4804864"/>
            <a:ext cx="32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Expansion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00000"/>
            <a:ext cx="112776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5000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0537"/>
                </a:solidFill>
                <a:latin typeface="Calibri"/>
              </a:rPr>
              <a:t>113,880</a:t>
            </a:r>
            <a:r>
              <a:rPr sz="1200" b="0">
                <a:solidFill>
                  <a:srgbClr val="2B2B2B"/>
                </a:solidFill>
                <a:latin typeface="Calibri"/>
              </a:rPr>
              <a:t> annual CNC hours at full base (20 CNC)  |  </a:t>
            </a:r>
            <a:r>
              <a:rPr sz="1600" b="1">
                <a:solidFill>
                  <a:srgbClr val="F50537"/>
                </a:solidFill>
                <a:latin typeface="Calibri"/>
              </a:rPr>
              <a:t>65%</a:t>
            </a:r>
            <a:r>
              <a:rPr sz="1200" b="0">
                <a:solidFill>
                  <a:srgbClr val="2B2B2B"/>
                </a:solidFill>
                <a:latin typeface="Calibri"/>
              </a:rPr>
              <a:t> utilization  |  Break-even at </a:t>
            </a:r>
            <a:r>
              <a:rPr sz="1600" b="1">
                <a:solidFill>
                  <a:srgbClr val="F50537"/>
                </a:solidFill>
                <a:latin typeface="Calibri"/>
              </a:rPr>
              <a:t>14%</a:t>
            </a:r>
            <a:r>
              <a:rPr sz="1200" b="0">
                <a:solidFill>
                  <a:srgbClr val="2B2B2B"/>
                </a:solidFill>
                <a:latin typeface="Calibri"/>
              </a:rPr>
              <a:t> utilization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 Manufacturing  •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Aurelian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Why customers choose Aurelian Smart Factory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0000"/>
            <a:ext cx="27432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674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534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62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IN-HOUSE DIGITAL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Purpose-built MES, quality,
and MRB automation.
Not bolted-on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34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34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Zero manual transcription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010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438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SUB-LINEAR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0.8 FTE per CNC vs.
industry average 2.5 FTE.
Automation drives margin.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010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010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3× staffing efficiency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626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0486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914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DEFENCE &amp; ENERGY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86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AS9100, AQAP 2110, NORSOK,
NADCAP from day one.
Architected, not retrofitted.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486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486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Built for the hardest specs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77600" cy="54864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14%</a:t>
            </a:r>
            <a:r>
              <a:rPr sz="1200" b="0">
                <a:solidFill>
                  <a:srgbClr val="6B6B6B"/>
                </a:solidFill>
                <a:latin typeface="Calibri"/>
              </a:rPr>
              <a:t> break-even utilization</a:t>
            </a:r>
            <a:r>
              <a:rPr sz="1200" b="0">
                <a:solidFill>
                  <a:srgbClr val="444444"/>
                </a:solidFill>
                <a:latin typeface="Calibri"/>
              </a:rPr>
              <a:t>    │    </a:t>
            </a:r>
            <a:r>
              <a:rPr sz="1400" b="1">
                <a:solidFill>
                  <a:srgbClr val="FFFFFF"/>
                </a:solidFill>
                <a:latin typeface="Calibri"/>
              </a:rPr>
              <a:t>0.8</a:t>
            </a:r>
            <a:r>
              <a:rPr sz="1200" b="0">
                <a:solidFill>
                  <a:srgbClr val="6B6B6B"/>
                </a:solidFill>
                <a:latin typeface="Calibri"/>
              </a:rPr>
              <a:t> FTE/CNC vs. 2.5 industry</a:t>
            </a:r>
            <a:r>
              <a:rPr sz="1200" b="0">
                <a:solidFill>
                  <a:srgbClr val="444444"/>
                </a:solidFill>
                <a:latin typeface="Calibri"/>
              </a:rPr>
              <a:t>    │    </a:t>
            </a:r>
            <a:r>
              <a:rPr sz="1400" b="1">
                <a:solidFill>
                  <a:srgbClr val="FFFFFF"/>
                </a:solidFill>
                <a:latin typeface="Calibri"/>
              </a:rPr>
              <a:t>5-layer</a:t>
            </a:r>
            <a:r>
              <a:rPr sz="1200" b="0">
                <a:solidFill>
                  <a:srgbClr val="6B6B6B"/>
                </a:solidFill>
                <a:latin typeface="Calibri"/>
              </a:rPr>
              <a:t> automated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B6B6B"/>
                </a:solidFill>
                <a:latin typeface="Calibri"/>
              </a:rPr>
              <a:t>The coolest machine shop in the world is being built in Våler, Norway.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Tore Ausland</cp:lastModifiedBy>
  <cp:revision>1</cp:revision>
  <dcterms:created xsi:type="dcterms:W3CDTF">2013-01-27T09:14:16Z</dcterms:created>
  <dcterms:modified xsi:type="dcterms:W3CDTF">2026-02-19T16:09:11Z</dcterms:modified>
  <cp:category/>
</cp:coreProperties>
</file>