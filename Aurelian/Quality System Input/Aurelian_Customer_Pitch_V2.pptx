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A32EA5-F6BE-47D8-9E64-25010901A923}" v="1" dt="2026-02-19T17:20:21.4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2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e Ausland" userId="aba57685-d7d9-45f9-a74d-a4b3d109653f" providerId="ADAL" clId="{C7003D35-0069-4681-A939-A1D689C68C91}"/>
    <pc:docChg chg="undo custSel modSld">
      <pc:chgData name="Tore Ausland" userId="aba57685-d7d9-45f9-a74d-a4b3d109653f" providerId="ADAL" clId="{C7003D35-0069-4681-A939-A1D689C68C91}" dt="2026-02-19T17:21:58.563" v="314" actId="1076"/>
      <pc:docMkLst>
        <pc:docMk/>
      </pc:docMkLst>
      <pc:sldChg chg="modSp mod">
        <pc:chgData name="Tore Ausland" userId="aba57685-d7d9-45f9-a74d-a4b3d109653f" providerId="ADAL" clId="{C7003D35-0069-4681-A939-A1D689C68C91}" dt="2026-02-19T17:21:58.563" v="314" actId="1076"/>
        <pc:sldMkLst>
          <pc:docMk/>
          <pc:sldMk cId="0" sldId="257"/>
        </pc:sldMkLst>
        <pc:spChg chg="mod">
          <ac:chgData name="Tore Ausland" userId="aba57685-d7d9-45f9-a74d-a4b3d109653f" providerId="ADAL" clId="{C7003D35-0069-4681-A939-A1D689C68C91}" dt="2026-02-19T17:21:58.563" v="314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10:54.517" v="1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14:46.008" v="99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14:21.688" v="94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11:25.645" v="3" actId="1410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16:37.548" v="158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18:06.281" v="189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17:31.385" v="171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19:42.189" v="233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19:36.576" v="231" actId="20577"/>
          <ac:spMkLst>
            <pc:docMk/>
            <pc:sldMk cId="0" sldId="257"/>
            <ac:spMk id="26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19:18.463" v="223" actId="20577"/>
          <ac:spMkLst>
            <pc:docMk/>
            <pc:sldMk cId="0" sldId="257"/>
            <ac:spMk id="27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1:36.473" v="313" actId="14100"/>
          <ac:spMkLst>
            <pc:docMk/>
            <pc:sldMk cId="0" sldId="257"/>
            <ac:spMk id="32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19T17:21:12.853" v="267" actId="20577"/>
          <ac:spMkLst>
            <pc:docMk/>
            <pc:sldMk cId="0" sldId="257"/>
            <ac:spMk id="3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00000"/>
            <a:ext cx="1219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AURELIAN MANUFACTURING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81904" y="3100000"/>
            <a:ext cx="1828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35000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50537"/>
                </a:solidFill>
                <a:latin typeface="Calibri"/>
              </a:rPr>
              <a:t>Aurelian Smart 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0000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B6B"/>
                </a:solidFill>
                <a:latin typeface="Calibri"/>
              </a:rPr>
              <a:t>CNC Machine Shop  •  In-House Digital Technology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2004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6B6B6B"/>
                </a:solidFill>
                <a:latin typeface="Calibri"/>
              </a:defRPr>
            </a:pPr>
            <a:r>
              <a:t>AURELIAN 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Your Product. Our Digital Thread.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81904" y="1691640"/>
            <a:ext cx="1828800" cy="36576"/>
          </a:xfrm>
          <a:prstGeom prst="roundRect">
            <a:avLst>
              <a:gd name="adj" fmla="val 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448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6B6B6B"/>
                </a:solidFill>
                <a:latin typeface="Calibri"/>
              </a:defRPr>
            </a:pPr>
            <a:r>
              <a:t>Every part ships with a complete, digitally assembled Manufacturing Record Book —</a:t>
            </a:r>
            <a:br/>
            <a:r>
              <a:t>from raw material certificate to final inspection. Defence and Energy grade.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88920"/>
            <a:ext cx="2423160" cy="25603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3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65860" y="297180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TRACEABILITY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0180" y="3840479"/>
            <a:ext cx="1097280" cy="22860"/>
          </a:xfrm>
          <a:prstGeom prst="roundRect">
            <a:avLst>
              <a:gd name="adj" fmla="val 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3931920"/>
            <a:ext cx="2240279" cy="1234439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Material → Process → Inspection → Shipment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Real-time document assembly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Customer-specific SDRL compliance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AS9102 FAIR, EN 10204, NORSOK M-630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2788920"/>
            <a:ext cx="2423160" cy="25603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3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845052" y="297180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5-LAYER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9372" y="3840479"/>
            <a:ext cx="1097280" cy="22860"/>
          </a:xfrm>
          <a:prstGeom prst="roundRect">
            <a:avLst>
              <a:gd name="adj" fmla="val 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547872" y="3931920"/>
            <a:ext cx="2240279" cy="1234439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Existence → Format → Completeness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→ Compliance → Traceability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Automated Material Gate (5-point cert check)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Zero manual transcription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3" y="2788920"/>
            <a:ext cx="2423160" cy="25603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3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24243" y="297180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AES-256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3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CYBER 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98563" y="3840479"/>
            <a:ext cx="1097280" cy="22860"/>
          </a:xfrm>
          <a:prstGeom prst="roundRect">
            <a:avLst>
              <a:gd name="adj" fmla="val 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27063" y="3931920"/>
            <a:ext cx="2240279" cy="1234439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Encryption at rest and in transit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Customer data isolation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Role-based access (6 levels + MFA)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ITAR/EAR physical data separation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14815" y="2788920"/>
            <a:ext cx="2423160" cy="25603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3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03436" y="297180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30+ 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5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RETENTION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77755" y="3840479"/>
            <a:ext cx="1097280" cy="22860"/>
          </a:xfrm>
          <a:prstGeom prst="roundRect">
            <a:avLst>
              <a:gd name="adj" fmla="val 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906255" y="3931920"/>
            <a:ext cx="2240279" cy="1234439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Defence-grade document archival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RPO &lt; 24h  •  RTO &lt; 4h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Annual integrity audit (SHA-256)</a:t>
            </a:r>
          </a:p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Technology migration plan built 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577840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577840"/>
            <a:ext cx="10637215" cy="502920"/>
          </a:xfrm>
          <a:prstGeom prst="rect">
            <a:avLst/>
          </a:prstGeom>
          <a:noFill/>
        </p:spPr>
        <p:txBody>
          <a:bodyPr wrap="square" tIns="101600" bIns="1016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DEFENCE  </a:t>
            </a:r>
            <a:r>
              <a:rPr sz="1100" b="0">
                <a:solidFill>
                  <a:srgbClr val="FFFFFF"/>
                </a:solidFill>
                <a:latin typeface="Calibri"/>
              </a:rPr>
              <a:t>AS9100 • AQAP 2110 • NADCAP • AS9102</a:t>
            </a:r>
            <a:r>
              <a:rPr sz="1300" b="0">
                <a:solidFill>
                  <a:srgbClr val="FFFFFF"/>
                </a:solidFill>
                <a:latin typeface="Calibri"/>
              </a:rPr>
              <a:t>      │      </a:t>
            </a:r>
            <a:r>
              <a:rPr sz="1300" b="1">
                <a:solidFill>
                  <a:srgbClr val="FFFFFF"/>
                </a:solidFill>
                <a:latin typeface="Calibri"/>
              </a:rPr>
              <a:t>ENERGY &amp; MARITIME  </a:t>
            </a:r>
            <a:r>
              <a:rPr sz="1100" b="0">
                <a:solidFill>
                  <a:srgbClr val="FFFFFF"/>
                </a:solidFill>
                <a:latin typeface="Calibri"/>
              </a:rPr>
              <a:t>NORSOK M-630 • M-650 • API • DNV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6B6B"/>
                </a:solidFill>
                <a:latin typeface="Calibri"/>
              </a:defRPr>
            </a:pPr>
            <a:r>
              <a:t>aurelian.no  •  Valer, Norway  •  February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Scaling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790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 dirty="0">
                <a:solidFill>
                  <a:srgbClr val="F50537"/>
                </a:solidFill>
                <a:latin typeface="Calibri"/>
              </a:rPr>
              <a:t>CNC Fleet &amp; Annual Capacity at 65% Utilization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3680000" cy="365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H2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57200" y="1197864"/>
            <a:ext cx="914400" cy="256032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57200" y="11978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 CNC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170432"/>
            <a:ext cx="228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b-NO" sz="1500" b="1" i="0" dirty="0">
                <a:solidFill>
                  <a:srgbClr val="FFFFFF"/>
                </a:solidFill>
                <a:latin typeface="Calibri"/>
              </a:rPr>
              <a:t>3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,</a:t>
            </a:r>
            <a:r>
              <a:rPr lang="nb-NO" sz="1500" b="1" i="0" dirty="0">
                <a:solidFill>
                  <a:srgbClr val="FFFFFF"/>
                </a:solidFill>
                <a:latin typeface="Calibri"/>
              </a:rPr>
              <a:t>672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hrs</a:t>
            </a:r>
            <a:endParaRPr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64359" y="1207008"/>
            <a:ext cx="38005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B6B6B"/>
                </a:solidFill>
                <a:latin typeface="Calibri"/>
              </a:rPr>
              <a:t>Aug–Dec</a:t>
            </a:r>
            <a:r>
              <a:rPr lang="nb-NO" sz="1000" b="0" i="0" dirty="0">
                <a:solidFill>
                  <a:srgbClr val="6B6B6B"/>
                </a:solidFill>
                <a:latin typeface="Calibri"/>
              </a:rPr>
              <a:t>, </a:t>
            </a:r>
            <a:r>
              <a:rPr lang="nb-NO" sz="1000" b="0" i="0" dirty="0" err="1">
                <a:solidFill>
                  <a:srgbClr val="6B6B6B"/>
                </a:solidFill>
                <a:latin typeface="Calibri"/>
              </a:rPr>
              <a:t>hours</a:t>
            </a:r>
            <a:r>
              <a:rPr lang="nb-NO" sz="10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lang="nb-NO" sz="1000" b="0" i="0" dirty="0" err="1">
                <a:solidFill>
                  <a:srgbClr val="6B6B6B"/>
                </a:solidFill>
                <a:latin typeface="Calibri"/>
              </a:rPr>
              <a:t>equal</a:t>
            </a:r>
            <a:r>
              <a:rPr lang="nb-NO" sz="1000" b="0" i="0" dirty="0">
                <a:solidFill>
                  <a:srgbClr val="6B6B6B"/>
                </a:solidFill>
                <a:latin typeface="Calibri"/>
              </a:rPr>
              <a:t> to 20% </a:t>
            </a:r>
            <a:r>
              <a:rPr lang="nb-NO" sz="1000" b="0" i="0" dirty="0" err="1">
                <a:solidFill>
                  <a:srgbClr val="6B6B6B"/>
                </a:solidFill>
                <a:latin typeface="Calibri"/>
              </a:rPr>
              <a:t>utilization</a:t>
            </a:r>
            <a:r>
              <a:rPr lang="nb-NO" sz="1000" b="0" i="0" dirty="0">
                <a:solidFill>
                  <a:srgbClr val="6B6B6B"/>
                </a:solidFill>
                <a:latin typeface="Calibri"/>
              </a:rPr>
              <a:t> in </a:t>
            </a:r>
            <a:r>
              <a:rPr lang="nb-NO" sz="1000" b="0" i="0" dirty="0" err="1">
                <a:solidFill>
                  <a:srgbClr val="6B6B6B"/>
                </a:solidFill>
                <a:latin typeface="Calibri"/>
              </a:rPr>
              <a:t>the</a:t>
            </a:r>
            <a:r>
              <a:rPr lang="nb-NO" sz="1000" b="0" i="0" dirty="0">
                <a:solidFill>
                  <a:srgbClr val="6B6B6B"/>
                </a:solidFill>
                <a:latin typeface="Calibri"/>
              </a:rPr>
              <a:t> initial ramp up </a:t>
            </a:r>
            <a:r>
              <a:rPr lang="nb-NO" sz="1000" b="0" i="0" dirty="0" err="1">
                <a:solidFill>
                  <a:srgbClr val="6B6B6B"/>
                </a:solidFill>
                <a:latin typeface="Calibri"/>
              </a:rPr>
              <a:t>phase</a:t>
            </a:r>
            <a:r>
              <a:rPr lang="nb-NO" sz="1000" b="0" i="0" dirty="0">
                <a:solidFill>
                  <a:srgbClr val="6B6B6B"/>
                </a:solidFill>
                <a:latin typeface="Calibri"/>
              </a:rPr>
              <a:t>.</a:t>
            </a:r>
            <a:endParaRPr sz="1000" b="0" i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1923000"/>
            <a:ext cx="4306824" cy="365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950432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57200" y="1977864"/>
            <a:ext cx="914400" cy="256032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57200" y="19778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10 CNC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200" y="1950432"/>
            <a:ext cx="228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b-NO" sz="1500" b="1" i="0" dirty="0">
                <a:solidFill>
                  <a:srgbClr val="FFFFFF"/>
                </a:solidFill>
                <a:latin typeface="Calibri"/>
              </a:rPr>
              <a:t>33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,</a:t>
            </a:r>
            <a:r>
              <a:rPr lang="nb-NO" sz="1500" b="1" i="0" dirty="0">
                <a:solidFill>
                  <a:srgbClr val="FFFFFF"/>
                </a:solidFill>
                <a:latin typeface="Calibri"/>
              </a:rPr>
              <a:t>228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hrs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05296"/>
            <a:ext cx="35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B6B6B"/>
                </a:solidFill>
                <a:latin typeface="Calibri"/>
              </a:rPr>
              <a:t>Serie A Tranche 1</a:t>
            </a:r>
            <a:r>
              <a:rPr lang="nb-NO" sz="1000" b="0" i="0" dirty="0">
                <a:solidFill>
                  <a:srgbClr val="6B6B6B"/>
                </a:solidFill>
                <a:latin typeface="Calibri"/>
              </a:rPr>
              <a:t>, 38% </a:t>
            </a:r>
            <a:r>
              <a:rPr lang="nb-NO" sz="1000" b="0" i="0" dirty="0" err="1">
                <a:solidFill>
                  <a:srgbClr val="6B6B6B"/>
                </a:solidFill>
                <a:latin typeface="Calibri"/>
              </a:rPr>
              <a:t>utilization</a:t>
            </a:r>
            <a:r>
              <a:rPr lang="nb-NO" sz="1000" b="0" i="0" dirty="0">
                <a:solidFill>
                  <a:srgbClr val="6B6B6B"/>
                </a:solidFill>
                <a:latin typeface="Calibri"/>
              </a:rPr>
              <a:t>.</a:t>
            </a:r>
            <a:endParaRPr sz="1000" b="0" i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2703000"/>
            <a:ext cx="5520000" cy="365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730432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2029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57200" y="2757864"/>
            <a:ext cx="914400" cy="256032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57200" y="27578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15 CNC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200" y="2730432"/>
            <a:ext cx="228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b-NO" sz="1500" b="1" i="0" dirty="0">
                <a:solidFill>
                  <a:srgbClr val="FFFFFF"/>
                </a:solidFill>
                <a:latin typeface="Calibri"/>
              </a:rPr>
              <a:t>59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,</a:t>
            </a:r>
            <a:r>
              <a:rPr lang="nb-NO" sz="1500" b="1" i="0" dirty="0">
                <a:solidFill>
                  <a:srgbClr val="FFFFFF"/>
                </a:solidFill>
                <a:latin typeface="Calibri"/>
              </a:rPr>
              <a:t>130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hrs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/yr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4360" y="2757864"/>
            <a:ext cx="35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B6B6B"/>
                </a:solidFill>
                <a:latin typeface="Calibri"/>
              </a:rPr>
              <a:t>Tranche 2 operational</a:t>
            </a:r>
            <a:r>
              <a:rPr lang="nb-NO" sz="1000" b="0" i="0" dirty="0">
                <a:solidFill>
                  <a:srgbClr val="6B6B6B"/>
                </a:solidFill>
                <a:latin typeface="Calibri"/>
              </a:rPr>
              <a:t>, 45% </a:t>
            </a:r>
            <a:r>
              <a:rPr lang="nb-NO" sz="1000" b="0" i="0" dirty="0" err="1">
                <a:solidFill>
                  <a:srgbClr val="6B6B6B"/>
                </a:solidFill>
                <a:latin typeface="Calibri"/>
              </a:rPr>
              <a:t>utilization</a:t>
            </a:r>
            <a:endParaRPr sz="1000" b="0" i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7200" y="3483000"/>
            <a:ext cx="7360000" cy="365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510432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2030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57200" y="3537864"/>
            <a:ext cx="914400" cy="256032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57200" y="35378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20 CNC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7200" y="3510432"/>
            <a:ext cx="228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b-NO" sz="1500" b="1" dirty="0">
                <a:solidFill>
                  <a:srgbClr val="FFFFFF"/>
                </a:solidFill>
                <a:latin typeface="Calibri"/>
              </a:rPr>
              <a:t>84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,</a:t>
            </a:r>
            <a:r>
              <a:rPr lang="nb-NO" sz="1500" b="1" i="0" dirty="0">
                <a:solidFill>
                  <a:srgbClr val="FFFFFF"/>
                </a:solidFill>
                <a:latin typeface="Calibri"/>
              </a:rPr>
              <a:t>096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hrs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/yr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4360" y="3537864"/>
            <a:ext cx="35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b-NO" sz="1000" b="0" i="0" dirty="0">
                <a:solidFill>
                  <a:srgbClr val="6B6B6B"/>
                </a:solidFill>
                <a:latin typeface="Calibri"/>
              </a:rPr>
              <a:t>Tranche 3, </a:t>
            </a:r>
            <a:r>
              <a:rPr sz="1000" b="0" i="0" dirty="0">
                <a:solidFill>
                  <a:srgbClr val="6B6B6B"/>
                </a:solidFill>
                <a:latin typeface="Calibri"/>
              </a:rPr>
              <a:t>Full base capacity</a:t>
            </a:r>
            <a:r>
              <a:rPr lang="nb-NO" sz="1000" b="0" i="0" dirty="0">
                <a:solidFill>
                  <a:srgbClr val="6B6B6B"/>
                </a:solidFill>
                <a:latin typeface="Calibri"/>
              </a:rPr>
              <a:t>, 48% </a:t>
            </a:r>
            <a:r>
              <a:rPr lang="nb-NO" sz="1000" b="0" i="0" dirty="0" err="1">
                <a:solidFill>
                  <a:srgbClr val="6B6B6B"/>
                </a:solidFill>
                <a:latin typeface="Calibri"/>
              </a:rPr>
              <a:t>utilization</a:t>
            </a:r>
            <a:endParaRPr sz="1000" b="0" i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57200" y="4263000"/>
            <a:ext cx="9200000" cy="365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4290432"/>
            <a:ext cx="12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2033+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57200" y="4317864"/>
            <a:ext cx="914400" cy="256032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57200" y="43178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25 CNC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7200" y="4290432"/>
            <a:ext cx="525774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500" b="1" dirty="0">
                <a:solidFill>
                  <a:srgbClr val="FFFFFF"/>
                </a:solidFill>
              </a:rPr>
              <a:t>84,096 </a:t>
            </a:r>
            <a:r>
              <a:rPr lang="nb-NO" sz="1500" b="1" dirty="0" err="1">
                <a:solidFill>
                  <a:srgbClr val="FFFFFF"/>
                </a:solidFill>
              </a:rPr>
              <a:t>hrs</a:t>
            </a:r>
            <a:r>
              <a:rPr lang="nb-NO" sz="1500" b="1" dirty="0">
                <a:solidFill>
                  <a:srgbClr val="FFFFFF"/>
                </a:solidFill>
              </a:rPr>
              <a:t>/yr to 142, 350                        </a:t>
            </a:r>
            <a:r>
              <a:rPr lang="nb-NO" sz="1500" b="1" dirty="0" err="1">
                <a:solidFill>
                  <a:srgbClr val="FFFFFF"/>
                </a:solidFill>
              </a:rPr>
              <a:t>Self</a:t>
            </a:r>
            <a:r>
              <a:rPr lang="nb-NO" sz="1500" b="1" dirty="0">
                <a:solidFill>
                  <a:srgbClr val="FFFFFF"/>
                </a:solidFill>
              </a:rPr>
              <a:t> </a:t>
            </a:r>
            <a:r>
              <a:rPr lang="nb-NO" sz="1500" b="1" dirty="0" err="1">
                <a:solidFill>
                  <a:srgbClr val="FFFFFF"/>
                </a:solidFill>
              </a:rPr>
              <a:t>funded</a:t>
            </a:r>
            <a:r>
              <a:rPr lang="nb-NO" sz="1500" b="1" dirty="0">
                <a:solidFill>
                  <a:srgbClr val="FFFFFF"/>
                </a:solidFill>
              </a:rPr>
              <a:t> </a:t>
            </a:r>
            <a:r>
              <a:rPr lang="nb-NO" sz="1500" b="1" dirty="0" err="1">
                <a:solidFill>
                  <a:srgbClr val="FFFFFF"/>
                </a:solidFill>
              </a:rPr>
              <a:t>expansion</a:t>
            </a:r>
            <a:endParaRPr lang="nb-NO" sz="1500" b="1" dirty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94360" y="4317864"/>
            <a:ext cx="35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b-NO" sz="1000" b="0" i="0" dirty="0">
                <a:solidFill>
                  <a:srgbClr val="6B6B6B"/>
                </a:solidFill>
                <a:latin typeface="Calibri"/>
              </a:rPr>
              <a:t>48 – 65% </a:t>
            </a:r>
            <a:r>
              <a:rPr lang="nb-NO" sz="1000" b="0" i="0" dirty="0" err="1">
                <a:solidFill>
                  <a:srgbClr val="6B6B6B"/>
                </a:solidFill>
                <a:latin typeface="Calibri"/>
              </a:rPr>
              <a:t>utilization</a:t>
            </a:r>
            <a:endParaRPr sz="1000" b="0" i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57200" y="5093000"/>
            <a:ext cx="112776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5093000"/>
            <a:ext cx="1127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B2B2B"/>
                </a:solidFill>
                <a:latin typeface="Calibri"/>
              </a:rPr>
              <a:t>Full base @ 20 CNC:  </a:t>
            </a:r>
            <a:r>
              <a:rPr sz="1600" b="1">
                <a:solidFill>
                  <a:srgbClr val="F50537"/>
                </a:solidFill>
                <a:latin typeface="Calibri"/>
              </a:rPr>
              <a:t>113,880</a:t>
            </a:r>
            <a:r>
              <a:rPr sz="1200" b="0">
                <a:solidFill>
                  <a:srgbClr val="2B2B2B"/>
                </a:solidFill>
                <a:latin typeface="Calibri"/>
              </a:rPr>
              <a:t> annual hrs  |  </a:t>
            </a:r>
            <a:r>
              <a:rPr sz="1400" b="1">
                <a:solidFill>
                  <a:srgbClr val="F50537"/>
                </a:solidFill>
                <a:latin typeface="Calibri"/>
              </a:rPr>
              <a:t>65%</a:t>
            </a:r>
            <a:r>
              <a:rPr sz="1200" b="0">
                <a:solidFill>
                  <a:srgbClr val="2B2B2B"/>
                </a:solidFill>
                <a:latin typeface="Calibri"/>
              </a:rPr>
              <a:t> utilization  |  Break-even at </a:t>
            </a:r>
            <a:r>
              <a:rPr sz="1400" b="1">
                <a:solidFill>
                  <a:srgbClr val="F50537"/>
                </a:solidFill>
                <a:latin typeface="Calibri"/>
              </a:rPr>
              <a:t>14%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55020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6B6B"/>
                </a:solidFill>
                <a:latin typeface="Calibri"/>
              </a:rPr>
              <a:t>Capacity formula:  </a:t>
            </a:r>
            <a:r>
              <a:rPr sz="1100" b="0">
                <a:solidFill>
                  <a:srgbClr val="6B6B6B"/>
                </a:solidFill>
                <a:latin typeface="Calibri"/>
              </a:rPr>
              <a:t>8,760 theoretical hrs/CNC/yr  ×  utilization%  ×  CNC count</a:t>
            </a:r>
            <a:r>
              <a:rPr sz="1000" b="0">
                <a:solidFill>
                  <a:srgbClr val="D3D3D3"/>
                </a:solidFill>
                <a:latin typeface="Calibri"/>
              </a:rPr>
              <a:t>  |  H2 2027: 153 days × 24h = 3,672 hrs/CNC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 Manufacturing  •  February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Aurelian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F50537"/>
                </a:solidFill>
                <a:latin typeface="Calibri"/>
              </a:rPr>
              <a:t>Why customers choose Aurelian Smart Factory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00000"/>
            <a:ext cx="27432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86740" y="1371600"/>
            <a:ext cx="3429000" cy="2743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5340" y="1554480"/>
            <a:ext cx="2971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9620" y="16916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IN-HOUSE DIGITAL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21488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Purpose-built MES, quality,
and MRB automation.
Not bolted-on software.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340" y="3611880"/>
            <a:ext cx="2971800" cy="36576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5340" y="36118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Zero manual transcription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1500" y="1371600"/>
            <a:ext cx="3429000" cy="2743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0100" y="1554480"/>
            <a:ext cx="2971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4380" y="16916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AUTONOMOUS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21488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Lights-out capable CNC cells.
In-house automation layer
drives every machine cycle.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0100" y="3611880"/>
            <a:ext cx="2971800" cy="36576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0100" y="36118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Scalable by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6260" y="1371600"/>
            <a:ext cx="3429000" cy="2743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04860" y="1554480"/>
            <a:ext cx="2971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59140" y="16916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DEFENCE &amp; ENERGY GRADE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4860" y="2148840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  <a:latin typeface="Calibri"/>
              </a:rPr>
              <a:t>AS9100, AQAP 2110, NORSOK,
NADCAP from day one.
Architected, not retrofitted.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04860" y="3611880"/>
            <a:ext cx="2971800" cy="36576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04860" y="36118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Built for the hardest specs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72000"/>
            <a:ext cx="11277600" cy="548640"/>
          </a:xfrm>
          <a:prstGeom prst="round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11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14%</a:t>
            </a:r>
            <a:r>
              <a:rPr sz="1200" b="0">
                <a:solidFill>
                  <a:srgbClr val="6B6B6B"/>
                </a:solidFill>
                <a:latin typeface="Calibri"/>
              </a:rPr>
              <a:t> break-even utilization</a:t>
            </a:r>
            <a:r>
              <a:rPr sz="1400" b="0">
                <a:solidFill>
                  <a:srgbClr val="444444"/>
                </a:solidFill>
                <a:latin typeface="Calibri"/>
              </a:rPr>
              <a:t>    │    </a:t>
            </a:r>
            <a:r>
              <a:rPr sz="1800" b="1">
                <a:solidFill>
                  <a:srgbClr val="FFFFFF"/>
                </a:solidFill>
                <a:latin typeface="Calibri"/>
              </a:rPr>
              <a:t>5-layer</a:t>
            </a:r>
            <a:r>
              <a:rPr sz="1200" b="0">
                <a:solidFill>
                  <a:srgbClr val="6B6B6B"/>
                </a:solidFill>
                <a:latin typeface="Calibri"/>
              </a:rPr>
              <a:t> automated MRB validation</a:t>
            </a:r>
            <a:r>
              <a:rPr sz="1400" b="0">
                <a:solidFill>
                  <a:srgbClr val="444444"/>
                </a:solidFill>
                <a:latin typeface="Calibri"/>
              </a:rPr>
              <a:t>    │    </a:t>
            </a:r>
            <a:r>
              <a:rPr sz="1800" b="1">
                <a:solidFill>
                  <a:srgbClr val="FFFFFF"/>
                </a:solidFill>
                <a:latin typeface="Calibri"/>
              </a:rPr>
              <a:t>AES-256</a:t>
            </a:r>
            <a:r>
              <a:rPr sz="1200" b="0">
                <a:solidFill>
                  <a:srgbClr val="6B6B6B"/>
                </a:solidFill>
                <a:latin typeface="Calibri"/>
              </a:rPr>
              <a:t> encryption at rest &amp; in transit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458</Words>
  <Application>Microsoft Office PowerPoint</Application>
  <PresentationFormat>Widescreen</PresentationFormat>
  <Paragraphs>75</Paragraphs>
  <Slides>4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PowerPoint-presentasjon</vt:lpstr>
      <vt:lpstr>PowerPoint-presentasjon</vt:lpstr>
      <vt:lpstr>PowerPoint-presentasjon</vt:lpstr>
      <vt:lpstr>PowerPoint-presentasjon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Tore Ausland</cp:lastModifiedBy>
  <cp:revision>1</cp:revision>
  <dcterms:created xsi:type="dcterms:W3CDTF">2013-01-27T09:14:16Z</dcterms:created>
  <dcterms:modified xsi:type="dcterms:W3CDTF">2026-02-19T17:22:09Z</dcterms:modified>
  <cp:category/>
</cp:coreProperties>
</file>