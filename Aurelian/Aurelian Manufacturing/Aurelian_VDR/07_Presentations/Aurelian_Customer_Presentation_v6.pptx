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55FC2-65C0-4993-B145-3238ED236595}" v="7" dt="2026-02-09T10:15:55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8" d="100"/>
          <a:sy n="148" d="100"/>
        </p:scale>
        <p:origin x="58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aba57685-d7d9-45f9-a74d-a4b3d109653f" providerId="ADAL" clId="{C7003D35-0069-4681-A939-A1D689C68C91}"/>
    <pc:docChg chg="custSel modSld">
      <pc:chgData name="Tore Ausland" userId="aba57685-d7d9-45f9-a74d-a4b3d109653f" providerId="ADAL" clId="{C7003D35-0069-4681-A939-A1D689C68C91}" dt="2026-02-09T10:17:24.773" v="273" actId="1076"/>
      <pc:docMkLst>
        <pc:docMk/>
      </pc:docMkLst>
      <pc:sldChg chg="addSp modSp mod">
        <pc:chgData name="Tore Ausland" userId="aba57685-d7d9-45f9-a74d-a4b3d109653f" providerId="ADAL" clId="{C7003D35-0069-4681-A939-A1D689C68C91}" dt="2026-02-09T10:17:24.773" v="273" actId="1076"/>
        <pc:sldMkLst>
          <pc:docMk/>
          <pc:sldMk cId="0" sldId="256"/>
        </pc:sldMkLst>
        <pc:picChg chg="add mod">
          <ac:chgData name="Tore Ausland" userId="aba57685-d7d9-45f9-a74d-a4b3d109653f" providerId="ADAL" clId="{C7003D35-0069-4681-A939-A1D689C68C91}" dt="2026-02-09T10:15:29.792" v="266" actId="1076"/>
          <ac:picMkLst>
            <pc:docMk/>
            <pc:sldMk cId="0" sldId="256"/>
            <ac:picMk id="5" creationId="{1E5B3F47-0AB2-4152-883E-D8B10A99ACBC}"/>
          </ac:picMkLst>
        </pc:picChg>
        <pc:picChg chg="add mod">
          <ac:chgData name="Tore Ausland" userId="aba57685-d7d9-45f9-a74d-a4b3d109653f" providerId="ADAL" clId="{C7003D35-0069-4681-A939-A1D689C68C91}" dt="2026-02-09T10:17:24.773" v="273" actId="1076"/>
          <ac:picMkLst>
            <pc:docMk/>
            <pc:sldMk cId="0" sldId="256"/>
            <ac:picMk id="6" creationId="{5ADCCDB7-7DBF-56C3-5ADE-93DD7FCBDBC9}"/>
          </ac:picMkLst>
        </pc:picChg>
      </pc:sldChg>
      <pc:sldChg chg="addSp delSp modSp mod">
        <pc:chgData name="Tore Ausland" userId="aba57685-d7d9-45f9-a74d-a4b3d109653f" providerId="ADAL" clId="{C7003D35-0069-4681-A939-A1D689C68C91}" dt="2026-02-08T20:57:42.026" v="264" actId="1076"/>
        <pc:sldMkLst>
          <pc:docMk/>
          <pc:sldMk cId="0" sldId="257"/>
        </pc:sldMkLst>
        <pc:spChg chg="del">
          <ac:chgData name="Tore Ausland" userId="aba57685-d7d9-45f9-a74d-a4b3d109653f" providerId="ADAL" clId="{C7003D35-0069-4681-A939-A1D689C68C91}" dt="2026-02-08T20:57:01.661" v="260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Tore Ausland" userId="aba57685-d7d9-45f9-a74d-a4b3d109653f" providerId="ADAL" clId="{C7003D35-0069-4681-A939-A1D689C68C91}" dt="2026-02-08T20:57:42.026" v="264" actId="1076"/>
          <ac:spMkLst>
            <pc:docMk/>
            <pc:sldMk cId="0" sldId="257"/>
            <ac:spMk id="12" creationId="{31711B72-B85D-720C-26E0-F3EB25EFB65D}"/>
          </ac:spMkLst>
        </pc:spChg>
      </pc:sldChg>
      <pc:sldChg chg="addSp modSp mod">
        <pc:chgData name="Tore Ausland" userId="aba57685-d7d9-45f9-a74d-a4b3d109653f" providerId="ADAL" clId="{C7003D35-0069-4681-A939-A1D689C68C91}" dt="2026-02-08T20:16:49.294" v="1" actId="1076"/>
        <pc:sldMkLst>
          <pc:docMk/>
          <pc:sldMk cId="0" sldId="258"/>
        </pc:sldMkLst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7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4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16:42.788" v="0" actId="164"/>
          <ac:spMkLst>
            <pc:docMk/>
            <pc:sldMk cId="0" sldId="258"/>
            <ac:spMk id="19" creationId="{00000000-0000-0000-0000-000000000000}"/>
          </ac:spMkLst>
        </pc:spChg>
        <pc:grpChg chg="mod">
          <ac:chgData name="Tore Ausland" userId="aba57685-d7d9-45f9-a74d-a4b3d109653f" providerId="ADAL" clId="{C7003D35-0069-4681-A939-A1D689C68C91}" dt="2026-02-08T20:16:49.294" v="1" actId="1076"/>
          <ac:grpSpMkLst>
            <pc:docMk/>
            <pc:sldMk cId="0" sldId="258"/>
            <ac:grpSpMk id="20" creationId="{B1C81CD2-F6E4-0D05-5D2C-1B2DEB894B1F}"/>
          </ac:grpSpMkLst>
        </pc:grpChg>
      </pc:sldChg>
      <pc:sldChg chg="modSp mod">
        <pc:chgData name="Tore Ausland" userId="aba57685-d7d9-45f9-a74d-a4b3d109653f" providerId="ADAL" clId="{C7003D35-0069-4681-A939-A1D689C68C91}" dt="2026-02-08T20:36:08.283" v="77" actId="20577"/>
        <pc:sldMkLst>
          <pc:docMk/>
          <pc:sldMk cId="0" sldId="263"/>
        </pc:sldMkLst>
        <pc:spChg chg="mod">
          <ac:chgData name="Tore Ausland" userId="aba57685-d7d9-45f9-a74d-a4b3d109653f" providerId="ADAL" clId="{C7003D35-0069-4681-A939-A1D689C68C91}" dt="2026-02-08T20:36:08.283" v="77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Tore Ausland" userId="aba57685-d7d9-45f9-a74d-a4b3d109653f" providerId="ADAL" clId="{C7003D35-0069-4681-A939-A1D689C68C91}" dt="2026-02-08T20:47:03.186" v="256" actId="20577"/>
        <pc:sldMkLst>
          <pc:docMk/>
          <pc:sldMk cId="0" sldId="264"/>
        </pc:sldMkLst>
        <pc:spChg chg="mod">
          <ac:chgData name="Tore Ausland" userId="aba57685-d7d9-45f9-a74d-a4b3d109653f" providerId="ADAL" clId="{C7003D35-0069-4681-A939-A1D689C68C91}" dt="2026-02-08T20:46:02.024" v="241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43:08.491" v="136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42:52.783" v="130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Tore Ausland" userId="aba57685-d7d9-45f9-a74d-a4b3d109653f" providerId="ADAL" clId="{C7003D35-0069-4681-A939-A1D689C68C91}" dt="2026-02-08T20:47:03.186" v="256" actId="20577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Tore Ausland" userId="aba57685-d7d9-45f9-a74d-a4b3d109653f" providerId="ADAL" clId="{C7003D35-0069-4681-A939-A1D689C68C91}" dt="2026-02-08T20:38:03.961" v="95" actId="20577"/>
        <pc:sldMkLst>
          <pc:docMk/>
          <pc:sldMk cId="0" sldId="265"/>
        </pc:sldMkLst>
        <pc:graphicFrameChg chg="modGraphic">
          <ac:chgData name="Tore Ausland" userId="aba57685-d7d9-45f9-a74d-a4b3d109653f" providerId="ADAL" clId="{C7003D35-0069-4681-A939-A1D689C68C91}" dt="2026-02-08T20:38:03.961" v="95" actId="20577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modSp mod">
        <pc:chgData name="Tore Ausland" userId="aba57685-d7d9-45f9-a74d-a4b3d109653f" providerId="ADAL" clId="{C7003D35-0069-4681-A939-A1D689C68C91}" dt="2026-02-08T20:40:01.207" v="100" actId="1076"/>
        <pc:sldMkLst>
          <pc:docMk/>
          <pc:sldMk cId="0" sldId="266"/>
        </pc:sldMkLst>
        <pc:spChg chg="mod">
          <ac:chgData name="Tore Ausland" userId="aba57685-d7d9-45f9-a74d-a4b3d109653f" providerId="ADAL" clId="{C7003D35-0069-4681-A939-A1D689C68C91}" dt="2026-02-08T20:39:45.399" v="98" actId="14100"/>
          <ac:spMkLst>
            <pc:docMk/>
            <pc:sldMk cId="0" sldId="266"/>
            <ac:spMk id="4" creationId="{00000000-0000-0000-0000-000000000000}"/>
          </ac:spMkLst>
        </pc:spChg>
        <pc:picChg chg="mod">
          <ac:chgData name="Tore Ausland" userId="aba57685-d7d9-45f9-a74d-a4b3d109653f" providerId="ADAL" clId="{C7003D35-0069-4681-A939-A1D689C68C91}" dt="2026-02-08T20:40:01.207" v="100" actId="1076"/>
          <ac:picMkLst>
            <pc:docMk/>
            <pc:sldMk cId="0" sldId="266"/>
            <ac:picMk id="3" creationId="{00000000-0000-0000-0000-000000000000}"/>
          </ac:picMkLst>
        </pc:picChg>
      </pc:sldChg>
      <pc:sldChg chg="modSp mod">
        <pc:chgData name="Tore Ausland" userId="aba57685-d7d9-45f9-a74d-a4b3d109653f" providerId="ADAL" clId="{C7003D35-0069-4681-A939-A1D689C68C91}" dt="2026-02-08T20:35:14.556" v="67" actId="20577"/>
        <pc:sldMkLst>
          <pc:docMk/>
          <pc:sldMk cId="0" sldId="268"/>
        </pc:sldMkLst>
        <pc:spChg chg="mod">
          <ac:chgData name="Tore Ausland" userId="aba57685-d7d9-45f9-a74d-a4b3d109653f" providerId="ADAL" clId="{C7003D35-0069-4681-A939-A1D689C68C91}" dt="2026-02-08T20:35:14.556" v="67" actId="20577"/>
          <ac:spMkLst>
            <pc:docMk/>
            <pc:sldMk cId="0" sldId="26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Aurelian Manufacturing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9792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3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 a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2088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Data-Driven, and Scalable</a:t>
            </a:r>
            <a:endParaRPr lang="en-US" sz="2000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1E5B3F47-0AB2-4152-883E-D8B10A99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882" y="184145"/>
            <a:ext cx="804742" cy="475529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5ADCCDB7-7DBF-56C3-5ADE-93DD7FCBD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76" y="3076792"/>
            <a:ext cx="1939077" cy="18539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Manufacturing delivers autonomous, high-mix/low-volume (HMLV) CNC machining with unprecedented efficiency and reliability.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is demanding sectors like defense, energy, maritime, and critical industrial sectors with: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>
              <a:buSzPct val="100000"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milling services in lights-out environment.</a:t>
            </a:r>
            <a:endParaRPr lang="en-US" sz="1400" dirty="0"/>
          </a:p>
          <a:p>
            <a:pPr>
              <a:buSzPct val="100000"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utilization vs. industry 30-40%.</a:t>
            </a:r>
            <a:endParaRPr lang="en-US" sz="1400" dirty="0"/>
          </a:p>
          <a:p>
            <a:pPr>
              <a:buSzPct val="100000"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 traceability from order to delivery.</a:t>
            </a:r>
            <a:endParaRPr lang="en-US" sz="1400" dirty="0"/>
          </a:p>
          <a:p>
            <a:pPr>
              <a:buSzPct val="100000"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-aligned value model with shared benefits.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645920"/>
            <a:ext cx="3657600" cy="155448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60-65%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Utilization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0" y="3383280"/>
            <a:ext cx="365760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FF3E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Lights-Out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Operation</a:t>
            </a:r>
            <a:endParaRPr lang="en-US" sz="160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31711B72-B85D-720C-26E0-F3EB25EFB65D}"/>
              </a:ext>
            </a:extLst>
          </p:cNvPr>
          <p:cNvSpPr/>
          <p:nvPr/>
        </p:nvSpPr>
        <p:spPr>
          <a:xfrm>
            <a:off x="-57955" y="925991"/>
            <a:ext cx="8653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that scales with the combined value of skilled people and machines.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HMLV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</a:t>
            </a: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nderstand what drives excellence in High-Mix/Low-Volume production</a:t>
            </a:r>
            <a:endParaRPr lang="en-US" sz="1800" dirty="0"/>
          </a:p>
        </p:txBody>
      </p:sp>
      <p:grpSp>
        <p:nvGrpSpPr>
          <p:cNvPr id="20" name="Gruppe 19">
            <a:extLst>
              <a:ext uri="{FF2B5EF4-FFF2-40B4-BE49-F238E27FC236}">
                <a16:creationId xmlns:a16="http://schemas.microsoft.com/office/drawing/2014/main" id="{B1C81CD2-F6E4-0D05-5D2C-1B2DEB894B1F}"/>
              </a:ext>
            </a:extLst>
          </p:cNvPr>
          <p:cNvGrpSpPr/>
          <p:nvPr/>
        </p:nvGrpSpPr>
        <p:grpSpPr>
          <a:xfrm>
            <a:off x="228600" y="1463040"/>
            <a:ext cx="8686800" cy="3154680"/>
            <a:chOff x="457200" y="1463040"/>
            <a:chExt cx="8686800" cy="3154680"/>
          </a:xfrm>
        </p:grpSpPr>
        <p:sp>
          <p:nvSpPr>
            <p:cNvPr id="4" name="Shape 2"/>
            <p:cNvSpPr/>
            <p:nvPr/>
          </p:nvSpPr>
          <p:spPr>
            <a:xfrm>
              <a:off x="457200" y="1463040"/>
              <a:ext cx="4114800" cy="146304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600200"/>
              <a:ext cx="365760" cy="365760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097280" y="1600200"/>
              <a:ext cx="3246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Linear Operations Model</a:t>
              </a:r>
              <a:endParaRPr lang="en-US" sz="18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85800" y="205740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Manual to semi-automatic processes require significant human intervention. Each setup, adjustment, and quality check depends on operator skill and availability—limiting scalability and consistency.</a:t>
              </a:r>
              <a:endParaRPr lang="en-US" sz="13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5029200" y="1463040"/>
              <a:ext cx="4114800" cy="146304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2080" y="1600200"/>
              <a:ext cx="365760" cy="36576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5669280" y="1600200"/>
              <a:ext cx="3246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Greenfield Advantage</a:t>
              </a:r>
              <a:endParaRPr lang="en-US" sz="18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5257800" y="205740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Designing HMLV operations from scratch enables purpose-built automation, integrated digital systems, and optimized workflows—without legacy constraints or retrofit compromises.</a:t>
              </a:r>
              <a:endParaRPr lang="en-US" sz="1300" dirty="0"/>
            </a:p>
          </p:txBody>
        </p:sp>
        <p:sp>
          <p:nvSpPr>
            <p:cNvPr id="12" name="Shape 8"/>
            <p:cNvSpPr/>
            <p:nvPr/>
          </p:nvSpPr>
          <p:spPr>
            <a:xfrm>
              <a:off x="457200" y="3154680"/>
              <a:ext cx="4114800" cy="146304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291840"/>
              <a:ext cx="365760" cy="365760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1097280" y="3291840"/>
              <a:ext cx="3246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Skilled Workforce Evolution</a:t>
              </a:r>
              <a:endParaRPr lang="en-US" sz="18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685800" y="374904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Excellence in HMLV requires transitioning from manual operators to automation specialists—engineers who design, monitor, and optimize autonomous systems rather than run individual machines.</a:t>
              </a:r>
              <a:endParaRPr lang="en-US" sz="1300" dirty="0"/>
            </a:p>
          </p:txBody>
        </p:sp>
        <p:sp>
          <p:nvSpPr>
            <p:cNvPr id="16" name="Shape 11"/>
            <p:cNvSpPr/>
            <p:nvPr/>
          </p:nvSpPr>
          <p:spPr>
            <a:xfrm>
              <a:off x="5029200" y="3154680"/>
              <a:ext cx="4114800" cy="1463040"/>
            </a:xfrm>
            <a:prstGeom prst="rect">
              <a:avLst/>
            </a:prstGeom>
            <a:solidFill>
              <a:srgbClr val="F5F5F5"/>
            </a:solidFill>
            <a:ln w="127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2080" y="3291840"/>
              <a:ext cx="365760" cy="365760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5669280" y="3291840"/>
              <a:ext cx="32461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2C2C2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Smart Factory Architecture</a:t>
              </a:r>
              <a:endParaRPr lang="en-US" sz="1800" dirty="0"/>
            </a:p>
          </p:txBody>
        </p:sp>
        <p:sp>
          <p:nvSpPr>
            <p:cNvPr id="19" name="Text 13"/>
            <p:cNvSpPr/>
            <p:nvPr/>
          </p:nvSpPr>
          <p:spPr>
            <a:xfrm>
              <a:off x="5257800" y="3749040"/>
              <a:ext cx="365760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True HMLV leadership demands integrated digital infrastructure: automated CAM, real-time monitoring, predictive maintenance, and full traceability—not incremental automation additions.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Aurelian Approach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87752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603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Automation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2039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Lights-out HMLV operation. High uptime and minimal human intervention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587752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64592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8728" y="25603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Efficiency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30168" y="3108960"/>
            <a:ext cx="2039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60-65% utilization vs. industry 30-40%, translating to competitive pricing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54496" y="1371600"/>
            <a:ext cx="2587752" cy="2926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1645920"/>
            <a:ext cx="731520" cy="7315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7376" y="2560320"/>
            <a:ext cx="2221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Traceability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528816" y="3108960"/>
            <a:ext cx="2039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 from order to delivery with integrated quality control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Infrastructure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Beyond Machining Services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00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eSECURITY – IT/OT &amp; Value Chain Security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1920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 protecting your data and ensuring compliance for defense and critical industries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697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eDOC – Digital Documentation &amp; Traceability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28016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from order → CAM → production → measurement → delivery. Single source of truth for both parties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94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eMRB – Digital Deviation Management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28016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quality control with traceable decisions, reducing risk and improving first-time-right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Benefits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lead times through lights-out automation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1920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supply chain risk with reliable backup capacity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0160" y="24688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 and traceability for regulatory compliance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8016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through extreme automation efficiency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6616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80160" y="35661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consistency with digital quality control</a:t>
            </a:r>
            <a:endParaRPr lang="en-US" sz="18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80160" y="4114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capacity scaling as your needs grow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Models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Options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146304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/>
              <a:t>Collaboration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Shared performance upside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Secured machining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dirty="0" err="1"/>
              <a:t>Customer-influenced</a:t>
            </a:r>
            <a:r>
              <a:rPr lang="nb-NO" dirty="0"/>
              <a:t> shop </a:t>
            </a:r>
            <a:r>
              <a:rPr lang="nb-NO" dirty="0" err="1"/>
              <a:t>scale</a:t>
            </a:r>
            <a:r>
              <a:rPr lang="nb-NO" dirty="0"/>
              <a:t>-up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Reporting and quality reviews within Aurelian’s digital platform (</a:t>
            </a:r>
            <a:r>
              <a:rPr lang="en-US" dirty="0" err="1"/>
              <a:t>mrb’s</a:t>
            </a:r>
            <a:r>
              <a:rPr lang="en-US" dirty="0"/>
              <a:t>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0" y="1463040"/>
            <a:ext cx="3383280" cy="30175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373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Trust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03520" y="3154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⟷ Customer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577840" y="3657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thinking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success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communication</a:t>
            </a:r>
            <a:endParaRPr lang="en-US" sz="1500" dirty="0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62DF2249-83AA-7B9B-1E22-69B2E7EAC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28" y="1564692"/>
            <a:ext cx="1188823" cy="1188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Capabilities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26365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Capacity: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Location: Våler, Østfold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phase: 2,635 m² production floor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Initial: 8 CNC machines, automation cells.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to 20-25 machines in same facility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Infrastructure: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Multi-modal logistics (rail, sea, road and air)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30,000 m² total buildable area</a:t>
            </a:r>
            <a:endParaRPr lang="en-US" sz="1600" dirty="0"/>
          </a:p>
          <a:p>
            <a:pPr>
              <a:buSzPct val="100000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Partnership with Mazak (tier-1 CNC supplier)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FF3E00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3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Production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2651760"/>
            <a:ext cx="3657600" cy="91440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5029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Investment to Production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749040"/>
            <a:ext cx="36576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50292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Mazak Partnership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&amp; Compliance</a:t>
            </a:r>
            <a:endParaRPr lang="en-US" sz="4000" dirty="0"/>
          </a:p>
        </p:txBody>
      </p:sp>
      <p:grpSp>
        <p:nvGrpSpPr>
          <p:cNvPr id="15" name="Gruppe 14">
            <a:extLst>
              <a:ext uri="{FF2B5EF4-FFF2-40B4-BE49-F238E27FC236}">
                <a16:creationId xmlns:a16="http://schemas.microsoft.com/office/drawing/2014/main" id="{C30530CC-EFA8-B5C1-0221-1AFB708E4E08}"/>
              </a:ext>
            </a:extLst>
          </p:cNvPr>
          <p:cNvGrpSpPr/>
          <p:nvPr/>
        </p:nvGrpSpPr>
        <p:grpSpPr>
          <a:xfrm>
            <a:off x="228600" y="1371600"/>
            <a:ext cx="8686800" cy="3017520"/>
            <a:chOff x="457200" y="1371600"/>
            <a:chExt cx="8686800" cy="3017520"/>
          </a:xfrm>
        </p:grpSpPr>
        <p:sp>
          <p:nvSpPr>
            <p:cNvPr id="3" name="Shape 1"/>
            <p:cNvSpPr/>
            <p:nvPr/>
          </p:nvSpPr>
          <p:spPr>
            <a:xfrm>
              <a:off x="457200" y="1371600"/>
              <a:ext cx="4114800" cy="137160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4" name="Text 2"/>
            <p:cNvSpPr/>
            <p:nvPr/>
          </p:nvSpPr>
          <p:spPr>
            <a:xfrm>
              <a:off x="731520" y="1554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3E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Traceability</a:t>
              </a:r>
              <a:endParaRPr lang="en-US" sz="20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31520" y="2011680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Component tracked from raw material to delivery.</a:t>
              </a:r>
              <a:endParaRPr lang="en-US" sz="15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5029200" y="1371600"/>
              <a:ext cx="4114800" cy="137160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" name="Text 5"/>
            <p:cNvSpPr/>
            <p:nvPr/>
          </p:nvSpPr>
          <p:spPr>
            <a:xfrm>
              <a:off x="5303520" y="155448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3E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Digital Quality Control</a:t>
              </a:r>
              <a:endParaRPr lang="en-US" sz="20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303520" y="2011680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Automated measurement and documentation (</a:t>
              </a:r>
              <a:r>
                <a:rPr lang="en-US" sz="1500" dirty="0" err="1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eMRB</a:t>
              </a: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500" dirty="0" err="1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eDOC</a:t>
              </a: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  <a:endParaRPr lang="en-US" sz="15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57200" y="3017520"/>
              <a:ext cx="4114800" cy="137160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2004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3E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Regulatory Compliance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31520" y="3657600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 build for defense, energy, and critical industry standards. Customer influenced.</a:t>
              </a:r>
              <a:endParaRPr lang="en-US" sz="15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029200" y="3017520"/>
              <a:ext cx="4114800" cy="1371600"/>
            </a:xfrm>
            <a:prstGeom prst="rect">
              <a:avLst/>
            </a:prstGeom>
            <a:solidFill>
              <a:srgbClr val="F5F5F5"/>
            </a:solidFill>
            <a:ln w="25400">
              <a:solidFill>
                <a:srgbClr val="FF3E00"/>
              </a:solidFill>
              <a:prstDash val="soli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Text 11"/>
            <p:cNvSpPr/>
            <p:nvPr/>
          </p:nvSpPr>
          <p:spPr>
            <a:xfrm>
              <a:off x="5303520" y="3200400"/>
              <a:ext cx="3566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3E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Continuous Improvement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303520" y="3657600"/>
              <a:ext cx="35661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6B6B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Data-driven processes, AI optimization and (self)learning.</a:t>
              </a:r>
              <a:endParaRPr lang="en-US" sz="15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Choose Aurelian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16787"/>
              </p:ext>
            </p:extLst>
          </p:nvPr>
        </p:nvGraphicFramePr>
        <p:xfrm>
          <a:off x="457200" y="1188720"/>
          <a:ext cx="8229600" cy="338328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Shops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Aurelian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Utilization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60-65%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HMLV Flexibility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Traceability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Manual/Partial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End-to-End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Markup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+ Performance upside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Level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Semi-automated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Lights-Out 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Predictability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Predictable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984" y="5486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589170"/>
            <a:ext cx="559587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Initial Discussion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Understanding your production requirements and volume forecasts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Capability Assessment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Review technical specifications and quality requirements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Partnership Structure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Discuss pre-qual,  service agreement or strategic partnership options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 Production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Start with sample parts to demonstrate quality and efficiency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Full Production Launch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Scale to ongoing production with full digital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Together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2286000"/>
            <a:ext cx="5486400" cy="1645920"/>
          </a:xfrm>
          <a:prstGeom prst="rect">
            <a:avLst/>
          </a:prstGeom>
          <a:solidFill>
            <a:srgbClr val="FF3E00"/>
          </a:solidFill>
          <a:ln/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Aurelian Manufacturing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as a Service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 to discuss your manufacturing needs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Våler, Østfold | Norway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718</Words>
  <Application>Microsoft Office PowerPoint</Application>
  <PresentationFormat>Skjermfremvisning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Aurelian Manufacturing - Customer Presentation</dc:title>
  <dc:subject>PptxGenJS Presentation</dc:subject>
  <dc:creator>Aurelian Manufacturing</dc:creator>
  <cp:lastModifiedBy>Tore Ausland</cp:lastModifiedBy>
  <cp:revision>2</cp:revision>
  <dcterms:created xsi:type="dcterms:W3CDTF">2026-02-08T19:10:34Z</dcterms:created>
  <dcterms:modified xsi:type="dcterms:W3CDTF">2026-02-09T10:17:25Z</dcterms:modified>
</cp:coreProperties>
</file>