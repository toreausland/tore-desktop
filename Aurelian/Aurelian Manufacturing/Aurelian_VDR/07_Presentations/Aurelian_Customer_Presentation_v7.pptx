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0"/>
            <a:ext cx="1219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Aurelian
Manufacturing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904" y="3000000"/>
            <a:ext cx="1828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00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F50537"/>
                </a:solidFill>
                <a:latin typeface="Calibri"/>
              </a:rPr>
              <a:t>Production as a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5000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Autonomous, Data-Driven, and Scalable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Who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0000"/>
            <a:ext cx="70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Aurelian Manufacturing delivers autonomous, high-mix/low-volume (HMLV) CNC machining with unprecedented efficiency and reliability.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B2B2B"/>
                </a:solidFill>
                <a:latin typeface="Calibri"/>
              </a:rPr>
              <a:t>Target market is demanding sectors like defense, energy, maritime, and critical industrial sectors with: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0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Turning and milling services in lights-out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8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High machine utilization vs. industry 30-40%.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6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Full digital traceability from order to delivery.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40000"/>
            <a:ext cx="65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Customer-aligned value model with shared benefits.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0000" y="1100000"/>
            <a:ext cx="3700000" cy="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0000" y="1100000"/>
            <a:ext cx="37000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0" y="116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60-65%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0" y="1560000"/>
            <a:ext cx="37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Machine Utilization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000" y="2100000"/>
            <a:ext cx="3700000" cy="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00000" y="2100000"/>
            <a:ext cx="37000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0" y="2160000"/>
            <a:ext cx="3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Lights-Out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0" y="2560000"/>
            <a:ext cx="37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Autonomous Operation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00000"/>
            <a:ext cx="11277600" cy="457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0000"/>
            <a:ext cx="1127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A business that scales with the combined value of skilled people and machines.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The HMLV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We understand what drives excellence in High-Mix/Low-Volume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Linear Operations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Manual to semi-automatic processes require significant human intervention. Each setup, adjustment, and quality check depends on operator skill and availability—limiting scalability and consistency.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3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3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Greenfield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Designing HMLV operations from scratch enables purpose-built automation, integrated digital systems, and optimized workflows—without legacy constraints or retrofit compromises.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Skilled Workforce Evolution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Excellence in HMLV requires transitioning from manual operators to automation specialists—engineers who design, monitor, and optimize autonomous systems rather than run individual machines.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6000" y="1200000"/>
            <a:ext cx="2560000" cy="32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56000" y="12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300" y="1337160"/>
            <a:ext cx="2331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B2B2B"/>
                </a:solidFill>
                <a:latin typeface="Calibri"/>
              </a:rPr>
              <a:t>Smart Factory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300" y="1748640"/>
            <a:ext cx="2331400" cy="251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True HMLV leadership demands integrated digital infrastructure: automated CAM, real-time monitoring, predictive maintenance, and full traceability—not incremental automation additions.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The Aurelian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50000"/>
            <a:ext cx="27432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6740" y="1100000"/>
            <a:ext cx="3429000" cy="24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5340" y="12828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5340" y="1465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Extreme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340" y="2014400"/>
            <a:ext cx="2971800" cy="12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Lights-out HMLV operation. High uptime and minimal human intervention.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1100000"/>
            <a:ext cx="3429000" cy="24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0100" y="12828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0100" y="1465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Industry-Leading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0100" y="2014400"/>
            <a:ext cx="2971800" cy="12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60-65% utilization vs. industry 30-40%, translating to competitive pricing.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6260" y="1100000"/>
            <a:ext cx="3429000" cy="24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04860" y="1282880"/>
            <a:ext cx="2971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4860" y="146576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Full Digital Traceability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4860" y="2014400"/>
            <a:ext cx="2971800" cy="125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  <a:latin typeface="Calibri"/>
              </a:rPr>
              <a:t>Complete visibility from order to delivery with integrated quality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Digital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What You Get Beyond Machining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00000"/>
            <a:ext cx="11277600" cy="12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00000"/>
            <a:ext cx="45720" cy="128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75712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57200" y="1482880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7200" y="1482880"/>
            <a:ext cx="16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0080" y="1482880"/>
            <a:ext cx="6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IT/OT &amp; Value Chain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7200" y="1940080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Zero-trust architecture protecting your data and ensuring compliance for defense and critical industries.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0000"/>
            <a:ext cx="11277600" cy="12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0000"/>
            <a:ext cx="45720" cy="128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23712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57200" y="2962880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7200" y="2962880"/>
            <a:ext cx="16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eDOC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0080" y="2962880"/>
            <a:ext cx="6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Digital Documentation &amp; Traceability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7200" y="3420080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Full traceability from order → CAM → production → measurement → delivery. Single source of truth for both parties.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60000"/>
            <a:ext cx="11277600" cy="128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260000"/>
            <a:ext cx="45720" cy="128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71712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57200" y="4442880"/>
            <a:ext cx="1600000" cy="32004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7200" y="4442880"/>
            <a:ext cx="16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eMRB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0080" y="4442880"/>
            <a:ext cx="6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Digital Deviation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200" y="4900080"/>
            <a:ext cx="1027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Systematic quality control with traceable decisions, reducing risk and improving first-time-right performance.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Customer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00000"/>
            <a:ext cx="11277600" cy="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Reduced lead times through lights-out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00000"/>
            <a:ext cx="112776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Lower supply chain risk with reliable backup capacity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00000"/>
            <a:ext cx="11277600" cy="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Full transparency and traceability for regulatory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00000"/>
            <a:ext cx="112776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Competitive pricing through extreme automation efficiency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00000"/>
            <a:ext cx="11277600" cy="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9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Quality consistency with digital quality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00000"/>
            <a:ext cx="11277600" cy="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600000"/>
            <a:ext cx="45720" cy="60000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00000"/>
            <a:ext cx="10820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Flexible capacity scaling as your needs 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Collaboration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1">
                <a:solidFill>
                  <a:srgbClr val="F50537"/>
                </a:solidFill>
                <a:latin typeface="Calibri"/>
              </a:rPr>
              <a:t>Flexible Engagement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00000"/>
            <a:ext cx="5400000" cy="36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00000"/>
            <a:ext cx="540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7160"/>
            <a:ext cx="503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Collaboration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864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Shared performance upside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868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Secured machining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872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Customer-influenced shop scale-up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8760"/>
            <a:ext cx="485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Reporting and quality reviews within Aurelian’s digital platform (MRB’s).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2960" y="1100000"/>
            <a:ext cx="5511840" cy="36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22960" y="1100000"/>
            <a:ext cx="551184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5840" y="1237160"/>
            <a:ext cx="514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Built on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2960" y="1740080"/>
            <a:ext cx="551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50537"/>
                </a:solidFill>
                <a:latin typeface="Calibri"/>
              </a:rPr>
              <a:t>Aurelian ⟷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720" y="2243000"/>
            <a:ext cx="49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•  Long-term thinking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720" y="2608760"/>
            <a:ext cx="49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•  Mutual success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720" y="2974520"/>
            <a:ext cx="496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  <a:latin typeface="Calibri"/>
              </a:rPr>
              <a:t>•  Transparent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Production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0537"/>
                </a:solidFill>
                <a:latin typeface="Calibri"/>
              </a:rPr>
              <a:t>Current Capacity: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Location: Våler, Østfold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432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First phase: 2,635 m² production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9864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Initial: 8 CNC machines, automation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7296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Scalable to 20-25 machines in same facility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0537"/>
                </a:solidFill>
                <a:latin typeface="Calibri"/>
              </a:rPr>
              <a:t>Strategic Infrastructure: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0000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Multi-modal logistics (rail, sea, road and air)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7432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30,000 m² total buildable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48640"/>
            <a:ext cx="6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B2B2B"/>
                </a:solidFill>
                <a:latin typeface="Calibri"/>
              </a:rPr>
              <a:t>•  Partnership with Mazak (tier-1 CNC supplier)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0000" y="1050000"/>
            <a:ext cx="4000000" cy="3200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28600" y="1278600"/>
            <a:ext cx="3542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600" y="1278600"/>
            <a:ext cx="35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Q3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600" y="1735800"/>
            <a:ext cx="354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EC5"/>
                </a:solidFill>
                <a:latin typeface="Calibri"/>
              </a:rPr>
              <a:t>First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600" y="2193000"/>
            <a:ext cx="3542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600" y="2193000"/>
            <a:ext cx="35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600" y="2650200"/>
            <a:ext cx="354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EC5"/>
                </a:solidFill>
                <a:latin typeface="Calibri"/>
              </a:rPr>
              <a:t>From Investment to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600" y="3107400"/>
            <a:ext cx="3542800" cy="365760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600" y="3107400"/>
            <a:ext cx="354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Mazak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600" y="3564600"/>
            <a:ext cx="354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EAEC5"/>
                </a:solidFill>
                <a:latin typeface="Calibri"/>
              </a:rPr>
              <a:t>Partnership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Quality &amp; Compliance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Full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Component tracked from raw material to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3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Digital Quality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Automated measurement and documentation (eMRB, eDOC).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Regulatory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We build for defense, energy, and critical industry standards. Customer influenced.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6000" y="1100000"/>
            <a:ext cx="2560000" cy="28000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56000" y="1100000"/>
            <a:ext cx="2560000" cy="45720"/>
          </a:xfrm>
          <a:prstGeom prst="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3160" y="1282880"/>
            <a:ext cx="228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Continuous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3160" y="1831520"/>
            <a:ext cx="2285680" cy="188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Data-driven processes, AI optimization and (self)learning.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Why Choose Aurelian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00000"/>
          <a:ext cx="11277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/>
                <a:gridCol w="3800000"/>
                <a:gridCol w="39776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Traditional Shops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Aurelian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Machine Utilization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60-65%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HMLV Flexibility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Limited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Optimized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Digital Traceability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Manual/Partial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Full End-to-End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Pricing Model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Standard Markup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Efficiency + Performance upside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Automation Level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Semi-automated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Lights-Out Operation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Lead Time Predictability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B2B2B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2B2B"/>
                          </a:solidFill>
                          <a:latin typeface="Calibri"/>
                        </a:rPr>
                        <a:t>Highly Predictable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B2B2B"/>
                </a:solidFill>
                <a:latin typeface="Calibri"/>
              </a:rPr>
              <a:t>Getting Started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35146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9144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Initial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1148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Understanding your production requirements and volume forecasts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96868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232014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6012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Capability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8016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Review technical specifications and quality requirements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93736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28882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880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Partnership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4884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Discuss pre-qual, service agreement or strategic partnership options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90604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" y="425750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09748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Pilot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1752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Start with sample parts to demonstrate quality and efficiency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874720"/>
            <a:ext cx="9000000" cy="13716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640" y="5226180"/>
            <a:ext cx="365760" cy="365760"/>
          </a:xfrm>
          <a:prstGeom prst="ellipse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6616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alibri"/>
              </a:rPr>
              <a:t>Full Production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386200"/>
            <a:ext cx="900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Scale to ongoing production with full digital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00000"/>
            <a:ext cx="1219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Let’s Build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81904" y="2600000"/>
            <a:ext cx="1828800" cy="36576"/>
          </a:xfrm>
          <a:prstGeom prst="roundRect">
            <a:avLst/>
          </a:prstGeom>
          <a:solidFill>
            <a:srgbClr val="F50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800000"/>
            <a:ext cx="1219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Aurelian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00000"/>
            <a:ext cx="1219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50537"/>
                </a:solidFill>
                <a:latin typeface="Calibri"/>
              </a:rPr>
              <a:t>Production as a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00000"/>
            <a:ext cx="1219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Contact us to discuss your manufacturing needs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00000"/>
            <a:ext cx="1219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B"/>
                </a:solidFill>
                <a:latin typeface="Calibri"/>
              </a:rPr>
              <a:t>Våler, Østfold  •  Norway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3550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aurelian.no  •  Våler, Norway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