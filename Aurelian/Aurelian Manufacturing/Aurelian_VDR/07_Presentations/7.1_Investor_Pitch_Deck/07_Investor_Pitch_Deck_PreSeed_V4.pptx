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9" r:id="rId14"/>
    <p:sldId id="268" r:id="rId15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5053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33F54B4-993E-43D5-A356-DC8EBC4FEA70}" v="5" dt="2026-02-17T18:40:31.95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5" d="100"/>
          <a:sy n="85" d="100"/>
        </p:scale>
        <p:origin x="738" y="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ore Ausland" userId="aba57685-d7d9-45f9-a74d-a4b3d109653f" providerId="ADAL" clId="{C7003D35-0069-4681-A939-A1D689C68C91}"/>
    <pc:docChg chg="undo custSel modSld">
      <pc:chgData name="Tore Ausland" userId="aba57685-d7d9-45f9-a74d-a4b3d109653f" providerId="ADAL" clId="{C7003D35-0069-4681-A939-A1D689C68C91}" dt="2026-02-17T18:40:54.177" v="44" actId="20577"/>
      <pc:docMkLst>
        <pc:docMk/>
      </pc:docMkLst>
      <pc:sldChg chg="modSp mod">
        <pc:chgData name="Tore Ausland" userId="aba57685-d7d9-45f9-a74d-a4b3d109653f" providerId="ADAL" clId="{C7003D35-0069-4681-A939-A1D689C68C91}" dt="2026-02-16T10:12:13.742" v="5" actId="20577"/>
        <pc:sldMkLst>
          <pc:docMk/>
          <pc:sldMk cId="0" sldId="256"/>
        </pc:sldMkLst>
        <pc:spChg chg="mod">
          <ac:chgData name="Tore Ausland" userId="aba57685-d7d9-45f9-a74d-a4b3d109653f" providerId="ADAL" clId="{C7003D35-0069-4681-A939-A1D689C68C91}" dt="2026-02-16T10:12:13.742" v="5" actId="20577"/>
          <ac:spMkLst>
            <pc:docMk/>
            <pc:sldMk cId="0" sldId="256"/>
            <ac:spMk id="5" creationId="{00000000-0000-0000-0000-000000000000}"/>
          </ac:spMkLst>
        </pc:spChg>
      </pc:sldChg>
      <pc:sldChg chg="modSp mod">
        <pc:chgData name="Tore Ausland" userId="aba57685-d7d9-45f9-a74d-a4b3d109653f" providerId="ADAL" clId="{C7003D35-0069-4681-A939-A1D689C68C91}" dt="2026-02-17T18:40:54.177" v="44" actId="20577"/>
        <pc:sldMkLst>
          <pc:docMk/>
          <pc:sldMk cId="0" sldId="264"/>
        </pc:sldMkLst>
        <pc:spChg chg="mod">
          <ac:chgData name="Tore Ausland" userId="aba57685-d7d9-45f9-a74d-a4b3d109653f" providerId="ADAL" clId="{C7003D35-0069-4681-A939-A1D689C68C91}" dt="2026-02-17T18:40:54.177" v="44" actId="20577"/>
          <ac:spMkLst>
            <pc:docMk/>
            <pc:sldMk cId="0" sldId="264"/>
            <ac:spMk id="4" creationId="{00000000-0000-0000-0000-000000000000}"/>
          </ac:spMkLst>
        </pc:spChg>
        <pc:spChg chg="mod">
          <ac:chgData name="Tore Ausland" userId="aba57685-d7d9-45f9-a74d-a4b3d109653f" providerId="ADAL" clId="{C7003D35-0069-4681-A939-A1D689C68C91}" dt="2026-02-17T18:40:31.959" v="31"/>
          <ac:spMkLst>
            <pc:docMk/>
            <pc:sldMk cId="0" sldId="264"/>
            <ac:spMk id="16" creationId="{00000000-0000-0000-0000-000000000000}"/>
          </ac:spMkLst>
        </pc:spChg>
        <pc:spChg chg="mod">
          <ac:chgData name="Tore Ausland" userId="aba57685-d7d9-45f9-a74d-a4b3d109653f" providerId="ADAL" clId="{C7003D35-0069-4681-A939-A1D689C68C91}" dt="2026-02-17T18:39:40.687" v="21" actId="20577"/>
          <ac:spMkLst>
            <pc:docMk/>
            <pc:sldMk cId="0" sldId="264"/>
            <ac:spMk id="17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053D6E3-9B20-47CE-AB5C-7CAAB06076AE}" type="datetimeFigureOut">
              <a:t>17.02.2026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B11DE64-799A-4224-BF0C-E9A5C1B23352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41101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/>
              <a:t>Base case exit:</a:t>
            </a:r>
            <a:r>
              <a:rPr lang="en-US"/>
              <a:t> 20 CNC @ </a:t>
            </a:r>
            <a:r>
              <a:rPr lang="en-US" b="1"/>
              <a:t>60% utilization</a:t>
            </a:r>
            <a:r>
              <a:rPr lang="en-US"/>
              <a:t> → ~223 MNOK EBITDA × 10x = </a:t>
            </a:r>
            <a:r>
              <a:rPr lang="en-US" b="1"/>
              <a:t>~2,230 MNOK (2.3B NOK)</a:t>
            </a:r>
            <a:endParaRPr lang="en-US"/>
          </a:p>
          <a:p>
            <a:r>
              <a:rPr lang="en-US"/>
              <a:t>45% ligger nærmere </a:t>
            </a:r>
            <a:r>
              <a:rPr lang="en-US" b="1"/>
              <a:t>Conservative-scenariet</a:t>
            </a:r>
            <a:r>
              <a:rPr lang="en-US"/>
              <a:t> (50% util → ~1,570 MNOK) og </a:t>
            </a:r>
            <a:r>
              <a:rPr lang="en-US" b="1"/>
              <a:t>Bear-scenariet</a:t>
            </a:r>
            <a:r>
              <a:rPr lang="en-US"/>
              <a:t> (40% util → ~1,005 MNOK).</a:t>
            </a:r>
          </a:p>
          <a:p>
            <a:endParaRPr lang="en-US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11DE64-799A-4224-BF0C-E9A5C1B23352}" type="slidenum"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51907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13716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 i="0">
                <a:solidFill>
                  <a:srgbClr val="FFFFFF"/>
                </a:solidFill>
                <a:latin typeface="Calibri"/>
              </a:rPr>
              <a:t>Aurelian Manufacturing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3200400" y="3536103"/>
            <a:ext cx="2743200" cy="44450"/>
          </a:xfrm>
          <a:prstGeom prst="rect">
            <a:avLst/>
          </a:prstGeom>
          <a:solidFill>
            <a:srgbClr val="F50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0" y="24231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F50537"/>
                </a:solidFill>
                <a:latin typeface="Calibri"/>
              </a:rPr>
              <a:t>Production as a Service — Autonomous, Data-Driven, and Scalable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0175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 dirty="0">
                <a:solidFill>
                  <a:srgbClr val="FFFFFF"/>
                </a:solidFill>
                <a:latin typeface="Calibri"/>
              </a:rPr>
              <a:t>PreSeed Round — 5 MNOK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480560"/>
            <a:ext cx="1828800" cy="27432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/>
            <a:r>
              <a:rPr lang="en-US" sz="1200" b="0" i="0">
                <a:solidFill>
                  <a:srgbClr val="F50537"/>
                </a:solidFill>
                <a:latin typeface="Calibri"/>
              </a:rPr>
              <a:t>CONFIDENTIAL</a:t>
            </a:r>
            <a:endParaRPr lang="en-US">
              <a:solidFill>
                <a:srgbClr val="F50537"/>
              </a:solidFill>
              <a:ea typeface="Calibri"/>
              <a:cs typeface="Calibri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400800" y="44805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6B6B6B"/>
                </a:solidFill>
                <a:latin typeface="Calibri"/>
              </a:rPr>
              <a:t>February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nb-NO" sz="3600" b="1" i="0" dirty="0">
                <a:solidFill>
                  <a:srgbClr val="2B2B2B"/>
                </a:solidFill>
                <a:latin typeface="Calibri"/>
              </a:rPr>
              <a:t>The </a:t>
            </a:r>
            <a:r>
              <a:rPr lang="nb-NO" sz="3600" b="1" i="0" dirty="0" err="1">
                <a:solidFill>
                  <a:srgbClr val="2B2B2B"/>
                </a:solidFill>
                <a:latin typeface="Calibri"/>
              </a:rPr>
              <a:t>Opportunity</a:t>
            </a:r>
            <a:r>
              <a:rPr sz="3600" b="1" i="0" dirty="0">
                <a:solidFill>
                  <a:srgbClr val="2B2B2B"/>
                </a:solidFill>
                <a:latin typeface="Calibri"/>
              </a:rPr>
              <a:t>— </a:t>
            </a:r>
            <a:r>
              <a:rPr lang="nb-NO" sz="3600" b="1" i="0" dirty="0">
                <a:solidFill>
                  <a:srgbClr val="2B2B2B"/>
                </a:solidFill>
                <a:latin typeface="Calibri"/>
              </a:rPr>
              <a:t>Mega Trends</a:t>
            </a:r>
            <a:endParaRPr sz="3600" b="1" i="0" dirty="0">
              <a:solidFill>
                <a:srgbClr val="2B2B2B"/>
              </a:solidFill>
              <a:latin typeface="Calibri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1">
                <a:solidFill>
                  <a:srgbClr val="6B6B6B"/>
                </a:solidFill>
                <a:latin typeface="Calibri"/>
              </a:rPr>
              <a:t>Structural demand drivers spanning 2026–2035 and beyond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52089"/>
            <a:ext cx="8229600" cy="4114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1379521"/>
            <a:ext cx="79552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1">
                <a:solidFill>
                  <a:srgbClr val="2B2B2B"/>
                </a:solidFill>
                <a:latin typeface="Calibri"/>
              </a:rPr>
              <a:t>“The Norwegian defense industry shows strong growth potential and could become larger than the seafood industry.” — Aftenposten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027523"/>
            <a:ext cx="2514600" cy="38100"/>
          </a:xfrm>
          <a:prstGeom prst="rect">
            <a:avLst/>
          </a:prstGeom>
          <a:solidFill>
            <a:srgbClr val="F50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2100675"/>
            <a:ext cx="2514600" cy="32316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sz="1500" b="1" i="0">
                <a:solidFill>
                  <a:srgbClr val="2B2B2B"/>
                </a:solidFill>
                <a:latin typeface="Calibri"/>
              </a:rPr>
              <a:t>Defense</a:t>
            </a:r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457200" y="2347563"/>
            <a:ext cx="2514600" cy="292388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1300" b="1">
                <a:solidFill>
                  <a:srgbClr val="2B2B2B"/>
                </a:solidFill>
                <a:latin typeface="Calibri"/>
                <a:ea typeface="Calibri"/>
                <a:cs typeface="Calibri"/>
              </a:rPr>
              <a:t>Path to 5% GDP</a:t>
            </a:r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457200" y="2594451"/>
            <a:ext cx="2514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B2B2B"/>
                </a:solidFill>
                <a:latin typeface="Calibri"/>
              </a:rPr>
              <a:t>Norway invests 1,624B NOK in the coming period (2025–2036). Norwegian defense budget growth creates multi-decade demand for precision-machined components.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14700" y="2027523"/>
            <a:ext cx="2514600" cy="38100"/>
          </a:xfrm>
          <a:prstGeom prst="rect">
            <a:avLst/>
          </a:prstGeom>
          <a:solidFill>
            <a:srgbClr val="F50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314700" y="2100675"/>
            <a:ext cx="2514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B2B2B"/>
                </a:solidFill>
                <a:latin typeface="Calibri"/>
              </a:rPr>
              <a:t>Energy &amp; Renewable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14700" y="2439003"/>
            <a:ext cx="2514600" cy="1107996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endParaRPr lang="en-US" sz="1100">
              <a:solidFill>
                <a:srgbClr val="2B2B2B"/>
              </a:solidFill>
              <a:latin typeface="Calibri"/>
            </a:endParaRPr>
          </a:p>
          <a:p>
            <a:pPr algn="l"/>
            <a:r>
              <a:rPr sz="1100" b="0" i="0">
                <a:solidFill>
                  <a:srgbClr val="2B2B2B"/>
                </a:solidFill>
                <a:latin typeface="Calibri"/>
              </a:rPr>
              <a:t>Europe’s energy sector faces a shortage of precision machining capacity — structural High Mix/Low Volume demand that only scales through automation.</a:t>
            </a:r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172200" y="2027523"/>
            <a:ext cx="2514600" cy="38100"/>
          </a:xfrm>
          <a:prstGeom prst="rect">
            <a:avLst/>
          </a:prstGeom>
          <a:solidFill>
            <a:srgbClr val="F50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172200" y="2100675"/>
            <a:ext cx="2514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B2B2B"/>
                </a:solidFill>
                <a:latin typeface="Calibri"/>
              </a:rPr>
              <a:t>Labour Shortage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72200" y="2439003"/>
            <a:ext cx="2514600" cy="938719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endParaRPr lang="en-US" sz="1100">
              <a:solidFill>
                <a:srgbClr val="2B2B2B"/>
              </a:solidFill>
              <a:latin typeface="Calibri"/>
            </a:endParaRPr>
          </a:p>
          <a:p>
            <a:pPr algn="l"/>
            <a:r>
              <a:rPr sz="1100" b="0" i="0">
                <a:solidFill>
                  <a:srgbClr val="2B2B2B"/>
                </a:solidFill>
                <a:latin typeface="Calibri"/>
              </a:rPr>
              <a:t>Norway faces a critical shortage of minimum 39,000 skilled workers — precision manufacturing cannot hire its way to capacity.</a:t>
            </a:r>
            <a:endParaRPr lang="en-US">
              <a:ea typeface="Calibri"/>
              <a:cs typeface="Calibri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172200" y="3261963"/>
            <a:ext cx="2514600" cy="553998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endParaRPr lang="en-US" sz="1000" b="1">
              <a:solidFill>
                <a:srgbClr val="2B2B2B"/>
              </a:solidFill>
              <a:latin typeface="Calibri"/>
            </a:endParaRPr>
          </a:p>
          <a:p>
            <a:pPr algn="l"/>
            <a:r>
              <a:rPr sz="1000" b="1" i="0">
                <a:solidFill>
                  <a:srgbClr val="2B2B2B"/>
                </a:solidFill>
                <a:latin typeface="Calibri"/>
              </a:rPr>
              <a:t>The future of HMLV manufacturing is digital, automated and labor-agnostic.</a:t>
            </a:r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313" y="4870905"/>
            <a:ext cx="1828800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/>
            <a:r>
              <a:rPr sz="1000" b="0" i="0">
                <a:solidFill>
                  <a:srgbClr val="F50537"/>
                </a:solidFill>
                <a:latin typeface="Calibri"/>
              </a:rPr>
              <a:t>CONFIDENTIAL</a:t>
            </a:r>
            <a:endParaRPr lang="en-US" sz="1000" b="0" i="0">
              <a:solidFill>
                <a:srgbClr val="F50537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2743200" y="4870905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B6B6B"/>
                </a:solidFill>
                <a:latin typeface="Calibri"/>
              </a:rPr>
              <a:t>Aurelian Manufacturing AS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3687" y="4870905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B6B6B"/>
                </a:solidFill>
                <a:latin typeface="Calibri"/>
              </a:rPr>
              <a:t>February 2026</a:t>
            </a:r>
          </a:p>
        </p:txBody>
      </p:sp>
      <p:sp>
        <p:nvSpPr>
          <p:cNvPr id="20" name="Text 13">
            <a:extLst>
              <a:ext uri="{FF2B5EF4-FFF2-40B4-BE49-F238E27FC236}">
                <a16:creationId xmlns:a16="http://schemas.microsoft.com/office/drawing/2014/main" id="{5C3C2E6A-3C32-34CE-6CD2-8925D00A2E44}"/>
              </a:ext>
            </a:extLst>
          </p:cNvPr>
          <p:cNvSpPr/>
          <p:nvPr/>
        </p:nvSpPr>
        <p:spPr>
          <a:xfrm>
            <a:off x="457200" y="3913632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Signal: Hadrian Automation</a:t>
            </a:r>
            <a:endParaRPr lang="en-US" sz="1300"/>
          </a:p>
        </p:txBody>
      </p:sp>
      <p:sp>
        <p:nvSpPr>
          <p:cNvPr id="21" name="Text 14">
            <a:extLst>
              <a:ext uri="{FF2B5EF4-FFF2-40B4-BE49-F238E27FC236}">
                <a16:creationId xmlns:a16="http://schemas.microsoft.com/office/drawing/2014/main" id="{6571091C-3DBA-CB48-F911-410F167627B4}"/>
              </a:ext>
            </a:extLst>
          </p:cNvPr>
          <p:cNvSpPr/>
          <p:nvPr/>
        </p:nvSpPr>
        <p:spPr>
          <a:xfrm>
            <a:off x="457200" y="4137979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Founded Nov 2020, Latest round: ~$1.6B valuation, Led by T. Rowe Price and Andreessen Horowitz's a16z participated. Validates autonomous precision manufacturing for venture scale.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2B2B2B"/>
                </a:solidFill>
                <a:latin typeface="Calibri"/>
              </a:rPr>
              <a:t>The Problem &amp; Why Now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34440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50537"/>
                </a:solidFill>
                <a:latin typeface="Calibri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3840480" cy="52322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/>
            <a:r>
              <a:rPr sz="1400" b="0" i="0">
                <a:solidFill>
                  <a:srgbClr val="6B6B6B"/>
                </a:solidFill>
                <a:latin typeface="Calibri"/>
              </a:rPr>
              <a:t>Traditional HMLV Workshops Are Structurally Constrained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48129" y="2029097"/>
            <a:ext cx="3840480" cy="338554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sz="1600" b="1">
                <a:solidFill>
                  <a:srgbClr val="F50537"/>
                </a:solidFill>
                <a:latin typeface="Calibri"/>
              </a:rPr>
              <a:t>✗</a:t>
            </a:r>
            <a:r>
              <a:rPr lang="en-US" sz="1600" b="1">
                <a:solidFill>
                  <a:srgbClr val="F50537"/>
                </a:solidFill>
                <a:latin typeface="Calibri"/>
              </a:rPr>
              <a:t> </a:t>
            </a:r>
            <a:r>
              <a:rPr sz="1600" b="1">
                <a:solidFill>
                  <a:srgbClr val="F50537"/>
                </a:solidFill>
                <a:latin typeface="Calibri"/>
              </a:rPr>
              <a:t> </a:t>
            </a:r>
            <a:r>
              <a:rPr sz="1300">
                <a:solidFill>
                  <a:srgbClr val="2B2B2B"/>
                </a:solidFill>
                <a:latin typeface="Calibri"/>
              </a:rPr>
              <a:t>Not designed for high machine utilization</a:t>
            </a:r>
            <a:endParaRPr lang="en-US" sz="1300">
              <a:solidFill>
                <a:srgbClr val="2B2B2B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48129" y="2376569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50537"/>
                </a:solidFill>
                <a:latin typeface="Calibri"/>
              </a:rPr>
              <a:t>✗  </a:t>
            </a:r>
            <a:r>
              <a:rPr sz="1300">
                <a:solidFill>
                  <a:srgbClr val="2B2B2B"/>
                </a:solidFill>
                <a:latin typeface="Calibri"/>
              </a:rPr>
              <a:t>Automation without system architecture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8129" y="2724041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50537"/>
                </a:solidFill>
                <a:latin typeface="Calibri"/>
              </a:rPr>
              <a:t>✗  </a:t>
            </a:r>
            <a:r>
              <a:rPr sz="1300">
                <a:solidFill>
                  <a:srgbClr val="2B2B2B"/>
                </a:solidFill>
                <a:latin typeface="Calibri"/>
              </a:rPr>
              <a:t>High dependency on individuals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8129" y="3071513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50537"/>
                </a:solidFill>
                <a:latin typeface="Calibri"/>
              </a:rPr>
              <a:t>✗  </a:t>
            </a:r>
            <a:r>
              <a:rPr sz="1300">
                <a:solidFill>
                  <a:srgbClr val="2B2B2B"/>
                </a:solidFill>
                <a:latin typeface="Calibri"/>
              </a:rPr>
              <a:t>Brownfield constraints make 60–65% utilization structurally unrealistic</a:t>
            </a:r>
          </a:p>
        </p:txBody>
      </p:sp>
      <p:sp>
        <p:nvSpPr>
          <p:cNvPr id="9" name="Rectangle 8"/>
          <p:cNvSpPr/>
          <p:nvPr/>
        </p:nvSpPr>
        <p:spPr>
          <a:xfrm>
            <a:off x="4434840" y="1234440"/>
            <a:ext cx="12700" cy="3200400"/>
          </a:xfrm>
          <a:prstGeom prst="rect">
            <a:avLst/>
          </a:prstGeom>
          <a:solidFill>
            <a:srgbClr val="D3D3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663440" y="1234440"/>
            <a:ext cx="4023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50537"/>
                </a:solidFill>
                <a:latin typeface="Calibri"/>
              </a:rPr>
              <a:t>WHY NOW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1691640"/>
            <a:ext cx="4023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50537"/>
                </a:solidFill>
                <a:latin typeface="Calibri"/>
              </a:rPr>
              <a:t>✓  </a:t>
            </a:r>
            <a:r>
              <a:rPr sz="1300">
                <a:solidFill>
                  <a:srgbClr val="2B2B2B"/>
                </a:solidFill>
                <a:latin typeface="Calibri"/>
              </a:rPr>
              <a:t>Defense &amp; energy capex accelerating faster than supply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2183518"/>
            <a:ext cx="4023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50537"/>
                </a:solidFill>
                <a:latin typeface="Calibri"/>
              </a:rPr>
              <a:t>✓  </a:t>
            </a:r>
            <a:r>
              <a:rPr sz="1300">
                <a:solidFill>
                  <a:srgbClr val="2B2B2B"/>
                </a:solidFill>
                <a:latin typeface="Calibri"/>
              </a:rPr>
              <a:t>Structural CNC capacity gap in Europe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2459736"/>
            <a:ext cx="4023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50537"/>
                </a:solidFill>
                <a:latin typeface="Calibri"/>
              </a:rPr>
              <a:t>✓  </a:t>
            </a:r>
            <a:r>
              <a:rPr sz="1300">
                <a:solidFill>
                  <a:srgbClr val="2B2B2B"/>
                </a:solidFill>
                <a:latin typeface="Calibri"/>
              </a:rPr>
              <a:t>Autonomy + digital maturity now economically viable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2843784"/>
            <a:ext cx="4023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50537"/>
                </a:solidFill>
                <a:latin typeface="Calibri"/>
              </a:rPr>
              <a:t>✓  </a:t>
            </a:r>
            <a:r>
              <a:rPr sz="1300">
                <a:solidFill>
                  <a:srgbClr val="2B2B2B"/>
                </a:solidFill>
                <a:latin typeface="Calibri"/>
              </a:rPr>
              <a:t>Greenfield advantage before traditional players adapt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0" y="4870905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B6B6B"/>
                </a:solidFill>
                <a:latin typeface="Calibri"/>
              </a:rPr>
              <a:t>Aurelian Manufacturing AS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E88C21F-16CF-B417-86DA-4A3DD4EAB17B}"/>
              </a:ext>
            </a:extLst>
          </p:cNvPr>
          <p:cNvSpPr txBox="1"/>
          <p:nvPr/>
        </p:nvSpPr>
        <p:spPr>
          <a:xfrm>
            <a:off x="4313" y="4870905"/>
            <a:ext cx="1828800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/>
            <a:r>
              <a:rPr sz="1000" b="0" i="0">
                <a:solidFill>
                  <a:srgbClr val="FF0000"/>
                </a:solidFill>
                <a:latin typeface="Calibri"/>
              </a:rPr>
              <a:t>CONFIDENTIAL</a:t>
            </a:r>
            <a:endParaRPr lang="en-US" sz="1000" b="0" i="0">
              <a:solidFill>
                <a:srgbClr val="FF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4926A7A-5830-729B-70B8-D31525893F63}"/>
              </a:ext>
            </a:extLst>
          </p:cNvPr>
          <p:cNvSpPr txBox="1"/>
          <p:nvPr/>
        </p:nvSpPr>
        <p:spPr>
          <a:xfrm>
            <a:off x="6853687" y="4870905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B6B6B"/>
                </a:solidFill>
                <a:latin typeface="Calibri"/>
              </a:rPr>
              <a:t>February 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45195"/>
            <a:ext cx="82296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2B2B2B"/>
                </a:solidFill>
                <a:latin typeface="Calibri"/>
              </a:rPr>
              <a:t>The Solution —</a:t>
            </a:r>
            <a:r>
              <a:rPr lang="nb-NO" sz="3600" b="1" i="0">
                <a:solidFill>
                  <a:srgbClr val="2B2B2B"/>
                </a:solidFill>
                <a:latin typeface="Calibri"/>
              </a:rPr>
              <a:t> </a:t>
            </a:r>
            <a:r>
              <a:rPr sz="3600" b="1" i="0">
                <a:solidFill>
                  <a:srgbClr val="2B2B2B"/>
                </a:solidFill>
                <a:latin typeface="Calibri"/>
              </a:rPr>
              <a:t>Autonomous Platform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06424"/>
            <a:ext cx="8229600" cy="795528"/>
          </a:xfrm>
          <a:prstGeom prst="rect">
            <a:avLst/>
          </a:prstGeom>
          <a:solidFill>
            <a:srgbClr val="2B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57200" y="1106423"/>
            <a:ext cx="45719" cy="795527"/>
          </a:xfrm>
          <a:prstGeom prst="rect">
            <a:avLst/>
          </a:prstGeom>
          <a:solidFill>
            <a:srgbClr val="F50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179576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Purpose-built from day one for autonomous, lights-out HMLV manufacturing.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53896"/>
            <a:ext cx="7772400" cy="43088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/>
            <a:r>
              <a:rPr sz="1100" b="0" i="0">
                <a:solidFill>
                  <a:schemeClr val="bg1">
                    <a:lumMod val="76000"/>
                  </a:schemeClr>
                </a:solidFill>
                <a:latin typeface="Calibri"/>
              </a:rPr>
              <a:t>No retrofitting. No compromise. A greenfield platform where every system — facility, CNC, software, staffing — is designed as one integrated unit.</a:t>
            </a:r>
            <a:endParaRPr lang="en-US">
              <a:solidFill>
                <a:schemeClr val="bg1">
                  <a:lumMod val="76000"/>
                </a:schemeClr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457200" y="2148840"/>
            <a:ext cx="3886200" cy="10515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57200" y="2148840"/>
            <a:ext cx="38100" cy="1051560"/>
          </a:xfrm>
          <a:prstGeom prst="rect">
            <a:avLst/>
          </a:prstGeom>
          <a:solidFill>
            <a:srgbClr val="F50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94360" y="2240280"/>
            <a:ext cx="3611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B2B2B"/>
                </a:solidFill>
                <a:latin typeface="Calibri"/>
              </a:rPr>
              <a:t>Greenfield Autonomous HMLV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496312"/>
            <a:ext cx="3611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6B6B"/>
                </a:solidFill>
                <a:latin typeface="Calibri"/>
              </a:rPr>
              <a:t>24/7 autonomous job scheduling, sub-linear staffing. 2,635 m² facility designed from day one for unmanned production.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800600" y="2148840"/>
            <a:ext cx="3886200" cy="10515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800600" y="2148840"/>
            <a:ext cx="38100" cy="1051560"/>
          </a:xfrm>
          <a:prstGeom prst="rect">
            <a:avLst/>
          </a:prstGeom>
          <a:solidFill>
            <a:srgbClr val="F50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937760" y="2240280"/>
            <a:ext cx="3611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B2B2B"/>
                </a:solidFill>
                <a:latin typeface="Calibri"/>
              </a:rPr>
              <a:t>Digital-First Standardized Platform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37760" y="2496312"/>
            <a:ext cx="3611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6B6B"/>
                </a:solidFill>
                <a:latin typeface="Calibri"/>
              </a:rPr>
              <a:t>MAZAK iSMART Factory integration. Full traceability, real-time monitoring, and predictive maintenance across all machines.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383280"/>
            <a:ext cx="3886200" cy="10515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57200" y="3383280"/>
            <a:ext cx="38100" cy="1051560"/>
          </a:xfrm>
          <a:prstGeom prst="rect">
            <a:avLst/>
          </a:prstGeom>
          <a:solidFill>
            <a:srgbClr val="F50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94360" y="3474720"/>
            <a:ext cx="3611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B2B2B"/>
                </a:solidFill>
                <a:latin typeface="Calibri"/>
              </a:rPr>
              <a:t>Sub-Linear Scaling Economics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3730752"/>
            <a:ext cx="3611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6B6B"/>
                </a:solidFill>
                <a:latin typeface="Calibri"/>
              </a:rPr>
              <a:t>Design target: break-even at ~24% utilization. Capacity grows faster than costs. 20 CNC served by 16 ops + 4 admin.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800600" y="3383280"/>
            <a:ext cx="3886200" cy="10515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800600" y="3383280"/>
            <a:ext cx="38100" cy="1051560"/>
          </a:xfrm>
          <a:prstGeom prst="rect">
            <a:avLst/>
          </a:prstGeom>
          <a:solidFill>
            <a:srgbClr val="F50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937760" y="3474720"/>
            <a:ext cx="3611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B2B2B"/>
                </a:solidFill>
                <a:latin typeface="Calibri"/>
              </a:rPr>
              <a:t>Aligned Customer Ecosystem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37760" y="3730752"/>
            <a:ext cx="3611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6B6B"/>
                </a:solidFill>
                <a:latin typeface="Calibri"/>
              </a:rPr>
              <a:t>50/50 profit-sharing above 45% utilization with anchor customers. Competitive pricing creates demand lock-in while sharing upside.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446227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1">
                <a:solidFill>
                  <a:srgbClr val="2B2B2B"/>
                </a:solidFill>
                <a:latin typeface="Calibri"/>
              </a:rPr>
              <a:t>Aurelian scales with the combined value of skilled people and machines.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43200" y="4870905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B6B6B"/>
                </a:solidFill>
                <a:latin typeface="Calibri"/>
              </a:rPr>
              <a:t>Aurelian Manufacturing AS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4ED0D7B-EBAE-1BBE-A5CC-9855B00ACF58}"/>
              </a:ext>
            </a:extLst>
          </p:cNvPr>
          <p:cNvSpPr txBox="1"/>
          <p:nvPr/>
        </p:nvSpPr>
        <p:spPr>
          <a:xfrm>
            <a:off x="4313" y="4870905"/>
            <a:ext cx="1828800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/>
            <a:r>
              <a:rPr sz="1000" b="0" i="0">
                <a:solidFill>
                  <a:srgbClr val="FF0000"/>
                </a:solidFill>
                <a:latin typeface="Calibri"/>
              </a:rPr>
              <a:t>CONFIDENTIAL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4759EDC-8454-67E1-242A-66C3671FC01E}"/>
              </a:ext>
            </a:extLst>
          </p:cNvPr>
          <p:cNvSpPr txBox="1"/>
          <p:nvPr/>
        </p:nvSpPr>
        <p:spPr>
          <a:xfrm>
            <a:off x="6853687" y="4870905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B6B6B"/>
                </a:solidFill>
                <a:latin typeface="Calibri"/>
              </a:rPr>
              <a:t>February 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2B2B2B"/>
                </a:solidFill>
                <a:latin typeface="Calibri"/>
              </a:rPr>
              <a:t>Why Aurelian Wins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1">
                <a:solidFill>
                  <a:srgbClr val="6B6B6B"/>
                </a:solidFill>
                <a:latin typeface="Calibri"/>
              </a:rPr>
              <a:t>Utilization gap, not price, drives value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25880"/>
            <a:ext cx="38100" cy="548640"/>
          </a:xfrm>
          <a:prstGeom prst="rect">
            <a:avLst/>
          </a:prstGeom>
          <a:solidFill>
            <a:srgbClr val="F50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8046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F50537"/>
                </a:solidFill>
                <a:latin typeface="Calibri"/>
              </a:rPr>
              <a:t>✓  </a:t>
            </a:r>
            <a:r>
              <a:rPr sz="1400" b="1">
                <a:solidFill>
                  <a:srgbClr val="2B2B2B"/>
                </a:solidFill>
                <a:latin typeface="Calibri"/>
              </a:rPr>
              <a:t>Greenfield autonomy vs. legacy constraints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581912"/>
            <a:ext cx="7589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6B6B"/>
                </a:solidFill>
                <a:latin typeface="Calibri"/>
              </a:rPr>
              <a:t>Purpose-built facility enables design choices structurally difficult for existing shops to retrofit.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011680"/>
            <a:ext cx="38100" cy="548640"/>
          </a:xfrm>
          <a:prstGeom prst="rect">
            <a:avLst/>
          </a:prstGeom>
          <a:solidFill>
            <a:srgbClr val="F50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2011680"/>
            <a:ext cx="8046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F50537"/>
                </a:solidFill>
                <a:latin typeface="Calibri"/>
              </a:rPr>
              <a:t>✓  </a:t>
            </a:r>
            <a:r>
              <a:rPr sz="1400" b="1">
                <a:solidFill>
                  <a:srgbClr val="2B2B2B"/>
                </a:solidFill>
                <a:latin typeface="Calibri"/>
              </a:rPr>
              <a:t>Sub-linear cost structure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267712"/>
            <a:ext cx="7589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6B6B"/>
                </a:solidFill>
                <a:latin typeface="Calibri"/>
              </a:rPr>
              <a:t>Low labor intensity with sub-linear scaling and high CNC capacity — a structural edge legacy setups cannot replicate.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697480"/>
            <a:ext cx="38100" cy="548640"/>
          </a:xfrm>
          <a:prstGeom prst="rect">
            <a:avLst/>
          </a:prstGeom>
          <a:solidFill>
            <a:srgbClr val="F50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" y="2697480"/>
            <a:ext cx="8046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F50537"/>
                </a:solidFill>
                <a:latin typeface="Calibri"/>
              </a:rPr>
              <a:t>✓  </a:t>
            </a:r>
            <a:r>
              <a:rPr sz="1400" b="1">
                <a:solidFill>
                  <a:srgbClr val="2B2B2B"/>
                </a:solidFill>
                <a:latin typeface="Calibri"/>
              </a:rPr>
              <a:t>Replicable industrial blueprint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953512"/>
            <a:ext cx="7589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6B6B"/>
                </a:solidFill>
                <a:latin typeface="Calibri"/>
              </a:rPr>
              <a:t>Site-zero validates the model. Each subsequent site replicates the same advantages in the High Mix/Low Volume manufacturing space.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383280"/>
            <a:ext cx="38100" cy="548640"/>
          </a:xfrm>
          <a:prstGeom prst="rect">
            <a:avLst/>
          </a:prstGeom>
          <a:solidFill>
            <a:srgbClr val="F50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0080" y="3383280"/>
            <a:ext cx="8046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F50537"/>
                </a:solidFill>
                <a:latin typeface="Calibri"/>
              </a:rPr>
              <a:t>✓  </a:t>
            </a:r>
            <a:r>
              <a:rPr sz="1400" b="1">
                <a:solidFill>
                  <a:srgbClr val="2B2B2B"/>
                </a:solidFill>
                <a:latin typeface="Calibri"/>
              </a:rPr>
              <a:t>Autonomous Manufacturing Culture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639312"/>
            <a:ext cx="7589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6B6B"/>
                </a:solidFill>
                <a:latin typeface="Calibri"/>
              </a:rPr>
              <a:t>We build a culture of asset utilization, automation, precision, shop-floor mastery and continuous improvement.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16052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6B6B"/>
                </a:solidFill>
                <a:latin typeface="Calibri"/>
              </a:rPr>
              <a:t>Source: Public financial data and industry benchmarks (CNC Benchmark, VDR 03.02).
Aurelian targets reflect autonomous HMLV design assumptions for a greenfield platform.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0" y="4870905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B6B6B"/>
                </a:solidFill>
                <a:latin typeface="Calibri"/>
              </a:rPr>
              <a:t>Aurelian Manufacturing AS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D346A89-DEE8-0FF9-306D-5E0FEF6019F4}"/>
              </a:ext>
            </a:extLst>
          </p:cNvPr>
          <p:cNvSpPr txBox="1"/>
          <p:nvPr/>
        </p:nvSpPr>
        <p:spPr>
          <a:xfrm>
            <a:off x="4313" y="4870905"/>
            <a:ext cx="1828800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/>
            <a:r>
              <a:rPr sz="1000" b="0" i="0">
                <a:solidFill>
                  <a:srgbClr val="FF0000"/>
                </a:solidFill>
                <a:latin typeface="Calibri"/>
              </a:rPr>
              <a:t>CONFIDENTIAL</a:t>
            </a:r>
            <a:endParaRPr lang="en-US" sz="1000" b="0" i="0">
              <a:solidFill>
                <a:srgbClr val="FF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1D5B37D-7551-D033-FB69-CBF3B5E32D8E}"/>
              </a:ext>
            </a:extLst>
          </p:cNvPr>
          <p:cNvSpPr txBox="1"/>
          <p:nvPr/>
        </p:nvSpPr>
        <p:spPr>
          <a:xfrm>
            <a:off x="6853687" y="4870905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B6B6B"/>
                </a:solidFill>
                <a:latin typeface="Calibri"/>
              </a:rPr>
              <a:t>February 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2B2B2B"/>
                </a:solidFill>
                <a:latin typeface="Calibri"/>
              </a:rPr>
              <a:t>Go-to-Market Strategy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34440"/>
            <a:ext cx="8229600" cy="146304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57200" y="1234440"/>
            <a:ext cx="50800" cy="1463040"/>
          </a:xfrm>
          <a:prstGeom prst="rect">
            <a:avLst/>
          </a:prstGeom>
          <a:solidFill>
            <a:srgbClr val="F50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307592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PRIORITY 1: DEFENSE &amp; AEROSPACE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1848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1,624B NOK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892808"/>
            <a:ext cx="2286000" cy="23083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/>
            <a:r>
              <a:rPr sz="900" b="0" i="0">
                <a:solidFill>
                  <a:schemeClr val="bg1">
                    <a:lumMod val="76000"/>
                  </a:schemeClr>
                </a:solidFill>
                <a:latin typeface="Calibri"/>
              </a:rPr>
              <a:t>Norwegian defense plan 2025–2036</a:t>
            </a:r>
            <a:endParaRPr lang="en-US" sz="900" b="0" i="0">
              <a:solidFill>
                <a:schemeClr val="bg1">
                  <a:lumMod val="76000"/>
                </a:schemeClr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926080" y="161848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12–18 months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26080" y="1892808"/>
            <a:ext cx="2286000" cy="23083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/>
            <a:r>
              <a:rPr sz="900" b="0" i="0">
                <a:solidFill>
                  <a:schemeClr val="bg1">
                    <a:lumMod val="76000"/>
                  </a:schemeClr>
                </a:solidFill>
                <a:latin typeface="Calibri"/>
              </a:rPr>
              <a:t>Sales cycle — starts March 2026</a:t>
            </a:r>
            <a:endParaRPr lang="en-US" sz="900" b="0" i="0">
              <a:solidFill>
                <a:schemeClr val="bg1">
                  <a:lumMod val="76000"/>
                </a:schemeClr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303520" y="1344168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Kongsberg Defence (KDA)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0" y="1508760"/>
            <a:ext cx="3200400" cy="23083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/>
            <a:r>
              <a:rPr sz="900" b="0" i="0">
                <a:solidFill>
                  <a:schemeClr val="bg1">
                    <a:lumMod val="76000"/>
                  </a:schemeClr>
                </a:solidFill>
                <a:latin typeface="Calibri"/>
              </a:rPr>
              <a:t>Missiles, remote weapons — 10–30K CNC-hours/yr</a:t>
            </a:r>
            <a:endParaRPr lang="en-US" sz="900" b="0" i="0">
              <a:solidFill>
                <a:schemeClr val="bg1">
                  <a:lumMod val="76000"/>
                </a:schemeClr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303520" y="1728216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NAMMO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0" y="1892808"/>
            <a:ext cx="3200400" cy="23083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/>
            <a:r>
              <a:rPr sz="900" b="0" i="0">
                <a:solidFill>
                  <a:schemeClr val="bg1">
                    <a:lumMod val="76000"/>
                  </a:schemeClr>
                </a:solidFill>
                <a:latin typeface="Calibri"/>
              </a:rPr>
              <a:t>Ammunition/propulsion — 5–15K CNC-hours/yr</a:t>
            </a:r>
            <a:endParaRPr lang="en-US" sz="900" b="0" i="0">
              <a:solidFill>
                <a:schemeClr val="bg1">
                  <a:lumMod val="76000"/>
                </a:schemeClr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303520" y="211226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Saab Nordic / BAE / Andoya Space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0" y="2276856"/>
            <a:ext cx="3200400" cy="23083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/>
            <a:r>
              <a:rPr sz="900" b="0" i="0">
                <a:solidFill>
                  <a:schemeClr val="bg1">
                    <a:lumMod val="76000"/>
                  </a:schemeClr>
                </a:solidFill>
                <a:latin typeface="Calibri"/>
              </a:rPr>
              <a:t>Expanding Nordic defense supply chain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2441448"/>
            <a:ext cx="5486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EAEC5"/>
                </a:solidFill>
                <a:latin typeface="Calibri"/>
              </a:rPr>
              <a:t>ISO 9001 → AS9100 → AQAP 2110  |  Full digital traceability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2834640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0537"/>
                </a:solidFill>
                <a:latin typeface="Calibri"/>
              </a:rPr>
              <a:t>PARALLEL TRACKS — FAST CONVERSION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108960"/>
            <a:ext cx="2606040" cy="25400"/>
          </a:xfrm>
          <a:prstGeom prst="rect">
            <a:avLst/>
          </a:prstGeom>
          <a:solidFill>
            <a:srgbClr val="F50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57200" y="3154680"/>
            <a:ext cx="2606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B2B2B"/>
                </a:solidFill>
                <a:latin typeface="Calibri"/>
              </a:rPr>
              <a:t>Energy, Oil &amp; Gas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3337560"/>
            <a:ext cx="26060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6B6B"/>
                </a:solidFill>
                <a:latin typeface="Calibri"/>
              </a:rPr>
              <a:t>6–12 month cycle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3493008"/>
            <a:ext cx="26060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B2B2B"/>
                </a:solidFill>
                <a:latin typeface="Calibri"/>
              </a:rPr>
              <a:t>Equinor, Aker Solutions, TechnipFMC — subsea components, maintenance parts. ~2,300–2,800B NOK market volume.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68980" y="3108960"/>
            <a:ext cx="2606040" cy="25400"/>
          </a:xfrm>
          <a:prstGeom prst="rect">
            <a:avLst/>
          </a:prstGeom>
          <a:solidFill>
            <a:srgbClr val="F50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268980" y="3154680"/>
            <a:ext cx="2606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B2B2B"/>
                </a:solidFill>
                <a:latin typeface="Calibri"/>
              </a:rPr>
              <a:t>Industrial Automation &amp; Robotics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68980" y="3337560"/>
            <a:ext cx="26060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6B6B"/>
                </a:solidFill>
                <a:latin typeface="Calibri"/>
              </a:rPr>
              <a:t>3–6 month cycle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68980" y="3493008"/>
            <a:ext cx="26060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B2B2B"/>
                </a:solidFill>
                <a:latin typeface="Calibri"/>
              </a:rPr>
              <a:t>Physical Robotics — signed LOI. European robotics market $5B → $37B by 2033 (9.5% CAGR). Lowest risk — already validated.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080760" y="3108960"/>
            <a:ext cx="2606040" cy="25400"/>
          </a:xfrm>
          <a:prstGeom prst="rect">
            <a:avLst/>
          </a:prstGeom>
          <a:solidFill>
            <a:srgbClr val="F50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080760" y="3154680"/>
            <a:ext cx="2606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B2B2B"/>
                </a:solidFill>
                <a:latin typeface="Calibri"/>
              </a:rPr>
              <a:t>General Industry &amp; Spot Orders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080760" y="3337560"/>
            <a:ext cx="26060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6B6B"/>
                </a:solidFill>
                <a:latin typeface="Calibri"/>
              </a:rPr>
              <a:t>Immediate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080760" y="3493008"/>
            <a:ext cx="26060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B2B2B"/>
                </a:solidFill>
                <a:latin typeface="Calibri"/>
              </a:rPr>
              <a:t>Fills capacity between anchor orders. Short cycle, immediate revenue from day one. No single customer &gt;30% of revenue.</a:t>
            </a:r>
          </a:p>
        </p:txBody>
      </p:sp>
      <p:sp>
        <p:nvSpPr>
          <p:cNvPr id="30" name="Rectangle 29"/>
          <p:cNvSpPr/>
          <p:nvPr/>
        </p:nvSpPr>
        <p:spPr>
          <a:xfrm flipV="1">
            <a:off x="464622" y="4216974"/>
            <a:ext cx="8229600" cy="45719"/>
          </a:xfrm>
          <a:prstGeom prst="rect">
            <a:avLst/>
          </a:prstGeom>
          <a:solidFill>
            <a:srgbClr val="F50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 flipV="1">
            <a:off x="900400" y="4171661"/>
            <a:ext cx="158918" cy="129938"/>
          </a:xfrm>
          <a:prstGeom prst="ellipse">
            <a:avLst/>
          </a:prstGeom>
          <a:solidFill>
            <a:srgbClr val="F50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49808" y="4242816"/>
            <a:ext cx="16459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B2B2B"/>
                </a:solidFill>
                <a:latin typeface="Calibri"/>
              </a:rPr>
              <a:t>MAR 2026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9808" y="4389120"/>
            <a:ext cx="16459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B6B6B"/>
                </a:solidFill>
                <a:latin typeface="Calibri"/>
              </a:rPr>
              <a:t>GTM launch &amp; first contact</a:t>
            </a:r>
          </a:p>
        </p:txBody>
      </p:sp>
      <p:sp>
        <p:nvSpPr>
          <p:cNvPr id="34" name="Oval 33"/>
          <p:cNvSpPr/>
          <p:nvPr/>
        </p:nvSpPr>
        <p:spPr>
          <a:xfrm flipV="1">
            <a:off x="2912080" y="4171661"/>
            <a:ext cx="158918" cy="129938"/>
          </a:xfrm>
          <a:prstGeom prst="ellipse">
            <a:avLst/>
          </a:prstGeom>
          <a:solidFill>
            <a:srgbClr val="F50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2761488" y="4242816"/>
            <a:ext cx="16459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B2B2B"/>
                </a:solidFill>
                <a:latin typeface="Calibri"/>
              </a:rPr>
              <a:t>Q3 2027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761488" y="4389120"/>
            <a:ext cx="16459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B6B6B"/>
                </a:solidFill>
                <a:latin typeface="Calibri"/>
              </a:rPr>
              <a:t>First production &amp; FAI</a:t>
            </a:r>
          </a:p>
        </p:txBody>
      </p:sp>
      <p:sp>
        <p:nvSpPr>
          <p:cNvPr id="37" name="Oval 36"/>
          <p:cNvSpPr/>
          <p:nvPr/>
        </p:nvSpPr>
        <p:spPr>
          <a:xfrm flipV="1">
            <a:off x="4923760" y="4171661"/>
            <a:ext cx="158918" cy="129938"/>
          </a:xfrm>
          <a:prstGeom prst="ellipse">
            <a:avLst/>
          </a:prstGeom>
          <a:solidFill>
            <a:srgbClr val="F50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4773168" y="4242816"/>
            <a:ext cx="16459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B2B2B"/>
                </a:solidFill>
                <a:latin typeface="Calibri"/>
              </a:rPr>
              <a:t>2028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773168" y="4389120"/>
            <a:ext cx="16459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B6B6B"/>
                </a:solidFill>
                <a:latin typeface="Calibri"/>
              </a:rPr>
              <a:t>37.5% utilization — 8–13 customers</a:t>
            </a:r>
          </a:p>
        </p:txBody>
      </p:sp>
      <p:sp>
        <p:nvSpPr>
          <p:cNvPr id="40" name="Oval 39"/>
          <p:cNvSpPr/>
          <p:nvPr/>
        </p:nvSpPr>
        <p:spPr>
          <a:xfrm flipV="1">
            <a:off x="6935440" y="4171661"/>
            <a:ext cx="158918" cy="129938"/>
          </a:xfrm>
          <a:prstGeom prst="ellipse">
            <a:avLst/>
          </a:prstGeom>
          <a:solidFill>
            <a:srgbClr val="F50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784848" y="4242816"/>
            <a:ext cx="16459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B2B2B"/>
                </a:solidFill>
                <a:latin typeface="Calibri"/>
              </a:rPr>
              <a:t>2029+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784848" y="4389120"/>
            <a:ext cx="16459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B6B6B"/>
                </a:solidFill>
                <a:latin typeface="Calibri"/>
              </a:rPr>
              <a:t>50/50 model &amp; full scale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F5F850EB-AC30-EB5A-4C91-1DFC6833417D}"/>
              </a:ext>
            </a:extLst>
          </p:cNvPr>
          <p:cNvSpPr txBox="1"/>
          <p:nvPr/>
        </p:nvSpPr>
        <p:spPr>
          <a:xfrm>
            <a:off x="4313" y="4870905"/>
            <a:ext cx="1828800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/>
            <a:r>
              <a:rPr sz="1000" b="0" i="0">
                <a:solidFill>
                  <a:srgbClr val="FF0000"/>
                </a:solidFill>
                <a:latin typeface="Calibri"/>
              </a:rPr>
              <a:t>CONFIDENTIAL</a:t>
            </a:r>
            <a:endParaRPr lang="en-US" sz="1000" b="0" i="0">
              <a:solidFill>
                <a:srgbClr val="FF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AE6C3CA9-2F19-ACF9-31F4-E609DF4226F8}"/>
              </a:ext>
            </a:extLst>
          </p:cNvPr>
          <p:cNvSpPr txBox="1"/>
          <p:nvPr/>
        </p:nvSpPr>
        <p:spPr>
          <a:xfrm>
            <a:off x="6853687" y="4870905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B6B6B"/>
                </a:solidFill>
                <a:latin typeface="Calibri"/>
              </a:rPr>
              <a:t>February 2026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D6D8FF2C-9570-B284-74BD-CD1DC4A03D61}"/>
              </a:ext>
            </a:extLst>
          </p:cNvPr>
          <p:cNvSpPr txBox="1"/>
          <p:nvPr/>
        </p:nvSpPr>
        <p:spPr>
          <a:xfrm>
            <a:off x="2743200" y="4870905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B6B6B"/>
                </a:solidFill>
                <a:latin typeface="Calibri"/>
              </a:rPr>
              <a:t>Aurelian Manufacturing AS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2B2B2B"/>
                </a:solidFill>
                <a:latin typeface="Calibri"/>
              </a:rPr>
              <a:t>Economic Engine — Capital Efficiency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34440"/>
            <a:ext cx="8229600" cy="4572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57200" y="1234440"/>
            <a:ext cx="38100" cy="457200"/>
          </a:xfrm>
          <a:prstGeom prst="rect">
            <a:avLst/>
          </a:prstGeom>
          <a:solidFill>
            <a:srgbClr val="F50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B6B6B"/>
                </a:solidFill>
                <a:latin typeface="Calibri"/>
              </a:rPr>
              <a:t>Revenue Formula:  </a:t>
            </a:r>
            <a:r>
              <a:rPr sz="1300" b="1">
                <a:solidFill>
                  <a:srgbClr val="2B2B2B"/>
                </a:solidFill>
                <a:latin typeface="Calibri"/>
              </a:rPr>
              <a:t>CNC machines × 8,760 hours × utilization% × NOK 3,000/hour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828800"/>
            <a:ext cx="1828800" cy="502920"/>
          </a:xfrm>
          <a:prstGeom prst="roundRect">
            <a:avLst/>
          </a:prstGeom>
          <a:solidFill>
            <a:srgbClr val="F50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2400" b="1">
                <a:solidFill>
                  <a:srgbClr val="FFFFFF"/>
                </a:solidFill>
                <a:latin typeface="Calibri"/>
              </a:rPr>
              <a:t>60–65%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3774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B6B6B"/>
                </a:solidFill>
                <a:latin typeface="Calibri"/>
              </a:rPr>
              <a:t>Utilization Target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514600" y="1828800"/>
            <a:ext cx="1828800" cy="502920"/>
          </a:xfrm>
          <a:prstGeom prst="roundRect">
            <a:avLst/>
          </a:prstGeom>
          <a:solidFill>
            <a:srgbClr val="2B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2400" b="1">
                <a:solidFill>
                  <a:srgbClr val="FFFFFF"/>
                </a:solidFill>
                <a:latin typeface="Calibri"/>
              </a:rPr>
              <a:t>~24%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14600" y="23774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B6B6B"/>
                </a:solidFill>
                <a:latin typeface="Calibri"/>
              </a:rPr>
              <a:t>Break-Even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0" y="1828800"/>
            <a:ext cx="1828800" cy="502920"/>
          </a:xfrm>
          <a:prstGeom prst="roundRect">
            <a:avLst/>
          </a:prstGeom>
          <a:solidFill>
            <a:srgbClr val="2B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2400" b="1">
                <a:solidFill>
                  <a:srgbClr val="FFFFFF"/>
                </a:solidFill>
                <a:latin typeface="Calibri"/>
              </a:rPr>
              <a:t>~315M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2377440"/>
            <a:ext cx="1828800" cy="26161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sz="1100" b="0" i="0">
                <a:solidFill>
                  <a:srgbClr val="6B6B6B"/>
                </a:solidFill>
                <a:latin typeface="Calibri"/>
              </a:rPr>
              <a:t>Revenue at 20 CNC</a:t>
            </a:r>
            <a:r>
              <a:rPr lang="en-US" sz="1100">
                <a:solidFill>
                  <a:srgbClr val="6B6B6B"/>
                </a:solidFill>
                <a:latin typeface="Calibri"/>
              </a:rPr>
              <a:t> at 60%</a:t>
            </a:r>
            <a:endParaRPr sz="1100" b="0" i="0">
              <a:solidFill>
                <a:srgbClr val="6B6B6B"/>
              </a:solidFill>
              <a:latin typeface="Calibri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6629400" y="1828800"/>
            <a:ext cx="1828800" cy="502920"/>
          </a:xfrm>
          <a:prstGeom prst="roundRect">
            <a:avLst/>
          </a:prstGeom>
          <a:solidFill>
            <a:srgbClr val="2B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2400" b="1">
                <a:solidFill>
                  <a:srgbClr val="FFFFFF"/>
                </a:solidFill>
                <a:latin typeface="Calibri"/>
              </a:rPr>
              <a:t>~222M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23774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B6B6B"/>
                </a:solidFill>
                <a:latin typeface="Calibri"/>
              </a:rPr>
              <a:t>EBITDA at 60%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688449"/>
            <a:ext cx="3886200" cy="20116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57200" y="2688449"/>
            <a:ext cx="38100" cy="2011680"/>
          </a:xfrm>
          <a:prstGeom prst="rect">
            <a:avLst/>
          </a:prstGeom>
          <a:solidFill>
            <a:srgbClr val="F50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94360" y="2779889"/>
            <a:ext cx="3611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B2B2B"/>
                </a:solidFill>
                <a:latin typeface="Calibri"/>
              </a:rPr>
              <a:t>Cost Structure (20 CNC Steady State)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3072497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B2B2B"/>
                </a:solidFill>
                <a:latin typeface="Calibri"/>
              </a:rPr>
              <a:t>Total cost (20 CNC steady):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80360" y="3072497"/>
            <a:ext cx="1280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2B2B2B"/>
                </a:solidFill>
                <a:latin typeface="Calibri"/>
              </a:rPr>
              <a:t>~92.75 MNOK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4360" y="3291953"/>
            <a:ext cx="3611880" cy="12700"/>
          </a:xfrm>
          <a:prstGeom prst="rect">
            <a:avLst/>
          </a:prstGeom>
          <a:solidFill>
            <a:srgbClr val="D3D3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94360" y="3365105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B2B2B"/>
                </a:solidFill>
                <a:latin typeface="Calibri"/>
              </a:rPr>
              <a:t>Total fixed costs: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880360" y="3365105"/>
            <a:ext cx="1280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2B2B2B"/>
                </a:solidFill>
                <a:latin typeface="Calibri"/>
              </a:rPr>
              <a:t>~67.6 MNOK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94360" y="3584561"/>
            <a:ext cx="3611880" cy="12700"/>
          </a:xfrm>
          <a:prstGeom prst="rect">
            <a:avLst/>
          </a:prstGeom>
          <a:solidFill>
            <a:srgbClr val="D3D3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94360" y="3657713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B2B2B"/>
                </a:solidFill>
                <a:latin typeface="Calibri"/>
              </a:rPr>
              <a:t>Payroll (16 ops + 4 admin):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880360" y="3657713"/>
            <a:ext cx="1280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2B2B2B"/>
                </a:solidFill>
                <a:latin typeface="Calibri"/>
              </a:rPr>
              <a:t>23.2 MNOK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3886313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B2B2B"/>
                </a:solidFill>
                <a:latin typeface="Calibri"/>
              </a:rPr>
              <a:t>Depreciation (CNC + shop):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880360" y="3886313"/>
            <a:ext cx="1280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2B2B2B"/>
                </a:solidFill>
                <a:latin typeface="Calibri"/>
              </a:rPr>
              <a:t>26.1 MNOK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" y="4114913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B2B2B"/>
                </a:solidFill>
                <a:latin typeface="Calibri"/>
              </a:rPr>
              <a:t>Finance + facility + other: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880360" y="4114913"/>
            <a:ext cx="1280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2B2B2B"/>
                </a:solidFill>
                <a:latin typeface="Calibri"/>
              </a:rPr>
              <a:t>18.3 MNOK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" y="4343513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B2B2B"/>
                </a:solidFill>
                <a:latin typeface="Calibri"/>
              </a:rPr>
              <a:t>Variable costs: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880360" y="4343513"/>
            <a:ext cx="1280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2B2B2B"/>
                </a:solidFill>
                <a:latin typeface="Calibri"/>
              </a:rPr>
              <a:t>13% startup / 8% steady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800600" y="2688449"/>
            <a:ext cx="3886200" cy="20116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4800600" y="2688449"/>
            <a:ext cx="38100" cy="2011680"/>
          </a:xfrm>
          <a:prstGeom prst="rect">
            <a:avLst/>
          </a:prstGeom>
          <a:solidFill>
            <a:srgbClr val="F50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937760" y="2779889"/>
            <a:ext cx="3611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B2B2B"/>
                </a:solidFill>
                <a:latin typeface="Calibri"/>
              </a:rPr>
              <a:t>Staffing Model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937760" y="3035921"/>
            <a:ext cx="3611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6B6B"/>
                </a:solidFill>
                <a:latin typeface="Calibri"/>
              </a:rPr>
              <a:t>Sub-linear headcount growth: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937760" y="3255377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B2B2B"/>
                </a:solidFill>
                <a:latin typeface="Calibri"/>
              </a:rPr>
              <a:t>5 CNC (Seed)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086600" y="3255377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2B2B2B"/>
                </a:solidFill>
                <a:latin typeface="Calibri"/>
              </a:rPr>
              <a:t>6 staff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937760" y="3474833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B2B2B"/>
                </a:solidFill>
                <a:latin typeface="Calibri"/>
              </a:rPr>
              <a:t>12 CNC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086600" y="3474833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2B2B2B"/>
                </a:solidFill>
                <a:latin typeface="Calibri"/>
              </a:rPr>
              <a:t>10 staff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937760" y="3694289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B2B2B"/>
                </a:solidFill>
                <a:latin typeface="Calibri"/>
              </a:rPr>
              <a:t>17 CNC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086600" y="3694289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2B2B2B"/>
                </a:solidFill>
                <a:latin typeface="Calibri"/>
              </a:rPr>
              <a:t>13 staff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937760" y="3913745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B2B2B"/>
                </a:solidFill>
                <a:latin typeface="Calibri"/>
              </a:rPr>
              <a:t>20 CNC (steady state)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086600" y="3913745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2B2B2B"/>
                </a:solidFill>
                <a:latin typeface="Calibri"/>
              </a:rPr>
              <a:t>16 + 4 = 20 staff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937760" y="4224641"/>
            <a:ext cx="3611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6B6B"/>
                </a:solidFill>
                <a:latin typeface="Calibri"/>
              </a:rPr>
              <a:t>Design target: </a:t>
            </a:r>
            <a:r>
              <a:rPr lang="nb-NO" sz="900" b="0" i="0" err="1">
                <a:solidFill>
                  <a:srgbClr val="6B6B6B"/>
                </a:solidFill>
                <a:latin typeface="Calibri"/>
              </a:rPr>
              <a:t>Low</a:t>
            </a:r>
            <a:r>
              <a:rPr sz="900" b="0" i="0">
                <a:solidFill>
                  <a:srgbClr val="6B6B6B"/>
                </a:solidFill>
                <a:latin typeface="Calibri"/>
              </a:rPr>
              <a:t> FTE/CNC (operative) at scale.
Industry benchmark: </a:t>
            </a:r>
            <a:r>
              <a:rPr lang="nb-NO" sz="900" b="0" i="0">
                <a:solidFill>
                  <a:srgbClr val="6B6B6B"/>
                </a:solidFill>
                <a:latin typeface="Calibri"/>
              </a:rPr>
              <a:t>High</a:t>
            </a:r>
            <a:r>
              <a:rPr sz="900" b="0" i="0">
                <a:solidFill>
                  <a:srgbClr val="6B6B6B"/>
                </a:solidFill>
                <a:latin typeface="Calibri"/>
              </a:rPr>
              <a:t> staff/CNC (observed, VDR 03.02).
Enabled by greenfield autonomous architecture.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216025" y="4698215"/>
            <a:ext cx="8229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6B6B"/>
                </a:solidFill>
                <a:latin typeface="Calibri"/>
              </a:rPr>
              <a:t>Note: Profit figures after 50/50 customer profit-sharing above 45% utilization. All projections per 02 Economic Tables &amp; Projections (VDR 02.04).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742113" y="4900154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B6B6B"/>
                </a:solidFill>
                <a:latin typeface="Calibri"/>
              </a:rPr>
              <a:t>February 2026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7E53E89A-373A-D817-AA44-DE4B3D12DC1F}"/>
              </a:ext>
            </a:extLst>
          </p:cNvPr>
          <p:cNvSpPr txBox="1"/>
          <p:nvPr/>
        </p:nvSpPr>
        <p:spPr>
          <a:xfrm>
            <a:off x="4313" y="4870905"/>
            <a:ext cx="1828800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/>
            <a:r>
              <a:rPr sz="1000" b="0" i="0">
                <a:solidFill>
                  <a:srgbClr val="FF0000"/>
                </a:solidFill>
                <a:latin typeface="Calibri"/>
              </a:rPr>
              <a:t>CONFIDENTIAL</a:t>
            </a:r>
            <a:endParaRPr lang="en-US" sz="1000" b="0" i="0">
              <a:solidFill>
                <a:srgbClr val="FF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82A94878-EF9A-0A39-2FD7-5FE9C1615C00}"/>
              </a:ext>
            </a:extLst>
          </p:cNvPr>
          <p:cNvSpPr txBox="1"/>
          <p:nvPr/>
        </p:nvSpPr>
        <p:spPr>
          <a:xfrm>
            <a:off x="2743200" y="4870905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B6B6B"/>
                </a:solidFill>
                <a:latin typeface="Calibri"/>
              </a:rPr>
              <a:t>Aurelian Manufacturing AS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42715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2B2B2B"/>
                </a:solidFill>
                <a:latin typeface="Calibri"/>
              </a:rPr>
              <a:t>Path to Scale — Revenue, Profit &amp; Capacity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286000" y="1325880"/>
            <a:ext cx="4572000" cy="594360"/>
          </a:xfrm>
          <a:prstGeom prst="roundRect">
            <a:avLst/>
          </a:prstGeom>
          <a:solidFill>
            <a:srgbClr val="2B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468880" y="1399032"/>
            <a:ext cx="4206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Calibri"/>
              </a:rPr>
              <a:t>Accumulated profit 2027–2035:  </a:t>
            </a:r>
            <a:r>
              <a:rPr sz="2200" b="1">
                <a:solidFill>
                  <a:srgbClr val="FFFFFF"/>
                </a:solidFill>
                <a:latin typeface="Calibri"/>
              </a:rPr>
              <a:t>~1,254 MNOK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148840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B2B2B"/>
                </a:solidFill>
                <a:latin typeface="Calibri"/>
              </a:rPr>
              <a:t>Revenue &amp; Profit Trajectory (MNOK)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" y="3881797"/>
            <a:ext cx="411480" cy="47461"/>
          </a:xfrm>
          <a:prstGeom prst="rect">
            <a:avLst/>
          </a:prstGeom>
          <a:solidFill>
            <a:srgbClr val="2B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-22860" y="3717205"/>
            <a:ext cx="50292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2B2B2B"/>
                </a:solidFill>
                <a:latin typeface="Calibri"/>
              </a:rP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-68580" y="3965835"/>
            <a:ext cx="105156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6B6B6B"/>
                </a:solidFill>
                <a:latin typeface="Calibri"/>
              </a:rPr>
              <a:t>2027 H2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-68580" y="4093851"/>
            <a:ext cx="105156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6B6B6B"/>
                </a:solidFill>
                <a:latin typeface="Calibri"/>
              </a:rPr>
              <a:t>5 CNC</a:t>
            </a:r>
          </a:p>
        </p:txBody>
      </p:sp>
      <p:sp>
        <p:nvSpPr>
          <p:cNvPr id="10" name="Rectangle 9"/>
          <p:cNvSpPr/>
          <p:nvPr/>
        </p:nvSpPr>
        <p:spPr>
          <a:xfrm>
            <a:off x="1394460" y="3714592"/>
            <a:ext cx="411480" cy="214666"/>
          </a:xfrm>
          <a:prstGeom prst="rect">
            <a:avLst/>
          </a:prstGeom>
          <a:solidFill>
            <a:srgbClr val="2B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348740" y="3550000"/>
            <a:ext cx="50292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2B2B2B"/>
                </a:solidFill>
                <a:latin typeface="Calibri"/>
              </a:rPr>
              <a:t>49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851660" y="3863073"/>
            <a:ext cx="411480" cy="66185"/>
          </a:xfrm>
          <a:prstGeom prst="rect">
            <a:avLst/>
          </a:prstGeom>
          <a:solidFill>
            <a:srgbClr val="F50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303020" y="3965835"/>
            <a:ext cx="105156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6B6B6B"/>
                </a:solidFill>
                <a:latin typeface="Calibri"/>
              </a:rPr>
              <a:t>2028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03020" y="4093851"/>
            <a:ext cx="105156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6B6B6B"/>
                </a:solidFill>
                <a:latin typeface="Calibri"/>
              </a:rPr>
              <a:t>5 CNC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66060" y="3345784"/>
            <a:ext cx="411480" cy="583474"/>
          </a:xfrm>
          <a:prstGeom prst="rect">
            <a:avLst/>
          </a:prstGeom>
          <a:solidFill>
            <a:srgbClr val="2B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720340" y="3181192"/>
            <a:ext cx="50292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2B2B2B"/>
                </a:solidFill>
                <a:latin typeface="Calibri"/>
              </a:rPr>
              <a:t>134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23260" y="3611831"/>
            <a:ext cx="411480" cy="317427"/>
          </a:xfrm>
          <a:prstGeom prst="rect">
            <a:avLst/>
          </a:prstGeom>
          <a:solidFill>
            <a:srgbClr val="F50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2674620" y="3965835"/>
            <a:ext cx="105156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6B6B6B"/>
                </a:solidFill>
                <a:latin typeface="Calibri"/>
              </a:rPr>
              <a:t>2029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74620" y="4093851"/>
            <a:ext cx="105156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6B6B6B"/>
                </a:solidFill>
                <a:latin typeface="Calibri"/>
              </a:rPr>
              <a:t>12 CNC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37660" y="3006150"/>
            <a:ext cx="411480" cy="923108"/>
          </a:xfrm>
          <a:prstGeom prst="rect">
            <a:avLst/>
          </a:prstGeom>
          <a:solidFill>
            <a:srgbClr val="2B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091940" y="2841558"/>
            <a:ext cx="50292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2B2B2B"/>
                </a:solidFill>
                <a:latin typeface="Calibri"/>
              </a:rPr>
              <a:t>212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94860" y="3355364"/>
            <a:ext cx="411480" cy="573894"/>
          </a:xfrm>
          <a:prstGeom prst="rect">
            <a:avLst/>
          </a:prstGeom>
          <a:solidFill>
            <a:srgbClr val="F50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046220" y="3965835"/>
            <a:ext cx="105156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6B6B6B"/>
                </a:solidFill>
                <a:latin typeface="Calibri"/>
              </a:rPr>
              <a:t>2030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046220" y="4093851"/>
            <a:ext cx="105156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6B6B6B"/>
                </a:solidFill>
                <a:latin typeface="Calibri"/>
              </a:rPr>
              <a:t>17 CNC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509260" y="2727476"/>
            <a:ext cx="411480" cy="1201782"/>
          </a:xfrm>
          <a:prstGeom prst="rect">
            <a:avLst/>
          </a:prstGeom>
          <a:solidFill>
            <a:srgbClr val="2B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463540" y="2562884"/>
            <a:ext cx="50292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2B2B2B"/>
                </a:solidFill>
                <a:latin typeface="Calibri"/>
              </a:rPr>
              <a:t>276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966460" y="3202964"/>
            <a:ext cx="411480" cy="726294"/>
          </a:xfrm>
          <a:prstGeom prst="rect">
            <a:avLst/>
          </a:prstGeom>
          <a:solidFill>
            <a:srgbClr val="F50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417820" y="3965835"/>
            <a:ext cx="105156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6B6B6B"/>
                </a:solidFill>
                <a:latin typeface="Calibri"/>
              </a:rPr>
              <a:t>2031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17820" y="4093851"/>
            <a:ext cx="105156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6B6B6B"/>
                </a:solidFill>
                <a:latin typeface="Calibri"/>
              </a:rPr>
              <a:t>20 CNC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880860" y="2614264"/>
            <a:ext cx="411480" cy="1314994"/>
          </a:xfrm>
          <a:prstGeom prst="rect">
            <a:avLst/>
          </a:prstGeom>
          <a:solidFill>
            <a:srgbClr val="2B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835140" y="2449672"/>
            <a:ext cx="50292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2B2B2B"/>
                </a:solidFill>
                <a:latin typeface="Calibri"/>
              </a:rPr>
              <a:t>302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338060" y="3135472"/>
            <a:ext cx="411480" cy="793786"/>
          </a:xfrm>
          <a:prstGeom prst="rect">
            <a:avLst/>
          </a:prstGeom>
          <a:solidFill>
            <a:srgbClr val="F50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789420" y="3965835"/>
            <a:ext cx="105156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6B6B6B"/>
                </a:solidFill>
                <a:latin typeface="Calibri"/>
              </a:rPr>
              <a:t>2032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89420" y="4093851"/>
            <a:ext cx="105156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6B6B6B"/>
                </a:solidFill>
                <a:latin typeface="Calibri"/>
              </a:rPr>
              <a:t>20 CNC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252460" y="2244150"/>
            <a:ext cx="411480" cy="1685108"/>
          </a:xfrm>
          <a:prstGeom prst="rect">
            <a:avLst/>
          </a:prstGeom>
          <a:solidFill>
            <a:srgbClr val="2B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206740" y="2079558"/>
            <a:ext cx="50292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2B2B2B"/>
                </a:solidFill>
                <a:latin typeface="Calibri"/>
              </a:rPr>
              <a:t>387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709660" y="2936481"/>
            <a:ext cx="411480" cy="992777"/>
          </a:xfrm>
          <a:prstGeom prst="rect">
            <a:avLst/>
          </a:prstGeom>
          <a:solidFill>
            <a:srgbClr val="F50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161020" y="3965835"/>
            <a:ext cx="105156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6B6B6B"/>
                </a:solidFill>
                <a:latin typeface="Calibri"/>
              </a:rPr>
              <a:t>2033+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161020" y="4093851"/>
            <a:ext cx="105156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6B6B6B"/>
                </a:solidFill>
                <a:latin typeface="Calibri"/>
              </a:rPr>
              <a:t>22-25 CNC</a:t>
            </a:r>
          </a:p>
        </p:txBody>
      </p:sp>
      <p:sp>
        <p:nvSpPr>
          <p:cNvPr id="40" name="Rectangle 39"/>
          <p:cNvSpPr/>
          <p:nvPr/>
        </p:nvSpPr>
        <p:spPr>
          <a:xfrm>
            <a:off x="-68580" y="3929259"/>
            <a:ext cx="9281160" cy="12700"/>
          </a:xfrm>
          <a:prstGeom prst="rect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2743200" y="4295019"/>
            <a:ext cx="228600" cy="109728"/>
          </a:xfrm>
          <a:prstGeom prst="rect">
            <a:avLst/>
          </a:prstGeom>
          <a:solidFill>
            <a:srgbClr val="2B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3017520" y="4276731"/>
            <a:ext cx="9144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B2B2B"/>
                </a:solidFill>
                <a:latin typeface="Calibri"/>
              </a:rPr>
              <a:t>Revenue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114800" y="4295019"/>
            <a:ext cx="228600" cy="109728"/>
          </a:xfrm>
          <a:prstGeom prst="rect">
            <a:avLst/>
          </a:prstGeom>
          <a:solidFill>
            <a:srgbClr val="F50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4389120" y="4276731"/>
            <a:ext cx="9144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B2B2B"/>
                </a:solidFill>
                <a:latin typeface="Calibri"/>
              </a:rPr>
              <a:t>Profit*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769816" y="4482776"/>
            <a:ext cx="8229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6B6B"/>
                </a:solidFill>
                <a:latin typeface="Calibri"/>
              </a:rPr>
              <a:t>All amounts in MNOK. *Profit after 50/50 customer program deductions above 45% utilization.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769816" y="4638224"/>
            <a:ext cx="822960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6B6B"/>
                </a:solidFill>
                <a:latin typeface="Calibri"/>
              </a:rPr>
              <a:t>Source: 02 Economic Tables &amp; Projections (VDR 02.04). All values are projections based on model assumptions.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8DFF2CCB-9D0E-B0CC-6A78-90DB0974F35E}"/>
              </a:ext>
            </a:extLst>
          </p:cNvPr>
          <p:cNvSpPr txBox="1"/>
          <p:nvPr/>
        </p:nvSpPr>
        <p:spPr>
          <a:xfrm>
            <a:off x="4313" y="4870905"/>
            <a:ext cx="1828800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/>
            <a:r>
              <a:rPr sz="1000" b="0" i="0">
                <a:solidFill>
                  <a:srgbClr val="FF0000"/>
                </a:solidFill>
                <a:latin typeface="Calibri"/>
              </a:rPr>
              <a:t>CONFIDENTIAL</a:t>
            </a:r>
            <a:endParaRPr lang="en-US" sz="1000" b="0" i="0">
              <a:solidFill>
                <a:srgbClr val="FF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4A793BCA-68E0-8D4C-6608-6915ADD9FF4D}"/>
              </a:ext>
            </a:extLst>
          </p:cNvPr>
          <p:cNvSpPr txBox="1"/>
          <p:nvPr/>
        </p:nvSpPr>
        <p:spPr>
          <a:xfrm>
            <a:off x="6853687" y="4870905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B6B6B"/>
                </a:solidFill>
                <a:latin typeface="Calibri"/>
              </a:rPr>
              <a:t>February 2026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E0A1673C-AA43-9393-5DE2-50B3BBED12A2}"/>
              </a:ext>
            </a:extLst>
          </p:cNvPr>
          <p:cNvSpPr txBox="1"/>
          <p:nvPr/>
        </p:nvSpPr>
        <p:spPr>
          <a:xfrm>
            <a:off x="2743200" y="4870905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B6B6B"/>
                </a:solidFill>
                <a:latin typeface="Calibri"/>
              </a:rPr>
              <a:t>Aurelian Manufacturing AS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2B2B2B"/>
                </a:solidFill>
                <a:latin typeface="Calibri"/>
              </a:rPr>
              <a:t>Financing Structure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280160"/>
            <a:ext cx="1828800" cy="258318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1371600"/>
            <a:ext cx="160934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nb-NO" b="1" dirty="0" err="1">
                <a:solidFill>
                  <a:srgbClr val="F50537"/>
                </a:solidFill>
              </a:rPr>
              <a:t>PreSeed</a:t>
            </a:r>
            <a:endParaRPr lang="nb-NO" b="1" dirty="0">
              <a:solidFill>
                <a:srgbClr val="F50537"/>
              </a:solidFill>
            </a:endParaRPr>
          </a:p>
          <a:p>
            <a:pPr algn="l"/>
            <a:endParaRPr sz="1800" b="1" i="0" dirty="0">
              <a:solidFill>
                <a:srgbClr val="6B6B6B"/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66928" y="1627632"/>
            <a:ext cx="160934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50537"/>
                </a:solidFill>
                <a:latin typeface="Calibri"/>
              </a:rPr>
              <a:t>IN PROGRESS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874520"/>
            <a:ext cx="1609344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6B6B"/>
                </a:solidFill>
                <a:latin typeface="Calibri"/>
              </a:rPr>
              <a:t>Equity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2002536"/>
            <a:ext cx="160934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B2B2B"/>
                </a:solidFill>
                <a:latin typeface="Calibri"/>
              </a:rPr>
              <a:t>5 MNOK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2194560"/>
            <a:ext cx="1609344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6B6B"/>
                </a:solidFill>
                <a:latin typeface="Calibri"/>
              </a:rPr>
              <a:t>Pre-Money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2322576"/>
            <a:ext cx="160934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B2B2B"/>
                </a:solidFill>
                <a:latin typeface="Calibri"/>
              </a:rPr>
              <a:t>25 MNOK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2514600"/>
            <a:ext cx="1609344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6B6B"/>
                </a:solidFill>
                <a:latin typeface="Calibri"/>
              </a:rPr>
              <a:t>Machines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2642616"/>
            <a:ext cx="160934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B2B2B"/>
                </a:solidFill>
                <a:latin typeface="Calibri"/>
              </a:rPr>
              <a:t>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2834640"/>
            <a:ext cx="1609344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6B6B"/>
                </a:solidFill>
                <a:latin typeface="Calibri"/>
              </a:rPr>
              <a:t>Focus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2962656"/>
            <a:ext cx="160934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B2B2B"/>
                </a:solidFill>
                <a:latin typeface="Calibri"/>
              </a:rPr>
              <a:t>Establishment,
risk reduction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587752" y="1280160"/>
            <a:ext cx="1828800" cy="25831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505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 flipV="1">
            <a:off x="657591" y="1369600"/>
            <a:ext cx="1300432" cy="57030"/>
          </a:xfrm>
          <a:prstGeom prst="rect">
            <a:avLst/>
          </a:prstGeom>
          <a:solidFill>
            <a:srgbClr val="F50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697480" y="1371600"/>
            <a:ext cx="16093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nb-NO" b="1" dirty="0">
                <a:solidFill>
                  <a:srgbClr val="6B6B6B"/>
                </a:solidFill>
              </a:rPr>
              <a:t>Seed </a:t>
            </a:r>
            <a:endParaRPr sz="1800" b="1" i="0" dirty="0">
              <a:solidFill>
                <a:srgbClr val="F50537"/>
              </a:solidFill>
              <a:latin typeface="Calibri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2697480" y="1627632"/>
            <a:ext cx="160934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nb-NO" sz="900" b="1" dirty="0">
                <a:solidFill>
                  <a:srgbClr val="6B6B6B"/>
                </a:solidFill>
              </a:rPr>
              <a:t>PLANNED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97480" y="1874520"/>
            <a:ext cx="1609344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6B6B"/>
                </a:solidFill>
                <a:latin typeface="Calibri"/>
              </a:rPr>
              <a:t>Equity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97480" y="2002536"/>
            <a:ext cx="160934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B2B2B"/>
                </a:solidFill>
                <a:latin typeface="Calibri"/>
              </a:rPr>
              <a:t>51.3 MNOK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97480" y="2194560"/>
            <a:ext cx="1609344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6B6B"/>
                </a:solidFill>
                <a:latin typeface="Calibri"/>
              </a:rPr>
              <a:t>Pre-Money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322576"/>
            <a:ext cx="160934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B2B2B"/>
                </a:solidFill>
                <a:latin typeface="Calibri"/>
              </a:rPr>
              <a:t>130 MNOK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697480" y="2514600"/>
            <a:ext cx="1609344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6B6B"/>
                </a:solidFill>
                <a:latin typeface="Calibri"/>
              </a:rPr>
              <a:t>Dilution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697480" y="2642616"/>
            <a:ext cx="160934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B2B2B"/>
                </a:solidFill>
                <a:latin typeface="Calibri"/>
              </a:rPr>
              <a:t>28.3%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2834640"/>
            <a:ext cx="1609344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6B6B"/>
                </a:solidFill>
                <a:latin typeface="Calibri"/>
              </a:rPr>
              <a:t>Machines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697480" y="2962656"/>
            <a:ext cx="160934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B2B2B"/>
                </a:solidFill>
                <a:latin typeface="Calibri"/>
              </a:rPr>
              <a:t>5 CNC + shop base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697480" y="3154680"/>
            <a:ext cx="1609344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6B6B"/>
                </a:solidFill>
                <a:latin typeface="Calibri"/>
              </a:rPr>
              <a:t>Bank Debt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697480" y="3282696"/>
            <a:ext cx="160934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B2B2B"/>
                </a:solidFill>
                <a:latin typeface="Calibri"/>
              </a:rPr>
              <a:t>29.3 MNOK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74720"/>
            <a:ext cx="1609344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6B6B"/>
                </a:solidFill>
                <a:latin typeface="Calibri"/>
              </a:rPr>
              <a:t>Total Capital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697480" y="3602736"/>
            <a:ext cx="160934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B2B2B"/>
                </a:solidFill>
                <a:latin typeface="Calibri"/>
              </a:rPr>
              <a:t>80.6 MNOK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718304" y="1280160"/>
            <a:ext cx="1828800" cy="258318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828032" y="1371600"/>
            <a:ext cx="160934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2B2B2B"/>
                </a:solidFill>
                <a:latin typeface="Calibri"/>
              </a:rPr>
              <a:t>Serie 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828032" y="1627632"/>
            <a:ext cx="160934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 dirty="0">
                <a:solidFill>
                  <a:srgbClr val="6B6B6B"/>
                </a:solidFill>
                <a:latin typeface="Calibri"/>
              </a:rPr>
              <a:t>PLANNED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828032" y="1874520"/>
            <a:ext cx="1609344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6B6B"/>
                </a:solidFill>
                <a:latin typeface="Calibri"/>
              </a:rPr>
              <a:t>Equity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828032" y="2002536"/>
            <a:ext cx="160934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B2B2B"/>
                </a:solidFill>
                <a:latin typeface="Calibri"/>
              </a:rPr>
              <a:t>45 MNOK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828032" y="2194560"/>
            <a:ext cx="1609344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6B6B"/>
                </a:solidFill>
                <a:latin typeface="Calibri"/>
              </a:rPr>
              <a:t>Pre-Money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828032" y="2322576"/>
            <a:ext cx="160934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B2B2B"/>
                </a:solidFill>
                <a:latin typeface="Calibri"/>
              </a:rPr>
              <a:t>TBD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828032" y="2514600"/>
            <a:ext cx="1609344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6B6B"/>
                </a:solidFill>
                <a:latin typeface="Calibri"/>
              </a:rPr>
              <a:t>Machines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828032" y="2642616"/>
            <a:ext cx="160934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B2B2B"/>
                </a:solidFill>
                <a:latin typeface="Calibri"/>
              </a:rPr>
              <a:t>15 CNC (3×5)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828032" y="2834640"/>
            <a:ext cx="1609344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6B6B"/>
                </a:solidFill>
                <a:latin typeface="Calibri"/>
              </a:rPr>
              <a:t>Bank Debt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828032" y="2962656"/>
            <a:ext cx="160934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B2B2B"/>
                </a:solidFill>
                <a:latin typeface="Calibri"/>
              </a:rPr>
              <a:t>105 MNOK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848856" y="1280160"/>
            <a:ext cx="1828800" cy="2583180"/>
          </a:xfrm>
          <a:prstGeom prst="roundRect">
            <a:avLst/>
          </a:prstGeom>
          <a:solidFill>
            <a:srgbClr val="2B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2738814" y="1372714"/>
            <a:ext cx="502489" cy="50800"/>
          </a:xfrm>
          <a:prstGeom prst="rect">
            <a:avLst/>
          </a:prstGeom>
          <a:solidFill>
            <a:srgbClr val="F50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958584" y="1371600"/>
            <a:ext cx="160934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Exit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958584" y="1627632"/>
            <a:ext cx="160934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50537"/>
                </a:solidFill>
                <a:latin typeface="Calibri"/>
              </a:rPr>
              <a:t>BASE CASE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958584" y="1874520"/>
            <a:ext cx="1609344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8888"/>
                </a:solidFill>
                <a:latin typeface="Calibri"/>
              </a:rPr>
              <a:t>Valuation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958584" y="2002536"/>
            <a:ext cx="160934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2.3B NOK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958584" y="2194560"/>
            <a:ext cx="1609344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8888"/>
                </a:solidFill>
                <a:latin typeface="Calibri"/>
              </a:rPr>
              <a:t>Basis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958584" y="2322576"/>
            <a:ext cx="160934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10× EBITDA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958584" y="2514600"/>
            <a:ext cx="1609344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8888"/>
                </a:solidFill>
                <a:latin typeface="Calibri"/>
              </a:rPr>
              <a:t>EBITDA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958584" y="2642616"/>
            <a:ext cx="160934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~222 MNOK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958584" y="2834640"/>
            <a:ext cx="1609344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8888"/>
                </a:solidFill>
                <a:latin typeface="Calibri"/>
              </a:rPr>
              <a:t>Timeline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958584" y="2962656"/>
            <a:ext cx="160934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2033–2035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345436" y="237744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50537"/>
                </a:solidFill>
                <a:latin typeface="Calibri"/>
              </a:rPr>
              <a:t>→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475988" y="237744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50537"/>
                </a:solidFill>
                <a:latin typeface="Calibri"/>
              </a:rPr>
              <a:t>→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606540" y="237744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50537"/>
                </a:solidFill>
                <a:latin typeface="Calibri"/>
              </a:rPr>
              <a:t>→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516194" y="4073899"/>
            <a:ext cx="4110487" cy="276999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sz="1200" b="1" i="0">
                <a:solidFill>
                  <a:srgbClr val="2B2B2B"/>
                </a:solidFill>
                <a:latin typeface="Calibri"/>
              </a:rPr>
              <a:t>Total equity raised across all rounds: 101.3 MNOK.</a:t>
            </a:r>
            <a:endParaRPr lang="en-US" sz="1200">
              <a:ea typeface="Calibri"/>
              <a:cs typeface="Calibri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60809" y="4627295"/>
            <a:ext cx="8229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6B6B"/>
                </a:solidFill>
                <a:latin typeface="Calibri"/>
              </a:rPr>
              <a:t>Source: 02 Economic Tables &amp; Projections (VDR 02.04). Serie A terms are indicative.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1C8F55F9-D37A-C216-A48C-35D38B58E3A0}"/>
              </a:ext>
            </a:extLst>
          </p:cNvPr>
          <p:cNvSpPr txBox="1"/>
          <p:nvPr/>
        </p:nvSpPr>
        <p:spPr>
          <a:xfrm>
            <a:off x="4313" y="4870905"/>
            <a:ext cx="1828800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/>
            <a:r>
              <a:rPr sz="1000" b="0" i="0">
                <a:solidFill>
                  <a:srgbClr val="FF0000"/>
                </a:solidFill>
                <a:latin typeface="Calibri"/>
              </a:rPr>
              <a:t>CONFIDENTIAL</a:t>
            </a:r>
            <a:endParaRPr lang="en-US" sz="1000" b="0" i="0">
              <a:solidFill>
                <a:srgbClr val="FF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CA5DCF04-853F-60CE-39F5-1A2E67913A95}"/>
              </a:ext>
            </a:extLst>
          </p:cNvPr>
          <p:cNvSpPr txBox="1"/>
          <p:nvPr/>
        </p:nvSpPr>
        <p:spPr>
          <a:xfrm>
            <a:off x="6853687" y="4870905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B6B6B"/>
                </a:solidFill>
                <a:latin typeface="Calibri"/>
              </a:rPr>
              <a:t>February 2026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790F7A5C-FF68-E805-B13E-A78ACCB63C48}"/>
              </a:ext>
            </a:extLst>
          </p:cNvPr>
          <p:cNvSpPr txBox="1"/>
          <p:nvPr/>
        </p:nvSpPr>
        <p:spPr>
          <a:xfrm>
            <a:off x="2743200" y="4870905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B6B6B"/>
                </a:solidFill>
                <a:latin typeface="Calibri"/>
              </a:rPr>
              <a:t>Aurelian Manufacturing AS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2B2B2B"/>
                </a:solidFill>
                <a:latin typeface="Calibri"/>
              </a:rPr>
              <a:t>European Scaling Blueprint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1">
                <a:solidFill>
                  <a:srgbClr val="6B6B6B"/>
                </a:solidFill>
                <a:latin typeface="Calibri"/>
              </a:rPr>
              <a:t>Replicable Industrial Platform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25880"/>
            <a:ext cx="3886200" cy="10058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57200" y="1325880"/>
            <a:ext cx="38100" cy="1005840"/>
          </a:xfrm>
          <a:prstGeom prst="rect">
            <a:avLst/>
          </a:prstGeom>
          <a:solidFill>
            <a:srgbClr val="F50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1417320"/>
            <a:ext cx="3611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B2B2B"/>
                </a:solidFill>
                <a:latin typeface="Calibri"/>
              </a:rPr>
              <a:t>Site-Zero as Blueprint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673352"/>
            <a:ext cx="3611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6B6B"/>
                </a:solidFill>
                <a:latin typeface="Calibri"/>
              </a:rPr>
              <a:t>Validates operating model and acts as reference facility for customers, investors, and future sites.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4800600" y="1325880"/>
            <a:ext cx="3886200" cy="10058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800600" y="1325880"/>
            <a:ext cx="38100" cy="1005840"/>
          </a:xfrm>
          <a:prstGeom prst="rect">
            <a:avLst/>
          </a:prstGeom>
          <a:solidFill>
            <a:srgbClr val="F50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937760" y="1417320"/>
            <a:ext cx="3611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B2B2B"/>
                </a:solidFill>
                <a:latin typeface="Calibri"/>
              </a:rPr>
              <a:t>Standardized Platform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37760" y="1673352"/>
            <a:ext cx="3611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6B6B"/>
                </a:solidFill>
                <a:latin typeface="Calibri"/>
              </a:rPr>
              <a:t>Same CNC configuration, automation stack, and digital backbone replicated at every site.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514600"/>
            <a:ext cx="3886200" cy="10058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57200" y="2514600"/>
            <a:ext cx="38100" cy="1005840"/>
          </a:xfrm>
          <a:prstGeom prst="rect">
            <a:avLst/>
          </a:prstGeom>
          <a:solidFill>
            <a:srgbClr val="F50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94360" y="2606040"/>
            <a:ext cx="3611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B2B2B"/>
                </a:solidFill>
                <a:latin typeface="Calibri"/>
              </a:rPr>
              <a:t>Greenfield, Autonomous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2862072"/>
            <a:ext cx="3611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6B6B"/>
                </a:solidFill>
                <a:latin typeface="Calibri"/>
              </a:rPr>
              <a:t>Each site purpose-built for lights-out operation from day one. No legacy constraints.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800600" y="2514600"/>
            <a:ext cx="3886200" cy="10058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800600" y="2514600"/>
            <a:ext cx="38100" cy="1005840"/>
          </a:xfrm>
          <a:prstGeom prst="rect">
            <a:avLst/>
          </a:prstGeom>
          <a:solidFill>
            <a:srgbClr val="F50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937760" y="2606040"/>
            <a:ext cx="3611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B2B2B"/>
                </a:solidFill>
                <a:latin typeface="Calibri"/>
              </a:rPr>
              <a:t>Demand-Anchored Expansion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37760" y="2862072"/>
            <a:ext cx="3611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6B6B"/>
                </a:solidFill>
                <a:latin typeface="Calibri"/>
              </a:rPr>
              <a:t>New sites driven by strategic customer demand. Defense and energy value chains determine geography.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3614899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6B6B6B"/>
                </a:solidFill>
                <a:latin typeface="Calibri"/>
              </a:rPr>
              <a:t>Potential expansion: Norway, Nordics, and Europe — aligned with defense &amp; industrial value chains.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4400" y="3991442"/>
            <a:ext cx="1828800" cy="411480"/>
          </a:xfrm>
          <a:prstGeom prst="roundRect">
            <a:avLst/>
          </a:prstGeom>
          <a:solidFill>
            <a:srgbClr val="2B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2,635 m²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4448642"/>
            <a:ext cx="1828800" cy="26161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sz="1100" b="1" i="0">
                <a:solidFill>
                  <a:srgbClr val="6B6B6B"/>
                </a:solidFill>
                <a:latin typeface="Calibri"/>
              </a:rPr>
              <a:t>First Phase Facility</a:t>
            </a:r>
            <a:endParaRPr lang="en-US" sz="1100" b="1" i="0">
              <a:solidFill>
                <a:srgbClr val="6B6B6B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3657600" y="3991442"/>
            <a:ext cx="1828800" cy="411480"/>
          </a:xfrm>
          <a:prstGeom prst="roundRect">
            <a:avLst/>
          </a:prstGeom>
          <a:solidFill>
            <a:srgbClr val="2B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20–25 CNC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0" y="4448642"/>
            <a:ext cx="1828800" cy="26161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sz="1100" b="1" i="0">
                <a:solidFill>
                  <a:srgbClr val="6B6B6B"/>
                </a:solidFill>
                <a:latin typeface="Calibri"/>
              </a:rPr>
              <a:t>Scalable Capacity</a:t>
            </a:r>
            <a:endParaRPr lang="en-US" sz="1100" b="1" i="0">
              <a:solidFill>
                <a:srgbClr val="6B6B6B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6400800" y="3991442"/>
            <a:ext cx="1828800" cy="411480"/>
          </a:xfrm>
          <a:prstGeom prst="roundRect">
            <a:avLst/>
          </a:prstGeom>
          <a:solidFill>
            <a:srgbClr val="2B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3–5 Year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4448642"/>
            <a:ext cx="1828800" cy="26161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sz="1100" b="1" i="0">
                <a:solidFill>
                  <a:srgbClr val="6B6B6B"/>
                </a:solidFill>
                <a:latin typeface="Calibri"/>
              </a:rPr>
              <a:t>Replication Barrier</a:t>
            </a:r>
            <a:endParaRPr lang="en-US" sz="1100" b="1" i="0">
              <a:solidFill>
                <a:srgbClr val="6B6B6B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E94E2A1-9136-5B43-9589-A3ADD284E507}"/>
              </a:ext>
            </a:extLst>
          </p:cNvPr>
          <p:cNvSpPr txBox="1"/>
          <p:nvPr/>
        </p:nvSpPr>
        <p:spPr>
          <a:xfrm>
            <a:off x="4313" y="4870905"/>
            <a:ext cx="1828800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/>
            <a:r>
              <a:rPr sz="1000" b="0" i="0">
                <a:solidFill>
                  <a:srgbClr val="FF0000"/>
                </a:solidFill>
                <a:latin typeface="Calibri"/>
              </a:rPr>
              <a:t>CONFIDENTIAL</a:t>
            </a:r>
            <a:endParaRPr lang="en-US" sz="1000" b="0" i="0">
              <a:solidFill>
                <a:srgbClr val="FF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967EA26-A718-46AF-ECEC-71120932943E}"/>
              </a:ext>
            </a:extLst>
          </p:cNvPr>
          <p:cNvSpPr txBox="1"/>
          <p:nvPr/>
        </p:nvSpPr>
        <p:spPr>
          <a:xfrm>
            <a:off x="6853687" y="4870905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B6B6B"/>
                </a:solidFill>
                <a:latin typeface="Calibri"/>
              </a:rPr>
              <a:t>February 2026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F355DB1-8FD1-D108-67A2-463578698B81}"/>
              </a:ext>
            </a:extLst>
          </p:cNvPr>
          <p:cNvSpPr txBox="1"/>
          <p:nvPr/>
        </p:nvSpPr>
        <p:spPr>
          <a:xfrm>
            <a:off x="2743200" y="4870905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B6B6B"/>
                </a:solidFill>
                <a:latin typeface="Calibri"/>
              </a:rPr>
              <a:t>Aurelian Manufacturing AS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600" b="1">
                <a:solidFill>
                  <a:srgbClr val="2B2B2B"/>
                </a:solidFill>
                <a:latin typeface="Calibri"/>
              </a:rPr>
              <a:t>Team &amp; Advisors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82296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>
                <a:solidFill>
                  <a:srgbClr val="6B6B6B"/>
                </a:solidFill>
                <a:latin typeface="Calibri"/>
              </a:rPr>
              <a:t>FOUNDING TEAM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43000"/>
            <a:ext cx="1975104" cy="1554480"/>
          </a:xfrm>
          <a:prstGeom prst="roundRect">
            <a:avLst>
              <a:gd name="adj" fmla="val 3000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57200" y="1143000"/>
            <a:ext cx="1975104" cy="38100"/>
          </a:xfrm>
          <a:prstGeom prst="rect">
            <a:avLst/>
          </a:prstGeom>
          <a:solidFill>
            <a:srgbClr val="F50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39496" y="1216152"/>
            <a:ext cx="1810512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>
                <a:solidFill>
                  <a:srgbClr val="2B2B2B"/>
                </a:solidFill>
                <a:latin typeface="Calibri"/>
              </a:rPr>
              <a:t>André Tandberg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9496" y="1443000"/>
            <a:ext cx="1810512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>
                <a:solidFill>
                  <a:srgbClr val="F50537"/>
                </a:solidFill>
                <a:latin typeface="Calibri"/>
              </a:rPr>
              <a:t>Co-Founder &amp; CEO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9496" y="1623000"/>
            <a:ext cx="1810512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6B6B6B"/>
                </a:solidFill>
                <a:latin typeface="Calibri"/>
              </a:rPr>
              <a:t>Board of Directors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9496" y="1783000"/>
            <a:ext cx="1810512" cy="64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2B2B2B"/>
                </a:solidFill>
                <a:latin typeface="Calibri"/>
              </a:rPr>
              <a:t>MD Østfold Follo Nyskapingsfond. Board SpareBank 1 Østfold Akershus. Industrial funding, manufacturing ecosystem.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42032" y="1143000"/>
            <a:ext cx="1975104" cy="1554480"/>
          </a:xfrm>
          <a:prstGeom prst="roundRect">
            <a:avLst>
              <a:gd name="adj" fmla="val 3000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2542032" y="1143000"/>
            <a:ext cx="1975104" cy="38100"/>
          </a:xfrm>
          <a:prstGeom prst="rect">
            <a:avLst/>
          </a:prstGeom>
          <a:solidFill>
            <a:srgbClr val="F50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624328" y="1216152"/>
            <a:ext cx="1810512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>
                <a:solidFill>
                  <a:srgbClr val="2B2B2B"/>
                </a:solidFill>
                <a:latin typeface="Calibri"/>
              </a:rPr>
              <a:t>Tore Ausland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24328" y="1443000"/>
            <a:ext cx="1810512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>
                <a:solidFill>
                  <a:srgbClr val="F50537"/>
                </a:solidFill>
                <a:latin typeface="Calibri"/>
              </a:rPr>
              <a:t>Co-Founder &amp; VP BD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24328" y="1623000"/>
            <a:ext cx="1810512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6B6B6B"/>
                </a:solidFill>
                <a:latin typeface="Calibri"/>
              </a:rPr>
              <a:t>Chairman of the Board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24328" y="1783000"/>
            <a:ext cx="1810512" cy="64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2B2B2B"/>
                </a:solidFill>
                <a:latin typeface="Calibri"/>
              </a:rPr>
              <a:t>30+ years oil &amp; gas (GE, FMC, Aker Solutions). Enterprise partnerships, anchor customer acquisition.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626864" y="1143000"/>
            <a:ext cx="1975104" cy="1554480"/>
          </a:xfrm>
          <a:prstGeom prst="roundRect">
            <a:avLst>
              <a:gd name="adj" fmla="val 3000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626864" y="1143000"/>
            <a:ext cx="1975104" cy="38100"/>
          </a:xfrm>
          <a:prstGeom prst="rect">
            <a:avLst/>
          </a:prstGeom>
          <a:solidFill>
            <a:srgbClr val="F50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709160" y="1216152"/>
            <a:ext cx="1810512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>
                <a:solidFill>
                  <a:srgbClr val="2B2B2B"/>
                </a:solidFill>
                <a:latin typeface="Calibri"/>
              </a:rPr>
              <a:t>Henrik Strøm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09160" y="1443000"/>
            <a:ext cx="1810512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>
                <a:solidFill>
                  <a:srgbClr val="F50537"/>
                </a:solidFill>
                <a:latin typeface="Calibri"/>
              </a:rPr>
              <a:t>Co-Founder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09160" y="1623000"/>
            <a:ext cx="1810512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6B6B6B"/>
                </a:solidFill>
                <a:latin typeface="Calibri"/>
              </a:rPr>
              <a:t>Board of Directors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09160" y="1783000"/>
            <a:ext cx="1810512" cy="64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2B2B2B"/>
                </a:solidFill>
                <a:latin typeface="Calibri"/>
              </a:rPr>
              <a:t>Banking &amp; finance (Trøgstad Sparebank). Financial structure, reporting, bank dialogue.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711696" y="1143000"/>
            <a:ext cx="1975104" cy="1554480"/>
          </a:xfrm>
          <a:prstGeom prst="roundRect">
            <a:avLst>
              <a:gd name="adj" fmla="val 3000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711696" y="1143000"/>
            <a:ext cx="1975104" cy="38100"/>
          </a:xfrm>
          <a:prstGeom prst="rect">
            <a:avLst/>
          </a:prstGeom>
          <a:solidFill>
            <a:srgbClr val="F50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793992" y="1216152"/>
            <a:ext cx="1810512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>
                <a:solidFill>
                  <a:srgbClr val="2B2B2B"/>
                </a:solidFill>
                <a:latin typeface="Calibri"/>
              </a:rPr>
              <a:t>Fredrik Vangsal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93992" y="1443000"/>
            <a:ext cx="1810512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>
                <a:solidFill>
                  <a:srgbClr val="F50537"/>
                </a:solidFill>
                <a:latin typeface="Calibri"/>
              </a:rPr>
              <a:t>Co-Founder &amp; Technical Advisor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93992" y="1623000"/>
            <a:ext cx="1810512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6B6B6B"/>
                </a:solidFill>
                <a:latin typeface="Calibri"/>
              </a:rPr>
              <a:t>Board of Directors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93992" y="1783000"/>
            <a:ext cx="1810512" cy="64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2B2B2B"/>
                </a:solidFill>
                <a:latin typeface="Calibri"/>
              </a:rPr>
              <a:t>CEO Veira AS. IoT, AI &amp; sensor systems for government clients. MSc Innovation &amp; Entrepreneurship (NMBU). Azure &amp; Databricks certified.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2862072"/>
            <a:ext cx="82296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>
                <a:solidFill>
                  <a:srgbClr val="6B6B6B"/>
                </a:solidFill>
                <a:latin typeface="Calibri"/>
              </a:rPr>
              <a:t>ADVISORY BOARD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542032" y="3136392"/>
            <a:ext cx="1975104" cy="1005840"/>
          </a:xfrm>
          <a:prstGeom prst="roundRect">
            <a:avLst>
              <a:gd name="adj" fmla="val 3000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2542032" y="3136392"/>
            <a:ext cx="1975104" cy="38100"/>
          </a:xfrm>
          <a:prstGeom prst="rect">
            <a:avLst/>
          </a:prstGeom>
          <a:solidFill>
            <a:srgbClr val="F50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2624328" y="3209544"/>
            <a:ext cx="1810512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>
                <a:solidFill>
                  <a:srgbClr val="2B2B2B"/>
                </a:solidFill>
                <a:latin typeface="Calibri"/>
              </a:rPr>
              <a:t>Bjørnar Torsnes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624328" y="3436392"/>
            <a:ext cx="1810512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>
                <a:solidFill>
                  <a:srgbClr val="F50537"/>
                </a:solidFill>
                <a:latin typeface="Calibri"/>
              </a:rPr>
              <a:t>Industry &amp; Scaling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624328" y="3616392"/>
            <a:ext cx="1810512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2B2B2B"/>
                </a:solidFill>
                <a:latin typeface="Calibri"/>
              </a:rPr>
              <a:t>Chairman CodeIT (VW, TINE, Mowi clients). Enterprise sales &amp; scaling expertise.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626864" y="3136392"/>
            <a:ext cx="1975104" cy="1005840"/>
          </a:xfrm>
          <a:prstGeom prst="roundRect">
            <a:avLst>
              <a:gd name="adj" fmla="val 3000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4626864" y="3136392"/>
            <a:ext cx="1975104" cy="38100"/>
          </a:xfrm>
          <a:prstGeom prst="rect">
            <a:avLst/>
          </a:prstGeom>
          <a:solidFill>
            <a:srgbClr val="F50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4709160" y="3209544"/>
            <a:ext cx="1810512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>
                <a:solidFill>
                  <a:srgbClr val="2B2B2B"/>
                </a:solidFill>
                <a:latin typeface="Calibri"/>
              </a:rPr>
              <a:t>Andreas Mollatt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709160" y="3436392"/>
            <a:ext cx="1810512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>
                <a:solidFill>
                  <a:srgbClr val="F50537"/>
                </a:solidFill>
                <a:latin typeface="Calibri"/>
              </a:rPr>
              <a:t>Capital &amp; Scaleups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709160" y="3616392"/>
            <a:ext cx="1810512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2B2B2B"/>
                </a:solidFill>
                <a:latin typeface="Calibri"/>
              </a:rPr>
              <a:t>Physical Robotics CBO. Fundraising expertise (Otivio). Startup ecosystem.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313" y="4870905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>
                <a:solidFill>
                  <a:srgbClr val="FF0000"/>
                </a:solidFill>
                <a:latin typeface="Calibri"/>
              </a:rPr>
              <a:t>CONFIDENTIAL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743200" y="4870905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000" b="0">
                <a:solidFill>
                  <a:srgbClr val="6B6B6B"/>
                </a:solidFill>
                <a:latin typeface="Calibri"/>
              </a:rPr>
              <a:t>Aurelian Manufacturing AS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853687" y="4870905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0">
                <a:solidFill>
                  <a:srgbClr val="6B6B6B"/>
                </a:solidFill>
                <a:latin typeface="Calibri"/>
              </a:rPr>
              <a:t>February 2026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2B2B2B"/>
                </a:solidFill>
                <a:latin typeface="Calibri"/>
              </a:rPr>
              <a:t>Traction &amp; Execution Readiness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34440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50537"/>
                </a:solidFill>
                <a:latin typeface="Calibri"/>
              </a:rPr>
              <a:t>VALIDATED PROGRESS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00200"/>
            <a:ext cx="3840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F50537"/>
                </a:solidFill>
                <a:latin typeface="Calibri"/>
              </a:rPr>
              <a:t>✓  </a:t>
            </a:r>
            <a:r>
              <a:rPr sz="1200">
                <a:solidFill>
                  <a:srgbClr val="2B2B2B"/>
                </a:solidFill>
                <a:latin typeface="Calibri"/>
              </a:rPr>
              <a:t>Physical Robotics LOI signed (first reference customer)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92808"/>
            <a:ext cx="3840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F50537"/>
                </a:solidFill>
                <a:latin typeface="Calibri"/>
              </a:rPr>
              <a:t>✓  </a:t>
            </a:r>
            <a:r>
              <a:rPr sz="1200">
                <a:solidFill>
                  <a:srgbClr val="2B2B2B"/>
                </a:solidFill>
                <a:latin typeface="Calibri"/>
              </a:rPr>
              <a:t>Mazak partnership secured (CNC supplier)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85416"/>
            <a:ext cx="3840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F50537"/>
                </a:solidFill>
                <a:latin typeface="Calibri"/>
              </a:rPr>
              <a:t>✓  </a:t>
            </a:r>
            <a:r>
              <a:rPr sz="1200">
                <a:solidFill>
                  <a:srgbClr val="2B2B2B"/>
                </a:solidFill>
                <a:latin typeface="Calibri"/>
              </a:rPr>
              <a:t>Workshop location: Våler, Østfold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478024"/>
            <a:ext cx="3840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F50537"/>
                </a:solidFill>
                <a:latin typeface="Calibri"/>
              </a:rPr>
              <a:t>✓  </a:t>
            </a:r>
            <a:r>
              <a:rPr sz="1200">
                <a:solidFill>
                  <a:srgbClr val="2B2B2B"/>
                </a:solidFill>
                <a:latin typeface="Calibri"/>
              </a:rPr>
              <a:t>Norbygg developer partnership (build-to-suit)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770632"/>
            <a:ext cx="3840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F50537"/>
                </a:solidFill>
                <a:latin typeface="Calibri"/>
              </a:rPr>
              <a:t>✓  </a:t>
            </a:r>
            <a:r>
              <a:rPr sz="1200">
                <a:solidFill>
                  <a:srgbClr val="2B2B2B"/>
                </a:solidFill>
                <a:latin typeface="Calibri"/>
              </a:rPr>
              <a:t>Shop layout and automation architecture defined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063240"/>
            <a:ext cx="3840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F50537"/>
                </a:solidFill>
                <a:latin typeface="Calibri"/>
              </a:rPr>
              <a:t>✓  </a:t>
            </a:r>
            <a:r>
              <a:rPr sz="1200">
                <a:solidFill>
                  <a:srgbClr val="2B2B2B"/>
                </a:solidFill>
                <a:latin typeface="Calibri"/>
              </a:rPr>
              <a:t>Production concept validated with industry advisors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63440" y="1234440"/>
            <a:ext cx="4023360" cy="685800"/>
          </a:xfrm>
          <a:prstGeom prst="roundRect">
            <a:avLst/>
          </a:prstGeom>
          <a:solidFill>
            <a:srgbClr val="2B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800600" y="1280160"/>
            <a:ext cx="3749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12 MONTHS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00600" y="1600200"/>
            <a:ext cx="3749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  <a:latin typeface="Calibri"/>
              </a:rPr>
              <a:t>From investment to production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2057400"/>
            <a:ext cx="4023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B2B2B"/>
                </a:solidFill>
                <a:latin typeface="Calibri"/>
              </a:rPr>
              <a:t>First production: August 2027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2377440"/>
            <a:ext cx="3749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6B6B"/>
                </a:solidFill>
                <a:latin typeface="Calibri"/>
              </a:rPr>
              <a:t>•  2,635 m² purpose-built facility (first phase)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00600" y="2596896"/>
            <a:ext cx="3749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6B6B"/>
                </a:solidFill>
                <a:latin typeface="Calibri"/>
              </a:rPr>
              <a:t>•  Scalable to 20–25 CNC machines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0600" y="2816352"/>
            <a:ext cx="3749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6B6B"/>
                </a:solidFill>
                <a:latin typeface="Calibri"/>
              </a:rPr>
              <a:t>•  Multi-modal logistics (rail, sea, road, air)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00600" y="3035808"/>
            <a:ext cx="3749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6B6B"/>
                </a:solidFill>
                <a:latin typeface="Calibri"/>
              </a:rPr>
              <a:t>•  Strategic location: Våler, Østfold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0600" y="3255264"/>
            <a:ext cx="3749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6B6B"/>
                </a:solidFill>
                <a:latin typeface="Calibri"/>
              </a:rPr>
              <a:t>•  Norbygg build-to-suit lease: 5.2 MNOK/year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3474720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B2B2B"/>
                </a:solidFill>
                <a:latin typeface="Calibri"/>
              </a:rPr>
              <a:t>KEY MILESTONES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3730752"/>
            <a:ext cx="12801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B2B2B"/>
                </a:solidFill>
                <a:latin typeface="Calibri"/>
              </a:rPr>
              <a:t>Q1-Q2 2026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388620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6B6B"/>
                </a:solidFill>
                <a:latin typeface="Calibri"/>
              </a:rPr>
              <a:t>Seed close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28800" y="3730752"/>
            <a:ext cx="12801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B2B2B"/>
                </a:solidFill>
                <a:latin typeface="Calibri"/>
              </a:rPr>
              <a:t>Q2 2026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28800" y="388620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6B6B"/>
                </a:solidFill>
                <a:latin typeface="Calibri"/>
              </a:rPr>
              <a:t>Machine order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00400" y="3730752"/>
            <a:ext cx="12801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B2B2B"/>
                </a:solidFill>
                <a:latin typeface="Calibri"/>
              </a:rPr>
              <a:t>Q3-Q4 2026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00400" y="388620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6B6B"/>
                </a:solidFill>
                <a:latin typeface="Calibri"/>
              </a:rPr>
              <a:t>Facility build + Key hires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3730752"/>
            <a:ext cx="12801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B2B2B"/>
                </a:solidFill>
                <a:latin typeface="Calibri"/>
              </a:rPr>
              <a:t>Q2 2027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388620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6B6B"/>
                </a:solidFill>
                <a:latin typeface="Calibri"/>
              </a:rPr>
              <a:t>Machines delivered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0" y="3730752"/>
            <a:ext cx="12801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B2B2B"/>
                </a:solidFill>
                <a:latin typeface="Calibri"/>
              </a:rPr>
              <a:t>Aug 2027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0" y="388620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6B6B"/>
                </a:solidFill>
                <a:latin typeface="Calibri"/>
              </a:rPr>
              <a:t>Production start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0" y="3730752"/>
            <a:ext cx="12801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B2B2B"/>
                </a:solidFill>
                <a:latin typeface="Calibri"/>
              </a:rPr>
              <a:t>Q4 2027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0" y="388620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6B6B"/>
                </a:solidFill>
                <a:latin typeface="Calibri"/>
              </a:rPr>
              <a:t>ISO 9001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E2A360A-9AC6-69B1-0331-F0F0188800C5}"/>
              </a:ext>
            </a:extLst>
          </p:cNvPr>
          <p:cNvSpPr txBox="1"/>
          <p:nvPr/>
        </p:nvSpPr>
        <p:spPr>
          <a:xfrm>
            <a:off x="4313" y="4870905"/>
            <a:ext cx="1828800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/>
            <a:r>
              <a:rPr sz="1000" b="0" i="0">
                <a:solidFill>
                  <a:srgbClr val="FF0000"/>
                </a:solidFill>
                <a:latin typeface="Calibri"/>
              </a:rPr>
              <a:t>CONFIDENTIAL</a:t>
            </a:r>
            <a:endParaRPr lang="en-US" sz="1000" b="0" i="0">
              <a:solidFill>
                <a:srgbClr val="FF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02D2F341-6C8D-538C-7A3C-BA91B965EB9C}"/>
              </a:ext>
            </a:extLst>
          </p:cNvPr>
          <p:cNvSpPr txBox="1"/>
          <p:nvPr/>
        </p:nvSpPr>
        <p:spPr>
          <a:xfrm>
            <a:off x="6853687" y="4870905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B6B6B"/>
                </a:solidFill>
                <a:latin typeface="Calibri"/>
              </a:rPr>
              <a:t>February 2026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FE6814B7-792B-9350-22CD-BF18C782D08D}"/>
              </a:ext>
            </a:extLst>
          </p:cNvPr>
          <p:cNvSpPr txBox="1"/>
          <p:nvPr/>
        </p:nvSpPr>
        <p:spPr>
          <a:xfrm>
            <a:off x="2743200" y="4870905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B6B6B"/>
                </a:solidFill>
                <a:latin typeface="Calibri"/>
              </a:rPr>
              <a:t>Aurelian Manufacturing AS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4572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 i="0">
                <a:solidFill>
                  <a:srgbClr val="FFFFFF"/>
                </a:solidFill>
                <a:latin typeface="Calibri"/>
              </a:rPr>
              <a:t>The Ask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0" y="1005840"/>
            <a:ext cx="1828800" cy="38100"/>
          </a:xfrm>
          <a:prstGeom prst="rect">
            <a:avLst/>
          </a:prstGeom>
          <a:solidFill>
            <a:srgbClr val="F50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1368424" y="1196658"/>
            <a:ext cx="6491111" cy="502920"/>
          </a:xfrm>
          <a:prstGeom prst="roundRect">
            <a:avLst/>
          </a:prstGeom>
          <a:solidFill>
            <a:srgbClr val="F50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b="1" baseline="0">
                <a:solidFill>
                  <a:srgbClr val="FFFFFF"/>
                </a:solidFill>
                <a:latin typeface="Calibri"/>
              </a:rPr>
              <a:t>PreSeed Round — 5 MNOK at 25 MNOK Pre-Money</a:t>
            </a:r>
            <a:r>
              <a:rPr lang="en-US" sz="2200">
                <a:latin typeface="Calibri"/>
                <a:ea typeface="Calibri"/>
                <a:cs typeface="Calibri"/>
              </a:rPr>
              <a:t>​</a:t>
            </a:r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731520" y="1920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0537"/>
                </a:solidFill>
                <a:latin typeface="Calibri"/>
              </a:rPr>
              <a:t>USE OF FUNDS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8262" y="3359239"/>
            <a:ext cx="4300643" cy="292388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sz="1300" b="0" i="0">
                <a:solidFill>
                  <a:srgbClr val="FFFFFF"/>
                </a:solidFill>
                <a:latin typeface="Calibri"/>
              </a:rPr>
              <a:t>Planning &amp; engineering (1.0M)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9455" y="2772960"/>
            <a:ext cx="3520440" cy="292388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1300" b="0" i="0">
                <a:solidFill>
                  <a:schemeClr val="bg1"/>
                </a:solidFill>
                <a:latin typeface="Calibri"/>
              </a:rPr>
              <a:t>Team &amp; advisory (1.0M)</a:t>
            </a:r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851195" y="2477268"/>
            <a:ext cx="3520440" cy="292388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1300">
                <a:solidFill>
                  <a:schemeClr val="bg1"/>
                </a:solidFill>
                <a:latin typeface="Calibri"/>
              </a:rPr>
              <a:t>Supplier LOIs &amp; regulatory preparation (1.0M)</a:t>
            </a:r>
            <a:endParaRPr lang="en-US">
              <a:solidFill>
                <a:schemeClr val="bg1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49455" y="2185189"/>
            <a:ext cx="3520440" cy="292388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1300">
                <a:solidFill>
                  <a:schemeClr val="bg1"/>
                </a:solidFill>
                <a:latin typeface="Calibri"/>
              </a:rPr>
              <a:t>Concept validation &amp; customer discovery (1.5M)</a:t>
            </a:r>
            <a:endParaRPr lang="en-US" sz="130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027262" y="3899396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6B6B"/>
                </a:solidFill>
                <a:latin typeface="Calibri"/>
              </a:rPr>
              <a:t>Equity only — 5.0 MNOK (no bank debt)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0" y="1920240"/>
            <a:ext cx="12700" cy="2103120"/>
          </a:xfrm>
          <a:prstGeom prst="rect">
            <a:avLst/>
          </a:prstGeom>
          <a:solidFill>
            <a:srgbClr val="6B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846320" y="1920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0537"/>
                </a:solidFill>
                <a:latin typeface="Calibri"/>
              </a:rPr>
              <a:t>DEAL TERMS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75650" y="2264434"/>
            <a:ext cx="1828800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1000">
                <a:solidFill>
                  <a:schemeClr val="bg1">
                    <a:lumMod val="76000"/>
                  </a:schemeClr>
                </a:solidFill>
                <a:latin typeface="Calibri"/>
              </a:rPr>
              <a:t>PreSeed investors position</a:t>
            </a:r>
            <a:endParaRPr lang="en-US">
              <a:solidFill>
                <a:schemeClr val="bg1">
                  <a:lumMod val="76000"/>
                </a:schemeClr>
              </a:solidFill>
              <a:ea typeface="Calibri"/>
              <a:cs typeface="Calibri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825651" y="2253651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16.7%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86433" y="2526159"/>
            <a:ext cx="1828800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sz="1000" b="0" i="0">
                <a:solidFill>
                  <a:schemeClr val="bg1">
                    <a:lumMod val="76000"/>
                  </a:schemeClr>
                </a:solidFill>
                <a:latin typeface="Calibri"/>
              </a:rPr>
              <a:t>Exit (base case</a:t>
            </a:r>
            <a:r>
              <a:rPr lang="en-US" sz="1000">
                <a:solidFill>
                  <a:schemeClr val="bg1">
                    <a:lumMod val="76000"/>
                  </a:schemeClr>
                </a:solidFill>
                <a:latin typeface="Calibri"/>
              </a:rPr>
              <a:t> 60% utz)</a:t>
            </a:r>
            <a:endParaRPr lang="en-US" sz="1000" b="0" i="0">
              <a:solidFill>
                <a:schemeClr val="bg1">
                  <a:lumMod val="76000"/>
                </a:schemeClr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836434" y="2515376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2.3B NOK (10× EBITDA)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86433" y="2818767"/>
            <a:ext cx="18288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FBFBF"/>
                </a:solidFill>
                <a:latin typeface="Calibri"/>
              </a:rPr>
              <a:t>First revenue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36434" y="2807984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August 2027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86433" y="3111375"/>
            <a:ext cx="1828800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/>
            <a:r>
              <a:rPr lang="en-US" sz="1000" b="0" i="0">
                <a:solidFill>
                  <a:schemeClr val="bg1">
                    <a:lumMod val="76000"/>
                  </a:schemeClr>
                </a:solidFill>
                <a:latin typeface="Calibri"/>
              </a:rPr>
              <a:t>Break-</a:t>
            </a:r>
            <a:r>
              <a:rPr sz="1000" b="0" i="0">
                <a:solidFill>
                  <a:schemeClr val="bg1">
                    <a:lumMod val="76000"/>
                  </a:schemeClr>
                </a:solidFill>
                <a:latin typeface="Calibri"/>
              </a:rPr>
              <a:t>even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36434" y="3100592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~24% utilization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4114800"/>
            <a:ext cx="9144000" cy="12700"/>
          </a:xfrm>
          <a:prstGeom prst="rect">
            <a:avLst/>
          </a:prstGeom>
          <a:solidFill>
            <a:srgbClr val="6B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-10783" y="4314070"/>
            <a:ext cx="4572000" cy="292388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sz="1300" b="0" i="0">
                <a:solidFill>
                  <a:schemeClr val="bg1">
                    <a:lumMod val="49000"/>
                  </a:schemeClr>
                </a:solidFill>
                <a:latin typeface="Calibri"/>
              </a:rPr>
              <a:t>André Tandberg, CEO — andre@aurelian.no</a:t>
            </a:r>
            <a:endParaRPr lang="en-US" sz="1300" b="0" i="0">
              <a:solidFill>
                <a:schemeClr val="bg1">
                  <a:lumMod val="49000"/>
                </a:schemeClr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4561217" y="4314070"/>
            <a:ext cx="4572000" cy="292388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sz="1300" b="0" i="0">
                <a:solidFill>
                  <a:schemeClr val="bg1">
                    <a:lumMod val="49000"/>
                  </a:schemeClr>
                </a:solidFill>
                <a:latin typeface="Calibri"/>
              </a:rPr>
              <a:t>Tore Ausland, VP BD — tore@aurelian.no</a:t>
            </a:r>
            <a:endParaRPr lang="en-US">
              <a:solidFill>
                <a:schemeClr val="bg1">
                  <a:lumMod val="49000"/>
                </a:schemeClr>
              </a:solidFill>
              <a:ea typeface="Calibri"/>
              <a:cs typeface="Calibri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AC3E2F5-4F4E-6C9F-5F38-FB448AE51EA4}"/>
              </a:ext>
            </a:extLst>
          </p:cNvPr>
          <p:cNvSpPr txBox="1"/>
          <p:nvPr/>
        </p:nvSpPr>
        <p:spPr>
          <a:xfrm>
            <a:off x="4313" y="4870905"/>
            <a:ext cx="1828800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/>
            <a:r>
              <a:rPr sz="1000" b="0" i="0">
                <a:solidFill>
                  <a:srgbClr val="FF0000"/>
                </a:solidFill>
                <a:latin typeface="Calibri"/>
              </a:rPr>
              <a:t>CONFIDENTIAL</a:t>
            </a:r>
            <a:endParaRPr lang="en-US" sz="1000" b="0" i="0">
              <a:solidFill>
                <a:srgbClr val="FF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6E3067B-F398-7A0D-A537-1F5D7053A60D}"/>
              </a:ext>
            </a:extLst>
          </p:cNvPr>
          <p:cNvSpPr txBox="1"/>
          <p:nvPr/>
        </p:nvSpPr>
        <p:spPr>
          <a:xfrm>
            <a:off x="6853687" y="4870905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B6B6B"/>
                </a:solidFill>
                <a:latin typeface="Calibri"/>
              </a:rPr>
              <a:t>February 2026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8D78D5F-3546-3D36-B08F-86B5DA9D7836}"/>
              </a:ext>
            </a:extLst>
          </p:cNvPr>
          <p:cNvSpPr txBox="1"/>
          <p:nvPr/>
        </p:nvSpPr>
        <p:spPr>
          <a:xfrm>
            <a:off x="2743200" y="4870905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B6B6B"/>
                </a:solidFill>
                <a:latin typeface="Calibri"/>
              </a:rPr>
              <a:t>Aurelian Manufacturing AS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1F867E2-78F9-4D33-6EF6-212860F5C872}"/>
              </a:ext>
            </a:extLst>
          </p:cNvPr>
          <p:cNvSpPr txBox="1"/>
          <p:nvPr/>
        </p:nvSpPr>
        <p:spPr>
          <a:xfrm>
            <a:off x="849454" y="3064418"/>
            <a:ext cx="3520440" cy="292388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1300">
                <a:solidFill>
                  <a:schemeClr val="bg1"/>
                </a:solidFill>
                <a:latin typeface="Calibri"/>
              </a:rPr>
              <a:t>Buffer (0.5M)</a:t>
            </a:r>
            <a:endParaRPr lang="en-US">
              <a:solidFill>
                <a:schemeClr val="bg1"/>
              </a:solidFill>
              <a:ea typeface="Calibri"/>
              <a:cs typeface="Calibri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6525AA8-E63D-E0FB-D2D6-36A9EEC50E4A}"/>
              </a:ext>
            </a:extLst>
          </p:cNvPr>
          <p:cNvSpPr txBox="1"/>
          <p:nvPr/>
        </p:nvSpPr>
        <p:spPr>
          <a:xfrm>
            <a:off x="848261" y="3652315"/>
            <a:ext cx="4300643" cy="292388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1300">
                <a:solidFill>
                  <a:schemeClr val="bg1"/>
                </a:solidFill>
                <a:latin typeface="Calibri"/>
              </a:rPr>
              <a:t>100% allocated to execution</a:t>
            </a:r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72133AD6-7AFF-540D-3FD2-802C648C576F}"/>
              </a:ext>
            </a:extLst>
          </p:cNvPr>
          <p:cNvSpPr/>
          <p:nvPr/>
        </p:nvSpPr>
        <p:spPr>
          <a:xfrm>
            <a:off x="827196" y="2219349"/>
            <a:ext cx="45427" cy="1701897"/>
          </a:xfrm>
          <a:prstGeom prst="rect">
            <a:avLst/>
          </a:prstGeom>
          <a:solidFill>
            <a:srgbClr val="F50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2B2B2B"/>
                </a:solidFill>
                <a:latin typeface="Calibri"/>
              </a:rPr>
              <a:t>References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325880"/>
            <a:ext cx="6400800" cy="274320"/>
          </a:xfrm>
          <a:prstGeom prst="rect">
            <a:avLst/>
          </a:prstGeom>
          <a:solidFill>
            <a:srgbClr val="2B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353312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VDR REF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1353312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DOCUMENT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600200"/>
            <a:ext cx="6400800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1618488"/>
            <a:ext cx="10972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B2B2B"/>
                </a:solidFill>
                <a:latin typeface="Calibri"/>
              </a:rPr>
              <a:t>02.04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1618488"/>
            <a:ext cx="50292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B2B2B"/>
                </a:solidFill>
                <a:latin typeface="Calibri"/>
              </a:rPr>
              <a:t>02 Economic Tables &amp; Projections (master document)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856232"/>
            <a:ext cx="6400800" cy="25603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48640" y="1874520"/>
            <a:ext cx="10972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B2B2B"/>
                </a:solidFill>
                <a:latin typeface="Calibri"/>
              </a:rPr>
              <a:t>03.02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1874520"/>
            <a:ext cx="50292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B2B2B"/>
                </a:solidFill>
                <a:latin typeface="Calibri"/>
              </a:rPr>
              <a:t>CNC Benchmark &amp; Competitive Landscape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112264"/>
            <a:ext cx="6400800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48640" y="2130552"/>
            <a:ext cx="10972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B2B2B"/>
                </a:solidFill>
                <a:latin typeface="Calibri"/>
              </a:rPr>
              <a:t>03.04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45920" y="2130552"/>
            <a:ext cx="50292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B2B2B"/>
                </a:solidFill>
                <a:latin typeface="Calibri"/>
              </a:rPr>
              <a:t>Go-To-Market Strategy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368296"/>
            <a:ext cx="6400800" cy="25603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48640" y="2386584"/>
            <a:ext cx="10972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B2B2B"/>
                </a:solidFill>
                <a:latin typeface="Calibri"/>
              </a:rPr>
              <a:t>03.05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45920" y="2386584"/>
            <a:ext cx="50292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B2B2B"/>
                </a:solidFill>
                <a:latin typeface="Calibri"/>
              </a:rPr>
              <a:t>Pricing &amp; Revenue Model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2624328"/>
            <a:ext cx="6400800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48640" y="2642616"/>
            <a:ext cx="10972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B2B2B"/>
                </a:solidFill>
                <a:latin typeface="Calibri"/>
              </a:rPr>
              <a:t>03.06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20" y="2642616"/>
            <a:ext cx="50292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B2B2B"/>
                </a:solidFill>
                <a:latin typeface="Calibri"/>
              </a:rPr>
              <a:t>Market Trends &amp; Projections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2880360"/>
            <a:ext cx="6400800" cy="25603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48640" y="2898648"/>
            <a:ext cx="10972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B2B2B"/>
                </a:solidFill>
                <a:latin typeface="Calibri"/>
              </a:rPr>
              <a:t>04.05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45920" y="2898648"/>
            <a:ext cx="50292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B2B2B"/>
                </a:solidFill>
                <a:latin typeface="Calibri"/>
              </a:rPr>
              <a:t>Quality Certification Roadmap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3136392"/>
            <a:ext cx="6400800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48640" y="3154680"/>
            <a:ext cx="10972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B2B2B"/>
                </a:solidFill>
                <a:latin typeface="Calibri"/>
              </a:rPr>
              <a:t>04.06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645920" y="3154680"/>
            <a:ext cx="50292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B2B2B"/>
                </a:solidFill>
                <a:latin typeface="Calibri"/>
              </a:rPr>
              <a:t>Production Timeline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3392424"/>
            <a:ext cx="6400800" cy="25603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48640" y="3410712"/>
            <a:ext cx="10972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B2B2B"/>
                </a:solidFill>
                <a:latin typeface="Calibri"/>
              </a:rPr>
              <a:t>04.07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645920" y="3410712"/>
            <a:ext cx="50292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B2B2B"/>
                </a:solidFill>
                <a:latin typeface="Calibri"/>
              </a:rPr>
              <a:t>Risk Register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3648456"/>
            <a:ext cx="6400800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48640" y="3666744"/>
            <a:ext cx="10972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B2B2B"/>
                </a:solidFill>
                <a:latin typeface="Calibri"/>
              </a:rPr>
              <a:t>06.04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645920" y="3666744"/>
            <a:ext cx="50292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B2B2B"/>
                </a:solidFill>
                <a:latin typeface="Calibri"/>
              </a:rPr>
              <a:t>Key Hires Plan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4041648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6B6B"/>
                </a:solidFill>
                <a:latin typeface="Calibri"/>
              </a:rPr>
              <a:t>All financial figures reference the master document: 02 Economic Tables &amp; Projections (VDR 02.04).
Full Virtual Data Room available upon request.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3F10C5D-86F4-0EE4-DA4C-F6A0EBD280C8}"/>
              </a:ext>
            </a:extLst>
          </p:cNvPr>
          <p:cNvSpPr txBox="1"/>
          <p:nvPr/>
        </p:nvSpPr>
        <p:spPr>
          <a:xfrm>
            <a:off x="4313" y="4870905"/>
            <a:ext cx="1828800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/>
            <a:r>
              <a:rPr sz="1000" b="0" i="0">
                <a:solidFill>
                  <a:srgbClr val="FF0000"/>
                </a:solidFill>
                <a:latin typeface="Calibri"/>
              </a:rPr>
              <a:t>CONFIDENTIAL</a:t>
            </a:r>
            <a:endParaRPr lang="en-US" sz="1000" b="0" i="0">
              <a:solidFill>
                <a:srgbClr val="FF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3C782BE1-B904-9282-78A1-EA533E769731}"/>
              </a:ext>
            </a:extLst>
          </p:cNvPr>
          <p:cNvSpPr txBox="1"/>
          <p:nvPr/>
        </p:nvSpPr>
        <p:spPr>
          <a:xfrm>
            <a:off x="6853687" y="4870905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B6B6B"/>
                </a:solidFill>
                <a:latin typeface="Calibri"/>
              </a:rPr>
              <a:t>February 2026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5F727364-D16F-0296-7156-74B15AA56CFD}"/>
              </a:ext>
            </a:extLst>
          </p:cNvPr>
          <p:cNvSpPr txBox="1"/>
          <p:nvPr/>
        </p:nvSpPr>
        <p:spPr>
          <a:xfrm>
            <a:off x="2743200" y="4870905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B6B6B"/>
                </a:solidFill>
                <a:latin typeface="Calibri"/>
              </a:rPr>
              <a:t>Aurelian Manufacturing AS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1837</Words>
  <Application>Microsoft Office PowerPoint</Application>
  <PresentationFormat>Skjermfremvisning (16:9)</PresentationFormat>
  <Paragraphs>356</Paragraphs>
  <Slides>14</Slides>
  <Notes>1</Notes>
  <HiddenSlides>0</HiddenSlides>
  <MMClips>0</MMClips>
  <ScaleCrop>false</ScaleCrop>
  <HeadingPairs>
    <vt:vector size="6" baseType="variant">
      <vt:variant>
        <vt:lpstr>Brukte skrifter</vt:lpstr>
      </vt:variant>
      <vt:variant>
        <vt:i4>2</vt:i4>
      </vt:variant>
      <vt:variant>
        <vt:lpstr>Tema</vt:lpstr>
      </vt:variant>
      <vt:variant>
        <vt:i4>1</vt:i4>
      </vt:variant>
      <vt:variant>
        <vt:lpstr>Lysbildetitler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PowerPoint-presentasjon</vt:lpstr>
      <vt:lpstr>PowerPoint-presentasjon</vt:lpstr>
      <vt:lpstr>PowerPoint-presentasjon</vt:lpstr>
      <vt:lpstr>PowerPoint-presentasjon</vt:lpstr>
      <vt:lpstr>PowerPoint-presentasjon</vt:lpstr>
      <vt:lpstr>PowerPoint-presentasjon</vt:lpstr>
      <vt:lpstr>PowerPoint-presentasjon</vt:lpstr>
      <vt:lpstr>PowerPoint-presentasjon</vt:lpstr>
      <vt:lpstr>PowerPoint-presentasjon</vt:lpstr>
      <vt:lpstr>PowerPoint-presentasjon</vt:lpstr>
      <vt:lpstr>PowerPoint-presentasjon</vt:lpstr>
      <vt:lpstr>PowerPoint-presentasjon</vt:lpstr>
      <vt:lpstr>PowerPoint-presentasjon</vt:lpstr>
      <vt:lpstr>PowerPoint-presentasjon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Tore Ausland</dc:creator>
  <cp:keywords/>
  <dc:description>generated using python-pptx</dc:description>
  <cp:lastModifiedBy>Tore Ausland</cp:lastModifiedBy>
  <cp:revision>101</cp:revision>
  <dcterms:created xsi:type="dcterms:W3CDTF">2013-01-27T09:14:16Z</dcterms:created>
  <dcterms:modified xsi:type="dcterms:W3CDTF">2026-02-17T18:41:00Z</dcterms:modified>
  <cp:category/>
</cp:coreProperties>
</file>