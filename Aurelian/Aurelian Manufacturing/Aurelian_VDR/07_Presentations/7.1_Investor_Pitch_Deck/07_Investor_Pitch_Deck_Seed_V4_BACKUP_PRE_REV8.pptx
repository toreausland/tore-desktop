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05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e Ausland" userId="aba57685-d7d9-45f9-a74d-a4b3d109653f" providerId="ADAL" clId="{C7003D35-0069-4681-A939-A1D689C68C91}"/>
    <pc:docChg chg="modSld">
      <pc:chgData name="Tore Ausland" userId="aba57685-d7d9-45f9-a74d-a4b3d109653f" providerId="ADAL" clId="{C7003D35-0069-4681-A939-A1D689C68C91}" dt="2026-02-16T10:12:13.742" v="5" actId="20577"/>
      <pc:docMkLst>
        <pc:docMk/>
      </pc:docMkLst>
      <pc:sldChg chg="modSp mod">
        <pc:chgData name="Tore Ausland" userId="aba57685-d7d9-45f9-a74d-a4b3d109653f" providerId="ADAL" clId="{C7003D35-0069-4681-A939-A1D689C68C91}" dt="2026-02-16T10:12:13.742" v="5" actId="20577"/>
        <pc:sldMkLst>
          <pc:docMk/>
          <pc:sldMk cId="0" sldId="256"/>
        </pc:sldMkLst>
        <pc:spChg chg="mod">
          <ac:chgData name="Tore Ausland" userId="aba57685-d7d9-45f9-a74d-a4b3d109653f" providerId="ADAL" clId="{C7003D35-0069-4681-A939-A1D689C68C91}" dt="2026-02-16T10:12:13.742" v="5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53D6E3-9B20-47CE-AB5C-7CAAB06076AE}" type="datetimeFigureOut">
              <a:t>16.02.2026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1DE64-799A-4224-BF0C-E9A5C1B2335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10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Base case exit:</a:t>
            </a:r>
            <a:r>
              <a:rPr lang="en-US"/>
              <a:t> 20 CNC @ </a:t>
            </a:r>
            <a:r>
              <a:rPr lang="en-US" b="1"/>
              <a:t>60% utilization</a:t>
            </a:r>
            <a:r>
              <a:rPr lang="en-US"/>
              <a:t> → ~223 MNOK EBITDA × 10x = </a:t>
            </a:r>
            <a:r>
              <a:rPr lang="en-US" b="1"/>
              <a:t>~2,230 MNOK (2.3B NOK)</a:t>
            </a:r>
            <a:endParaRPr lang="en-US"/>
          </a:p>
          <a:p>
            <a:r>
              <a:rPr lang="en-US"/>
              <a:t>45% ligger nærmere </a:t>
            </a:r>
            <a:r>
              <a:rPr lang="en-US" b="1"/>
              <a:t>Conservative-scenariet</a:t>
            </a:r>
            <a:r>
              <a:rPr lang="en-US"/>
              <a:t> (50% util → ~1,570 MNOK) og </a:t>
            </a:r>
            <a:r>
              <a:rPr lang="en-US" b="1"/>
              <a:t>Bear-scenariet</a:t>
            </a:r>
            <a:r>
              <a:rPr lang="en-US"/>
              <a:t> (40% util → ~1,005 MNOK).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1DE64-799A-4224-BF0C-E9A5C1B23352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190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Aurelian Manufacturing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3536103"/>
            <a:ext cx="2743200" cy="4445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423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F50537"/>
                </a:solidFill>
                <a:latin typeface="Calibri"/>
              </a:rPr>
              <a:t>Production as a Service — Autonomous, Data-Driven, and Scalable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FFFFFF"/>
                </a:solidFill>
                <a:latin typeface="Calibri"/>
              </a:rPr>
              <a:t>Seed Round — 5</a:t>
            </a:r>
            <a:r>
              <a:rPr lang="nb-NO" sz="1800" b="0" i="0" dirty="0">
                <a:solidFill>
                  <a:srgbClr val="FFFFFF"/>
                </a:solidFill>
                <a:latin typeface="Calibri"/>
              </a:rPr>
              <a:t>1,3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 MNOK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828800" cy="274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1200" b="0" i="0">
                <a:solidFill>
                  <a:srgbClr val="F50537"/>
                </a:solidFill>
                <a:latin typeface="Calibri"/>
              </a:rPr>
              <a:t>CONFIDENTIAL</a:t>
            </a:r>
            <a:endParaRPr lang="en-US">
              <a:solidFill>
                <a:srgbClr val="F50537"/>
              </a:solidFill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b-NO" sz="3600" b="1" i="0" dirty="0">
                <a:solidFill>
                  <a:srgbClr val="2B2B2B"/>
                </a:solidFill>
                <a:latin typeface="Calibri"/>
              </a:rPr>
              <a:t>The </a:t>
            </a:r>
            <a:r>
              <a:rPr lang="nb-NO" sz="3600" b="1" i="0" dirty="0" err="1">
                <a:solidFill>
                  <a:srgbClr val="2B2B2B"/>
                </a:solidFill>
                <a:latin typeface="Calibri"/>
              </a:rPr>
              <a:t>Opportunity</a:t>
            </a:r>
            <a:r>
              <a:rPr sz="3600" b="1" i="0" dirty="0">
                <a:solidFill>
                  <a:srgbClr val="2B2B2B"/>
                </a:solidFill>
                <a:latin typeface="Calibri"/>
              </a:rPr>
              <a:t>— </a:t>
            </a:r>
            <a:r>
              <a:rPr lang="nb-NO" sz="3600" b="1" i="0" dirty="0">
                <a:solidFill>
                  <a:srgbClr val="2B2B2B"/>
                </a:solidFill>
                <a:latin typeface="Calibri"/>
              </a:rPr>
              <a:t>Mega Trends</a:t>
            </a:r>
            <a:endParaRPr sz="3600" b="1" i="0" dirty="0">
              <a:solidFill>
                <a:srgbClr val="2B2B2B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6B6B6B"/>
                </a:solidFill>
                <a:latin typeface="Calibri"/>
              </a:rPr>
              <a:t>Structural demand drivers spanning 2026–2035 and beyond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52089"/>
            <a:ext cx="82296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379521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2B2B2B"/>
                </a:solidFill>
                <a:latin typeface="Calibri"/>
              </a:rPr>
              <a:t>“The Norwegian defense industry shows strong growth potential and could become larger than the seafood industry.” — Aftenposten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27523"/>
            <a:ext cx="2514600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100675"/>
            <a:ext cx="251460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500" b="1" i="0">
                <a:solidFill>
                  <a:srgbClr val="2B2B2B"/>
                </a:solidFill>
                <a:latin typeface="Calibri"/>
              </a:rPr>
              <a:t>Defense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2347563"/>
            <a:ext cx="251460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 b="1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Path to 5% GDP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" y="2594451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Norway invests 1,624B NOK in the coming period (2025–2036). Norwegian defense budget growth creates multi-decade demand for precision-machined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4700" y="2027523"/>
            <a:ext cx="2514600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14700" y="2100675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Energy &amp; Renewable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4700" y="2439003"/>
            <a:ext cx="2514600" cy="11079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1100">
              <a:solidFill>
                <a:srgbClr val="2B2B2B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Europe’s energy sector faces a shortage of precision machining capacity — structural High Mix/Low Volume demand that only scales through automation.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2027523"/>
            <a:ext cx="2514600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2100675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Labour Shortage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439003"/>
            <a:ext cx="2514600" cy="9387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1100">
              <a:solidFill>
                <a:srgbClr val="2B2B2B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Norway faces a critical shortage of minimum 39,000 skilled workers — precision manufacturing cannot hire its way to capacity.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72200" y="3261963"/>
            <a:ext cx="2514600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1000" b="1">
              <a:solidFill>
                <a:srgbClr val="2B2B2B"/>
              </a:solidFill>
              <a:latin typeface="Calibri"/>
            </a:endParaRPr>
          </a:p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The future of HMLV manufacturing is digital, automated and labor-agnostic.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50537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5053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5C3C2E6A-3C32-34CE-6CD2-8925D00A2E44}"/>
              </a:ext>
            </a:extLst>
          </p:cNvPr>
          <p:cNvSpPr/>
          <p:nvPr/>
        </p:nvSpPr>
        <p:spPr>
          <a:xfrm>
            <a:off x="457200" y="39136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Signal: Hadrian Automation</a:t>
            </a:r>
            <a:endParaRPr lang="en-US" sz="130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6571091C-3DBA-CB48-F911-410F167627B4}"/>
              </a:ext>
            </a:extLst>
          </p:cNvPr>
          <p:cNvSpPr/>
          <p:nvPr/>
        </p:nvSpPr>
        <p:spPr>
          <a:xfrm>
            <a:off x="457200" y="413797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Nov 2020, Latest round: ~$1.6B valuation, Led by T. Rowe Price and Andreessen Horowitz's a16z participated. Validates autonomous precision manufacturing for venture scale.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The Problem &amp;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0537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84048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Traditional HMLV Workshops Are Structurally Constrained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129" y="2029097"/>
            <a:ext cx="384048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✗</a:t>
            </a:r>
            <a:r>
              <a:rPr lang="en-US" sz="1600" b="1">
                <a:solidFill>
                  <a:srgbClr val="F50537"/>
                </a:solidFill>
                <a:latin typeface="Calibri"/>
              </a:rPr>
              <a:t> </a:t>
            </a:r>
            <a:r>
              <a:rPr sz="1600" b="1">
                <a:solidFill>
                  <a:srgbClr val="F50537"/>
                </a:solidFill>
                <a:latin typeface="Calibri"/>
              </a:rPr>
              <a:t> </a:t>
            </a:r>
            <a:r>
              <a:rPr sz="1300">
                <a:solidFill>
                  <a:srgbClr val="2B2B2B"/>
                </a:solidFill>
                <a:latin typeface="Calibri"/>
              </a:rPr>
              <a:t>Not designed for high machine utilization</a:t>
            </a:r>
            <a:endParaRPr lang="en-US" sz="1300">
              <a:solidFill>
                <a:srgbClr val="2B2B2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129" y="2376569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✗  </a:t>
            </a:r>
            <a:r>
              <a:rPr sz="1300">
                <a:solidFill>
                  <a:srgbClr val="2B2B2B"/>
                </a:solidFill>
                <a:latin typeface="Calibri"/>
              </a:rPr>
              <a:t>Automation without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129" y="2724041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✗  </a:t>
            </a:r>
            <a:r>
              <a:rPr sz="1300">
                <a:solidFill>
                  <a:srgbClr val="2B2B2B"/>
                </a:solidFill>
                <a:latin typeface="Calibri"/>
              </a:rPr>
              <a:t>High dependency on individuals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129" y="3071513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✗  </a:t>
            </a:r>
            <a:r>
              <a:rPr sz="1300">
                <a:solidFill>
                  <a:srgbClr val="2B2B2B"/>
                </a:solidFill>
                <a:latin typeface="Calibri"/>
              </a:rPr>
              <a:t>Brownfield constraints make 60–65% utilization structurally unrealistic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12700" cy="32004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2344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0537"/>
                </a:solidFill>
                <a:latin typeface="Calibri"/>
              </a:rPr>
              <a:t>WHY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6916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✓  </a:t>
            </a:r>
            <a:r>
              <a:rPr sz="1300">
                <a:solidFill>
                  <a:srgbClr val="2B2B2B"/>
                </a:solidFill>
                <a:latin typeface="Calibri"/>
              </a:rPr>
              <a:t>Defense &amp; energy capex accelerating faster than supply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8351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✓  </a:t>
            </a:r>
            <a:r>
              <a:rPr sz="1300">
                <a:solidFill>
                  <a:srgbClr val="2B2B2B"/>
                </a:solidFill>
                <a:latin typeface="Calibri"/>
              </a:rPr>
              <a:t>Structural CNC capacity gap in Europe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5973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✓  </a:t>
            </a:r>
            <a:r>
              <a:rPr sz="1300">
                <a:solidFill>
                  <a:srgbClr val="2B2B2B"/>
                </a:solidFill>
                <a:latin typeface="Calibri"/>
              </a:rPr>
              <a:t>Autonomy + digital maturity now economically viable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4378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✓  </a:t>
            </a:r>
            <a:r>
              <a:rPr sz="1300">
                <a:solidFill>
                  <a:srgbClr val="2B2B2B"/>
                </a:solidFill>
                <a:latin typeface="Calibri"/>
              </a:rPr>
              <a:t>Greenfield advantage before traditional players adapt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88C21F-16CF-B417-86DA-4A3DD4EAB17B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926A7A-5830-729B-70B8-D31525893F63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5195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The Solution —</a:t>
            </a:r>
            <a:r>
              <a:rPr lang="nb-NO" sz="3600" b="1" i="0">
                <a:solidFill>
                  <a:srgbClr val="2B2B2B"/>
                </a:solidFill>
                <a:latin typeface="Calibri"/>
              </a:rPr>
              <a:t> </a:t>
            </a:r>
            <a:r>
              <a:rPr sz="3600" b="1" i="0">
                <a:solidFill>
                  <a:srgbClr val="2B2B2B"/>
                </a:solidFill>
                <a:latin typeface="Calibri"/>
              </a:rPr>
              <a:t>Autonomous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06424"/>
            <a:ext cx="8229600" cy="795528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106423"/>
            <a:ext cx="45719" cy="795527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7957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Purpose-built from day one for autonomous, lights-out HMLV manufacturing.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53896"/>
            <a:ext cx="7772400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1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No retrofitting. No compromise. A greenfield platform where every system — facility, CNC, software, staffing — is designed as one integrated unit.</a:t>
            </a:r>
            <a:endParaRPr lang="en-US">
              <a:solidFill>
                <a:schemeClr val="bg1">
                  <a:lumMod val="76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388620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38100" cy="105156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Greenfield Autonomous HMLV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96312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24/7 autonomous job scheduling, sub-linear staffing. 2,635 m² facility designed from day one for unmanned production.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2148840"/>
            <a:ext cx="388620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00600" y="2148840"/>
            <a:ext cx="38100" cy="105156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224028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Digital-First Standardized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496312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MAZAK iSMART Factory integration. Full traceability, real-time monitoring, and predictive maintenance across all machines.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83280"/>
            <a:ext cx="388620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383280"/>
            <a:ext cx="38100" cy="105156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47472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Sub-Linear Scaling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30752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Design target: break-even at ~24% utilization. Capacity grows faster than costs. 20 CNC served by 16 ops + 4 admin.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3383280"/>
            <a:ext cx="388620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00600" y="3383280"/>
            <a:ext cx="38100" cy="105156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0" y="347472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Aligned Customer Ecosystem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730752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50/50 profit-sharing above 45% utilization with anchor customers. Competitive pricing creates demand lock-in while sharing upside.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2B2B2B"/>
                </a:solidFill>
                <a:latin typeface="Calibri"/>
              </a:rPr>
              <a:t>Aurelian scales with the combined value of skilled people and machines.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ED0D7B-EBAE-1BBE-A5CC-9855B00ACF58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759EDC-8454-67E1-242A-66C3671FC01E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Why Aurelian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6B6B6B"/>
                </a:solidFill>
                <a:latin typeface="Calibri"/>
              </a:rPr>
              <a:t>Utilization gap, not price, drives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8100" cy="5486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0537"/>
                </a:solidFill>
                <a:latin typeface="Calibri"/>
              </a:rPr>
              <a:t>✓  </a:t>
            </a:r>
            <a:r>
              <a:rPr sz="1400" b="1">
                <a:solidFill>
                  <a:srgbClr val="2B2B2B"/>
                </a:solidFill>
                <a:latin typeface="Calibri"/>
              </a:rPr>
              <a:t>Greenfield autonomy vs. legacy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Purpose-built facility enables design choices structurally difficult for existing shops to retrofit.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8100" cy="5486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0537"/>
                </a:solidFill>
                <a:latin typeface="Calibri"/>
              </a:rPr>
              <a:t>✓  </a:t>
            </a:r>
            <a:r>
              <a:rPr sz="1400" b="1">
                <a:solidFill>
                  <a:srgbClr val="2B2B2B"/>
                </a:solidFill>
                <a:latin typeface="Calibri"/>
              </a:rPr>
              <a:t>Sub-linear cost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Low labor intensity with sub-linear scaling and high CNC capacity — a structural edge legacy setups cannot replicate.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38100" cy="5486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0537"/>
                </a:solidFill>
                <a:latin typeface="Calibri"/>
              </a:rPr>
              <a:t>✓  </a:t>
            </a:r>
            <a:r>
              <a:rPr sz="1400" b="1">
                <a:solidFill>
                  <a:srgbClr val="2B2B2B"/>
                </a:solidFill>
                <a:latin typeface="Calibri"/>
              </a:rPr>
              <a:t>Replicable industrial blueprint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53512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Site-zero validates the model. Each subsequent site replicates the same advantages in the High Mix/Low Volume manufacturing space.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38100" cy="5486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0537"/>
                </a:solidFill>
                <a:latin typeface="Calibri"/>
              </a:rPr>
              <a:t>✓  </a:t>
            </a:r>
            <a:r>
              <a:rPr sz="1400" b="1">
                <a:solidFill>
                  <a:srgbClr val="2B2B2B"/>
                </a:solidFill>
                <a:latin typeface="Calibri"/>
              </a:rPr>
              <a:t>Autonomous Manufacturing Culture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39312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We build a culture of asset utilization, automation, precision, shop-floor mastery and continuous improvement.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Source: Public financial data and industry benchmarks (CNC Benchmark, VDR 03.02).
Aurelian targets reflect autonomous HMLV design assumptions for a greenfield platform.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346A89-DEE8-0FF9-306D-5E0FEF6019F4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D5B37D-7551-D033-FB69-CBF3B5E32D8E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Go-to-Market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8229600" cy="1463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0800" cy="14630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PRIORITY 1: DEFENSE &amp; AEROSPACE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18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1,624B NOK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92808"/>
            <a:ext cx="2286000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9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Norwegian defense plan 2025–2036</a:t>
            </a:r>
            <a:endParaRPr lang="en-US" sz="900" b="0" i="0">
              <a:solidFill>
                <a:schemeClr val="bg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26080" y="1618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12–18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92808"/>
            <a:ext cx="2286000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9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Sales cycle — starts March 2026</a:t>
            </a:r>
            <a:endParaRPr lang="en-US" sz="900" b="0" i="0">
              <a:solidFill>
                <a:schemeClr val="bg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03520" y="134416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Kongsberg Defence (KDA)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508760"/>
            <a:ext cx="3200400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9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Missiles, remote weapons — 10–30K CNC-hours/yr</a:t>
            </a:r>
            <a:endParaRPr lang="en-US" sz="900" b="0" i="0">
              <a:solidFill>
                <a:schemeClr val="bg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03520" y="172821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NAMMO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892808"/>
            <a:ext cx="3200400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9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Ammunition/propulsion — 5–15K CNC-hours/yr</a:t>
            </a:r>
            <a:endParaRPr lang="en-US" sz="900" b="0" i="0">
              <a:solidFill>
                <a:schemeClr val="bg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03520" y="211226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Saab Nordic / BAE / Andoya 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276856"/>
            <a:ext cx="3200400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9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Expanding Nordic defense supply 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4414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AEC5"/>
                </a:solidFill>
                <a:latin typeface="Calibri"/>
              </a:rPr>
              <a:t>ISO 9001 → AS9100 → AQAP 2110  |  Full digital traceability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8346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0537"/>
                </a:solidFill>
                <a:latin typeface="Calibri"/>
              </a:rPr>
              <a:t>PARALLEL TRACKS — FAST CONVERSION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2606040" cy="254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15468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Energy, Oil &amp; Gas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37560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6–12 month 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9300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Equinor, Aker Solutions, TechnipFMC — subsea components, maintenance parts. ~2,300–2,800B NOK market volume.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8980" y="3108960"/>
            <a:ext cx="2606040" cy="254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68980" y="315468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Industrial Automation &amp; Robotics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8980" y="3337560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3–6 month 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8980" y="349300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Physical Robotics — signed LOI. European robotics market $5B → $37B by 2033 (9.5% CAGR). Lowest risk — already validated.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108960"/>
            <a:ext cx="2606040" cy="254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80760" y="315468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General Industry &amp; Spot Orders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337560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Immediate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349300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Fills capacity between anchor orders. Short cycle, immediate revenue from day one. No single customer &gt;30% of revenue.</a:t>
            </a:r>
          </a:p>
        </p:txBody>
      </p:sp>
      <p:sp>
        <p:nvSpPr>
          <p:cNvPr id="30" name="Rectangle 29"/>
          <p:cNvSpPr/>
          <p:nvPr/>
        </p:nvSpPr>
        <p:spPr>
          <a:xfrm flipV="1">
            <a:off x="464622" y="4216974"/>
            <a:ext cx="8229600" cy="45719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 flipV="1">
            <a:off x="900400" y="4171661"/>
            <a:ext cx="158918" cy="129938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" y="4242816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MAR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38912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GTM launch &amp; first contact</a:t>
            </a:r>
          </a:p>
        </p:txBody>
      </p:sp>
      <p:sp>
        <p:nvSpPr>
          <p:cNvPr id="34" name="Oval 33"/>
          <p:cNvSpPr/>
          <p:nvPr/>
        </p:nvSpPr>
        <p:spPr>
          <a:xfrm flipV="1">
            <a:off x="2912080" y="4171661"/>
            <a:ext cx="158918" cy="129938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61488" y="4242816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Q3 2027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61488" y="438912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First production &amp; FAI</a:t>
            </a:r>
          </a:p>
        </p:txBody>
      </p:sp>
      <p:sp>
        <p:nvSpPr>
          <p:cNvPr id="37" name="Oval 36"/>
          <p:cNvSpPr/>
          <p:nvPr/>
        </p:nvSpPr>
        <p:spPr>
          <a:xfrm flipV="1">
            <a:off x="4923760" y="4171661"/>
            <a:ext cx="158918" cy="129938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73168" y="4242816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2028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438912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37.5% utilization — 8–13 customers</a:t>
            </a:r>
          </a:p>
        </p:txBody>
      </p:sp>
      <p:sp>
        <p:nvSpPr>
          <p:cNvPr id="40" name="Oval 39"/>
          <p:cNvSpPr/>
          <p:nvPr/>
        </p:nvSpPr>
        <p:spPr>
          <a:xfrm flipV="1">
            <a:off x="6935440" y="4171661"/>
            <a:ext cx="158918" cy="129938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84848" y="4242816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2029+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84848" y="438912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50/50 model &amp; full scale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5F850EB-AC30-EB5A-4C91-1DFC6833417D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6C3CA9-2F19-ACF9-31F4-E609DF4226F8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D8FF2C-9570-B284-74BD-CD1DC4A03D61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Economic Engine — Capital Efficiency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38100" cy="4572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Revenue Formula:  </a:t>
            </a:r>
            <a:r>
              <a:rPr sz="1300" b="1">
                <a:solidFill>
                  <a:srgbClr val="2B2B2B"/>
                </a:solidFill>
                <a:latin typeface="Calibri"/>
              </a:rPr>
              <a:t>CNC machines × 8,760 hours × utilization% × NOK 3,000/hour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828800" cy="50292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60–65%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Utilization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828800"/>
            <a:ext cx="1828800" cy="50292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~24%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Break-Even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1828800" cy="50292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~315M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182880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Revenue at 20 CNC</a:t>
            </a:r>
            <a:r>
              <a:rPr lang="en-US" sz="1100">
                <a:solidFill>
                  <a:srgbClr val="6B6B6B"/>
                </a:solidFill>
                <a:latin typeface="Calibri"/>
              </a:rPr>
              <a:t> at 60%</a:t>
            </a:r>
            <a:endParaRPr sz="1100" b="0" i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29400" y="1828800"/>
            <a:ext cx="1828800" cy="50292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~222M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EBITDA at 60%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88449"/>
            <a:ext cx="38862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688449"/>
            <a:ext cx="38100" cy="201168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779889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Cost Structure (20 CNC Steady State)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072497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Total cost (20 CNC steady):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072497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alibri"/>
              </a:rPr>
              <a:t>~92.75 MNOK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291953"/>
            <a:ext cx="3611880" cy="127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365105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Total fixed costs: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365105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alibri"/>
              </a:rPr>
              <a:t>~67.6 MNOK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584561"/>
            <a:ext cx="3611880" cy="127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65771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Payroll (16 ops + 4 admin):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365771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B2B2B"/>
                </a:solidFill>
                <a:latin typeface="Calibri"/>
              </a:rPr>
              <a:t>23.2 MNOK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88631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Depreciation (CNC + shop):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388631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B2B2B"/>
                </a:solidFill>
                <a:latin typeface="Calibri"/>
              </a:rPr>
              <a:t>26.1 MNOK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11491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Finance + facility + other: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411491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B2B2B"/>
                </a:solidFill>
                <a:latin typeface="Calibri"/>
              </a:rPr>
              <a:t>18.3 MNOK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34351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Variable costs: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34351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B2B2B"/>
                </a:solidFill>
                <a:latin typeface="Calibri"/>
              </a:rPr>
              <a:t>13% startup / 8% steady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2688449"/>
            <a:ext cx="38862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800600" y="2688449"/>
            <a:ext cx="38100" cy="201168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37760" y="2779889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Staffing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3035921"/>
            <a:ext cx="3611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Sub-linear headcount growth: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3255377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5 CNC (Seed)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255377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alibri"/>
              </a:rPr>
              <a:t>6 staff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3474833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12 CNC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3474833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alibri"/>
              </a:rPr>
              <a:t>10 staff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3694289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17 CNC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3694289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alibri"/>
              </a:rPr>
              <a:t>13 staff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3913745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20 CNC (steady state)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3913745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alibri"/>
              </a:rPr>
              <a:t>16 + 4 = 20 staff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4224641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Design target: </a:t>
            </a:r>
            <a:r>
              <a:rPr lang="nb-NO" sz="900" b="0" i="0" err="1">
                <a:solidFill>
                  <a:srgbClr val="6B6B6B"/>
                </a:solidFill>
                <a:latin typeface="Calibri"/>
              </a:rPr>
              <a:t>Low</a:t>
            </a:r>
            <a:r>
              <a:rPr sz="900" b="0" i="0">
                <a:solidFill>
                  <a:srgbClr val="6B6B6B"/>
                </a:solidFill>
                <a:latin typeface="Calibri"/>
              </a:rPr>
              <a:t> FTE/CNC (operative) at scale.
Industry benchmark: </a:t>
            </a:r>
            <a:r>
              <a:rPr lang="nb-NO" sz="900" b="0" i="0">
                <a:solidFill>
                  <a:srgbClr val="6B6B6B"/>
                </a:solidFill>
                <a:latin typeface="Calibri"/>
              </a:rPr>
              <a:t>High</a:t>
            </a:r>
            <a:r>
              <a:rPr sz="900" b="0" i="0">
                <a:solidFill>
                  <a:srgbClr val="6B6B6B"/>
                </a:solidFill>
                <a:latin typeface="Calibri"/>
              </a:rPr>
              <a:t> staff/CNC (observed, VDR 03.02).
Enabled by greenfield autonomous architecture.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025" y="4698215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Note: Profit figures after 50/50 customer profit-sharing above 45% utilization. All projections per 02 Economic Tables &amp; Projections (VDR 02.04).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42113" y="490015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53E89A-373A-D817-AA44-DE4B3D12DC1F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2A94878-EF9A-0A39-2FD7-5FE9C1615C00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4271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Path to Scale — Revenue, Profit &amp; Capacity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325880"/>
            <a:ext cx="4572000" cy="59436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0" y="139903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Accumulated profit 2027–2035:  </a:t>
            </a:r>
            <a:r>
              <a:rPr sz="2200" b="1">
                <a:solidFill>
                  <a:srgbClr val="FFFFFF"/>
                </a:solidFill>
                <a:latin typeface="Calibri"/>
              </a:rPr>
              <a:t>~1,254 MNOK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B2B2B"/>
                </a:solidFill>
                <a:latin typeface="Calibri"/>
              </a:rPr>
              <a:t>Revenue &amp; Profit Trajectory (MNOK)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" y="3881797"/>
            <a:ext cx="411480" cy="47461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-22860" y="3717205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6858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2027 H2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6858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5 CNC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94460" y="3714592"/>
            <a:ext cx="411480" cy="21466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48740" y="3550000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1660" y="3863073"/>
            <a:ext cx="411480" cy="66185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0302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302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5 CNC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66060" y="3345784"/>
            <a:ext cx="411480" cy="583474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20340" y="3181192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134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23260" y="3611831"/>
            <a:ext cx="411480" cy="317427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7462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462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12 CNC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37660" y="3006150"/>
            <a:ext cx="411480" cy="923108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91940" y="2841558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212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4860" y="3355364"/>
            <a:ext cx="411480" cy="573894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4622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622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17 CNC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09260" y="2727476"/>
            <a:ext cx="411480" cy="1201782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63540" y="2562884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276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66460" y="3202964"/>
            <a:ext cx="411480" cy="726294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1782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782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20 CNC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80860" y="2614264"/>
            <a:ext cx="411480" cy="1314994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35140" y="2449672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302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38060" y="3135472"/>
            <a:ext cx="411480" cy="793786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8942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942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20 CNC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52460" y="2244150"/>
            <a:ext cx="411480" cy="1685108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06740" y="2079558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387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09660" y="2936481"/>
            <a:ext cx="411480" cy="992777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6102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2033+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6102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22-25 CNC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-68580" y="3929259"/>
            <a:ext cx="9281160" cy="127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743200" y="4295019"/>
            <a:ext cx="228600" cy="109728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17520" y="4276731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B2B2B"/>
                </a:solidFill>
                <a:latin typeface="Calibri"/>
              </a:rPr>
              <a:t>Revenue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4295019"/>
            <a:ext cx="228600" cy="109728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89120" y="4276731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B2B2B"/>
                </a:solidFill>
                <a:latin typeface="Calibri"/>
              </a:rPr>
              <a:t>Profit*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69816" y="4482776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All amounts in MNOK. *Profit after 50/50 customer program deductions above 45% utilization.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69816" y="4638224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Source: 02 Economic Tables &amp; Projections (VDR 02.04). All values are projections based on model assumptions.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FF2CCB-9D0E-B0CC-6A78-90DB0974F35E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793BCA-68E0-8D4C-6608-6915ADD9FF4D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0A1673C-AA43-9393-5DE2-50B3BBED12A2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Financing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828800" cy="25831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B6B6B"/>
                </a:solidFill>
                <a:latin typeface="Calibri"/>
              </a:rPr>
              <a:t>PreSeed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0537"/>
                </a:solidFill>
                <a:latin typeface="Calibri"/>
              </a:rPr>
              <a:t>IN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7452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Equity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0253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5 MNOK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9456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Pre-Money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25 MNOK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1460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Machines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4261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83464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96265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Establishment,
risk reduction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87752" y="1280160"/>
            <a:ext cx="1828800" cy="25831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0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 flipV="1">
            <a:off x="657591" y="1369600"/>
            <a:ext cx="1300432" cy="5703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97480" y="1371600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0537"/>
                </a:solidFill>
                <a:latin typeface="Calibri"/>
              </a:rPr>
              <a:t>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1627632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0537"/>
                </a:solidFill>
                <a:latin typeface="Calibri"/>
              </a:rPr>
              <a:t>CURRENT ROUND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187452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Equity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00253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51.3 MNOK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219456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Pre-Money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32257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130 MNOK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251460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Dilution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264261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28.3%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283464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Machines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296265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5 CNC + shop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315468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Bank Debt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328269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29.3 MNOK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7472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Total Capital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360273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80.6 MNOK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18304" y="1280160"/>
            <a:ext cx="1828800" cy="25831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28032" y="1371600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Serie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28032" y="1627632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B"/>
                </a:solidFill>
                <a:latin typeface="Calibri"/>
              </a:rPr>
              <a:t>PLANNED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187452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Equity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200253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45 MNOK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28032" y="219456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Pre-Money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2" y="232257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TBD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2" y="251460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Machines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8032" y="264261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15 CNC (3×5)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28032" y="283464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Bank Debt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8032" y="296265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105 MNOK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48856" y="1280160"/>
            <a:ext cx="1828800" cy="258318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738814" y="1372714"/>
            <a:ext cx="502489" cy="508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58584" y="1371600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58584" y="1627632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0537"/>
                </a:solidFill>
                <a:latin typeface="Calibri"/>
              </a:rPr>
              <a:t>BASE CASE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58584" y="187452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Valuation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58584" y="200253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2.3B NOK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8584" y="219456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Basis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58584" y="232257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10× EBITDA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58584" y="251460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58584" y="264261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~222 MNOK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58584" y="283464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Timeline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58584" y="296265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2033–2035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45436" y="23774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0537"/>
                </a:solidFill>
                <a:latin typeface="Calibri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75988" y="23774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0537"/>
                </a:solidFill>
                <a:latin typeface="Calibri"/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6540" y="23774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0537"/>
                </a:solidFill>
                <a:latin typeface="Calibri"/>
              </a:rPr>
              <a:t>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16194" y="4073899"/>
            <a:ext cx="4110487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Calibri"/>
              </a:rPr>
              <a:t>Total equity raised across all rounds: 101.3 MNOK.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0809" y="4627295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Source: 02 Economic Tables &amp; Projections (VDR 02.04). Serie A terms are indicative.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C8F55F9-D37A-C216-A48C-35D38B58E3A0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A5DCF04-853F-60CE-39F5-1A2E67913A95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90F7A5C-FF68-E805-B13E-A78ACCB63C48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European Scaling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6B6B6B"/>
                </a:solidFill>
                <a:latin typeface="Calibri"/>
              </a:rPr>
              <a:t>Replicable Industrial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8862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38100" cy="10058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Site-Zero as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73352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Validates operating model and acts as reference facility for customers, investors, and future sites.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1325880"/>
            <a:ext cx="38862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00600" y="1325880"/>
            <a:ext cx="38100" cy="10058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41732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Standardized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73352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Same CNC configuration, automation stack, and digital backbone replicated at every site.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38862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38100" cy="10058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60604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Greenfield, Autonomous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62072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Each site purpose-built for lights-out operation from day one. No legacy constraints.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2514600"/>
            <a:ext cx="38862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00600" y="2514600"/>
            <a:ext cx="38100" cy="10058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260604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Demand-Anchored 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862072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New sites driven by strategic customer demand. Defense and energy value chains determine geography.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489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Calibri"/>
              </a:rPr>
              <a:t>Potential expansion: Norway, Nordics, and Europe — aligned with defense &amp; industrial value chains.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991442"/>
            <a:ext cx="1828800" cy="41148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2,635 m²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48642"/>
            <a:ext cx="182880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  <a:latin typeface="Calibri"/>
              </a:rPr>
              <a:t>First Phase Facility</a:t>
            </a:r>
            <a:endParaRPr lang="en-US" sz="1100" b="1" i="0">
              <a:solidFill>
                <a:srgbClr val="6B6B6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657600" y="3991442"/>
            <a:ext cx="1828800" cy="41148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20–25 CNC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448642"/>
            <a:ext cx="182880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  <a:latin typeface="Calibri"/>
              </a:rPr>
              <a:t>Scalable Capacity</a:t>
            </a:r>
            <a:endParaRPr lang="en-US" sz="1100" b="1" i="0">
              <a:solidFill>
                <a:srgbClr val="6B6B6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00800" y="3991442"/>
            <a:ext cx="1828800" cy="41148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3–5 Year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48642"/>
            <a:ext cx="182880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  <a:latin typeface="Calibri"/>
              </a:rPr>
              <a:t>Replication Barrier</a:t>
            </a:r>
            <a:endParaRPr lang="en-US" sz="1100" b="1" i="0">
              <a:solidFill>
                <a:srgbClr val="6B6B6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94E2A1-9136-5B43-9589-A3ADD284E507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67EA26-A718-46AF-ECEC-71120932943E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355DB1-8FD1-D108-67A2-463578698B81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Team &amp; Advisors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260604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606040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325880"/>
            <a:ext cx="2386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André Tandberg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27048"/>
            <a:ext cx="2386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0537"/>
                </a:solidFill>
                <a:latin typeface="Calibri"/>
              </a:rPr>
              <a:t>Co-Founder &amp; 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91640"/>
            <a:ext cx="23865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Board of Director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92808"/>
            <a:ext cx="2386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MD Østfold Follo Nyskapingsfond, Board SpareBank 1 Østfold Akershus. Industrial funding + manufacturing ecosystem.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8980" y="1234440"/>
            <a:ext cx="260604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68980" y="1234440"/>
            <a:ext cx="2606040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78708" y="1325880"/>
            <a:ext cx="2386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Tore Ausland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8708" y="1527048"/>
            <a:ext cx="2386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0537"/>
                </a:solidFill>
                <a:latin typeface="Calibri"/>
              </a:rPr>
              <a:t>Co-Founder &amp; VP BD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8708" y="1691640"/>
            <a:ext cx="23865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Chairman of the 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8708" y="1892808"/>
            <a:ext cx="2386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30+ years oil &amp; gas (GE, FMC, Aker Solutions). Enterprise partnerships, anchor customer acquisition.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234440"/>
            <a:ext cx="260604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1234440"/>
            <a:ext cx="2606040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0488" y="1325880"/>
            <a:ext cx="2386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Henrik Strøm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1527048"/>
            <a:ext cx="2386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0537"/>
                </a:solidFill>
                <a:latin typeface="Calibri"/>
              </a:rPr>
              <a:t>Co-Founder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1691640"/>
            <a:ext cx="23865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Board of Directors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1892808"/>
            <a:ext cx="2386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Banking &amp; finance (Trøgstad Sparebank). Financial structure, reporting, bank dialogue.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880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6B6B"/>
                </a:solidFill>
                <a:latin typeface="Calibri"/>
              </a:rPr>
              <a:t>ADVISORY 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Fredrik Vangsal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355848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0537"/>
                </a:solidFill>
                <a:latin typeface="Calibri"/>
              </a:rPr>
              <a:t>Tech &amp; 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5204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CEO Disruptive Engineering. Automation architecture.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8980" y="315468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Bjørnar Torsnes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68980" y="3355848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0537"/>
                </a:solidFill>
                <a:latin typeface="Calibri"/>
              </a:rPr>
              <a:t>Industry &amp; Scaling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68980" y="35204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Chairman CodeIT (VW, TINE, Mowi clients). Enterprise sales.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315468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Andreas Mollatt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3355848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0537"/>
                </a:solidFill>
                <a:latin typeface="Calibri"/>
              </a:rPr>
              <a:t>Capital &amp; Scaleups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35204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Physical Robotics CBO. Fundraising expertise (Otivio).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A0A560-2154-A713-EC0C-7BF85B91CE41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8A1518-02D0-A4A3-2F16-34A0A490BB1A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544F376-96AE-BED5-05FF-2F075854283A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Traction &amp; Execution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0537"/>
                </a:solidFill>
                <a:latin typeface="Calibri"/>
              </a:rPr>
              <a:t>VALIDATED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0537"/>
                </a:solidFill>
                <a:latin typeface="Calibri"/>
              </a:rPr>
              <a:t>✓  </a:t>
            </a:r>
            <a:r>
              <a:rPr sz="1200">
                <a:solidFill>
                  <a:srgbClr val="2B2B2B"/>
                </a:solidFill>
                <a:latin typeface="Calibri"/>
              </a:rPr>
              <a:t>Physical Robotics LOI signed (first reference customer)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9280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0537"/>
                </a:solidFill>
                <a:latin typeface="Calibri"/>
              </a:rPr>
              <a:t>✓  </a:t>
            </a:r>
            <a:r>
              <a:rPr sz="1200">
                <a:solidFill>
                  <a:srgbClr val="2B2B2B"/>
                </a:solidFill>
                <a:latin typeface="Calibri"/>
              </a:rPr>
              <a:t>Mazak partnership secured (CNC supplier)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85416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0537"/>
                </a:solidFill>
                <a:latin typeface="Calibri"/>
              </a:rPr>
              <a:t>✓  </a:t>
            </a:r>
            <a:r>
              <a:rPr sz="1200">
                <a:solidFill>
                  <a:srgbClr val="2B2B2B"/>
                </a:solidFill>
                <a:latin typeface="Calibri"/>
              </a:rPr>
              <a:t>Workshop location: Våler, Østfold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78024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0537"/>
                </a:solidFill>
                <a:latin typeface="Calibri"/>
              </a:rPr>
              <a:t>✓  </a:t>
            </a:r>
            <a:r>
              <a:rPr sz="1200">
                <a:solidFill>
                  <a:srgbClr val="2B2B2B"/>
                </a:solidFill>
                <a:latin typeface="Calibri"/>
              </a:rPr>
              <a:t>Norbygg developer partnership (build-to-suit)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7063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0537"/>
                </a:solidFill>
                <a:latin typeface="Calibri"/>
              </a:rPr>
              <a:t>✓  </a:t>
            </a:r>
            <a:r>
              <a:rPr sz="1200">
                <a:solidFill>
                  <a:srgbClr val="2B2B2B"/>
                </a:solidFill>
                <a:latin typeface="Calibri"/>
              </a:rPr>
              <a:t>Shop layout and automation architecture defined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0537"/>
                </a:solidFill>
                <a:latin typeface="Calibri"/>
              </a:rPr>
              <a:t>✓  </a:t>
            </a:r>
            <a:r>
              <a:rPr sz="1200">
                <a:solidFill>
                  <a:srgbClr val="2B2B2B"/>
                </a:solidFill>
                <a:latin typeface="Calibri"/>
              </a:rPr>
              <a:t>Production concept validated with industry advisors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234440"/>
            <a:ext cx="4023360" cy="68580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280160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12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6002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From investment to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574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First production: August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377440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•  2,635 m² purpose-built facility (first phase)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596896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•  Scalable to 20–25 CNC machines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816352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•  Multi-modal logistics (rail, sea, road, air)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035808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•  Strategic location: Våler, Østfold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255264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•  Norbygg build-to-suit lease: 5.2 MNOK/year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KEY MILESTONES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3075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Q1-Q2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Seed close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73075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Q2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Machine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73075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Q3-Q4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Facility build + Key hires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73075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Q2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Machines delivered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73075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Aug 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Production start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73075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Q4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ISO 9001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2A360A-9AC6-69B1-0331-F0F0188800C5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D2F341-6C8D-538C-7A3C-BA91B965EB9C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6814B7-792B-9350-22CD-BF18C782D08D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005840"/>
            <a:ext cx="1828800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68424" y="1196658"/>
            <a:ext cx="6491111" cy="50292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baseline="0">
                <a:solidFill>
                  <a:srgbClr val="FFFFFF"/>
                </a:solidFill>
                <a:latin typeface="Calibri"/>
              </a:rPr>
              <a:t>Seed Round — 51.3 MNOK at 130 MNOK Pre-Money</a:t>
            </a:r>
            <a:r>
              <a:rPr lang="en-US" sz="2200">
                <a:latin typeface="Calibri"/>
                <a:ea typeface="Calibri"/>
                <a:cs typeface="Calibri"/>
              </a:rPr>
              <a:t>​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0537"/>
                </a:solidFill>
                <a:latin typeface="Calibri"/>
              </a:rPr>
              <a:t>USE OF FUNDS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8262" y="3359239"/>
            <a:ext cx="4300643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1300" b="0" i="0">
                <a:solidFill>
                  <a:schemeClr val="bg1"/>
                </a:solidFill>
                <a:latin typeface="Calibri"/>
              </a:rPr>
              <a:t>5 CNC machines </a:t>
            </a:r>
            <a:r>
              <a:rPr lang="en-US" sz="1300">
                <a:solidFill>
                  <a:schemeClr val="bg1"/>
                </a:solidFill>
                <a:latin typeface="Calibri"/>
              </a:rPr>
              <a:t>with full </a:t>
            </a:r>
            <a:r>
              <a:rPr lang="en-US" sz="1300" b="0" i="0">
                <a:solidFill>
                  <a:schemeClr val="bg1"/>
                </a:solidFill>
                <a:latin typeface="Calibri"/>
              </a:rPr>
              <a:t>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9455" y="2772960"/>
            <a:ext cx="352044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 b="0" i="0">
                <a:solidFill>
                  <a:schemeClr val="bg1"/>
                </a:solidFill>
                <a:latin typeface="Calibri"/>
              </a:rPr>
              <a:t>Shop base </a:t>
            </a:r>
            <a:r>
              <a:rPr lang="en-US" sz="1300">
                <a:solidFill>
                  <a:schemeClr val="bg1"/>
                </a:solidFill>
                <a:latin typeface="Calibri"/>
              </a:rPr>
              <a:t>and technical infrastructure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51195" y="2477268"/>
            <a:ext cx="352044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>
                <a:solidFill>
                  <a:schemeClr val="bg1"/>
                </a:solidFill>
                <a:latin typeface="Calibri"/>
              </a:rPr>
              <a:t>Certifications and customer qualification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9455" y="2185189"/>
            <a:ext cx="352044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>
                <a:solidFill>
                  <a:schemeClr val="bg1"/>
                </a:solidFill>
                <a:latin typeface="Calibri"/>
              </a:rPr>
              <a:t>Sales and customer pipeline development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7262" y="389939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Split: Equity 51.3M + Bank debt 29.3M = 80.6M total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920240"/>
            <a:ext cx="12700" cy="210312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0537"/>
                </a:solidFill>
                <a:latin typeface="Calibri"/>
              </a:rPr>
              <a:t>DEAL TERMS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5650" y="2264434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chemeClr val="bg1">
                    <a:lumMod val="76000"/>
                  </a:schemeClr>
                </a:solidFill>
                <a:latin typeface="Calibri"/>
              </a:rPr>
              <a:t>Seed investors position</a:t>
            </a:r>
            <a:endParaRPr lang="en-US">
              <a:solidFill>
                <a:schemeClr val="bg1">
                  <a:lumMod val="76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25651" y="2253651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28.3%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6433" y="2526159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0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Exit (base case</a:t>
            </a:r>
            <a:r>
              <a:rPr lang="en-US" sz="1000">
                <a:solidFill>
                  <a:schemeClr val="bg1">
                    <a:lumMod val="76000"/>
                  </a:schemeClr>
                </a:solidFill>
                <a:latin typeface="Calibri"/>
              </a:rPr>
              <a:t> 60% utz)</a:t>
            </a:r>
            <a:endParaRPr lang="en-US" sz="1000" b="0" i="0">
              <a:solidFill>
                <a:schemeClr val="bg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36434" y="251537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2.3B NOK (10× EBITDA)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6433" y="2818767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BFBF"/>
                </a:solidFill>
                <a:latin typeface="Calibri"/>
              </a:rPr>
              <a:t>First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6434" y="280798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August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6433" y="311137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10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Break-</a:t>
            </a:r>
            <a:r>
              <a:rPr sz="10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even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6434" y="31005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~24% utilization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114800"/>
            <a:ext cx="9144000" cy="127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-10783" y="4314070"/>
            <a:ext cx="457200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300" b="0" i="0">
                <a:solidFill>
                  <a:schemeClr val="bg1">
                    <a:lumMod val="49000"/>
                  </a:schemeClr>
                </a:solidFill>
                <a:latin typeface="Calibri"/>
              </a:rPr>
              <a:t>André Tandberg, CEO — andre@aurelian.no</a:t>
            </a:r>
            <a:endParaRPr lang="en-US" sz="1300" b="0" i="0">
              <a:solidFill>
                <a:schemeClr val="bg1">
                  <a:lumMod val="49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61217" y="4314070"/>
            <a:ext cx="457200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300" b="0" i="0">
                <a:solidFill>
                  <a:schemeClr val="bg1">
                    <a:lumMod val="49000"/>
                  </a:schemeClr>
                </a:solidFill>
                <a:latin typeface="Calibri"/>
              </a:rPr>
              <a:t>Tore Ausland, VP BD — tore@aurelian.no</a:t>
            </a:r>
            <a:endParaRPr lang="en-US">
              <a:solidFill>
                <a:schemeClr val="bg1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C3E2F5-4F4E-6C9F-5F38-FB448AE51EA4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E3067B-F398-7A0D-A537-1F5D7053A60D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D78D5F-3546-3D36-B08F-86B5DA9D7836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F867E2-78F9-4D33-6EF6-212860F5C872}"/>
              </a:ext>
            </a:extLst>
          </p:cNvPr>
          <p:cNvSpPr txBox="1"/>
          <p:nvPr/>
        </p:nvSpPr>
        <p:spPr>
          <a:xfrm>
            <a:off x="849454" y="3064418"/>
            <a:ext cx="352044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>
                <a:solidFill>
                  <a:schemeClr val="bg1"/>
                </a:solidFill>
                <a:latin typeface="Calibri"/>
              </a:rPr>
              <a:t>Recruitment and pre-production training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525AA8-E63D-E0FB-D2D6-36A9EEC50E4A}"/>
              </a:ext>
            </a:extLst>
          </p:cNvPr>
          <p:cNvSpPr txBox="1"/>
          <p:nvPr/>
        </p:nvSpPr>
        <p:spPr>
          <a:xfrm>
            <a:off x="848261" y="3652315"/>
            <a:ext cx="4300643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>
                <a:solidFill>
                  <a:schemeClr val="bg1"/>
                </a:solidFill>
                <a:latin typeface="Calibri"/>
              </a:rPr>
              <a:t>Facility setup and commissioning</a:t>
            </a:r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2133AD6-7AFF-540D-3FD2-802C648C576F}"/>
              </a:ext>
            </a:extLst>
          </p:cNvPr>
          <p:cNvSpPr/>
          <p:nvPr/>
        </p:nvSpPr>
        <p:spPr>
          <a:xfrm>
            <a:off x="827196" y="2219349"/>
            <a:ext cx="45427" cy="1701897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6400800" cy="27432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VDR REF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533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DOCUMENT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6400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1848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02.04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18488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02 Economic Tables &amp; Projections (master document)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56232"/>
            <a:ext cx="64008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87452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03.02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7452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CNC Benchmark &amp; Competitive Landscape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12264"/>
            <a:ext cx="6400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13055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03.04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130552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Go-To-Market Strategy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68296"/>
            <a:ext cx="64008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38658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03.05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38658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Pricing &amp; Revenue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24328"/>
            <a:ext cx="6400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642616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03.06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264261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Market Trends &amp; Projections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80360"/>
            <a:ext cx="64008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89864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04.05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2898648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Quality Certification Roadmap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136392"/>
            <a:ext cx="6400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15468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04.06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315468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Production Timeline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92424"/>
            <a:ext cx="64008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41071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04.07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3410712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Risk Register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48456"/>
            <a:ext cx="6400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66674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06.04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366674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Key Hires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0416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All financial figures reference the master document: 02 Economic Tables &amp; Projections (VDR 02.04).
Full Virtual Data Room available upon request.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F10C5D-86F4-0EE4-DA4C-F6A0EBD280C8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782BE1-B904-9282-78A1-EA533E769731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727364-D16F-0296-7156-74B15AA56CFD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1801</Words>
  <Application>Microsoft Office PowerPoint</Application>
  <PresentationFormat>Skjermfremvisning (16:9)</PresentationFormat>
  <Paragraphs>354</Paragraphs>
  <Slides>14</Slides>
  <Notes>1</Notes>
  <HiddenSlides>0</HiddenSlides>
  <MMClips>0</MMClips>
  <ScaleCrop>false</ScaleCrop>
  <HeadingPairs>
    <vt:vector size="6" baseType="variant">
      <vt:variant>
        <vt:lpstr>Brukte skrifter</vt:lpstr>
      </vt:variant>
      <vt:variant>
        <vt:i4>2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Tore Ausland</dc:creator>
  <cp:keywords/>
  <dc:description>generated using python-pptx</dc:description>
  <cp:lastModifiedBy>Tore Ausland</cp:lastModifiedBy>
  <cp:revision>101</cp:revision>
  <dcterms:created xsi:type="dcterms:W3CDTF">2013-01-27T09:14:16Z</dcterms:created>
  <dcterms:modified xsi:type="dcterms:W3CDTF">2026-02-16T10:12:23Z</dcterms:modified>
  <cp:category/>
</cp:coreProperties>
</file>